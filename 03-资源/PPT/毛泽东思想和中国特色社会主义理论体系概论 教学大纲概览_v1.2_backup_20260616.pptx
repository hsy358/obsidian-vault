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高校思想政治理论课 · 通识教育必修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理论体系概论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教学课件 · 增强版 · 可直接上课用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2194560" cy="10058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21945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96512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15010017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931920"/>
            <a:ext cx="2194560" cy="10058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3931920"/>
            <a:ext cx="21945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4096512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学分/学时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3891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学分 / 48 学时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931920"/>
            <a:ext cx="2194560" cy="10058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3931920"/>
            <a:ext cx="21945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4096512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授课对象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3891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全校本科生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931920"/>
            <a:ext cx="2194560" cy="10058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931920"/>
            <a:ext cx="21945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4096512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开课学期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891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 3 或第 4 学期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3931920"/>
            <a:ext cx="2194560" cy="10058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3931920"/>
            <a:ext cx="21945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4096512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38912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2023 年修订版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教育部 2023 版统编教材 · 高等教育出版社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序章 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本课程讲什么 / 不讲什么 / 学完获得什么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本课程讲什么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54480"/>
            <a:ext cx="548640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本课程是高校思想政治理论课程中分量最重的一门，是每个大学生的必修课。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以马克思主义中国化时代化为主线，阐述中国共产党把马克思主义基本原理同中国具体实际相结合、同中华优秀传统文化相结合的历史进程。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集中讲授中国化马克思主义的理论成果。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本课程不讲什么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93192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06908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不替代《马克思主义基本原理》的纯理论推导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不重复《思想道德与法治》的具体规范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不替代《中国近现代史纲要》的史实细节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学完可以获得什么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141732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0" y="155448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系统掌握马克思主义中国化时代化的科学内涵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理解各理论成果一脉相承又与时俱进的内在关系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运用马克思主义立场观点方法分析中国现实问题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确立科学社会主义信仰和建设中国特色社会主义共同理想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增强四个自信，为实现中华民族伟大复兴而奋斗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262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建议学习方式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489204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5029200"/>
            <a:ext cx="53949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课前：观看视频、阅读资料、预习教材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课内：课堂讲授、案例教学、专题研讨、师生对话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课后：社会调研、主题实践、完成作业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序章  Abstract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序章 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 / 能力 / 素养 / 评价 四维一体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2743200" cy="4937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27432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430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237744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系统掌握马克思主义中国化时代化的科学内涵、历史进程、理论成果</a:t>
            </a:r>
          </a:p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掌握毛泽东思想和中国特色社会主义理论体系的基本原理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051560"/>
            <a:ext cx="2743200" cy="4937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051560"/>
            <a:ext cx="27432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1430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34416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能力目标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645920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057400"/>
            <a:ext cx="237744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运用马克思主义立场观点方法分析中国革命、建设和改革的重大问题</a:t>
            </a:r>
          </a:p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对未来事物发展中可能出现的问题形成正确判断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051560"/>
            <a:ext cx="2743200" cy="4937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051560"/>
            <a:ext cx="27432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1430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34416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素养目标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645920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LITERACY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057400"/>
            <a:ext cx="237744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坚定四个自信（道路、理论、制度、文化）</a:t>
            </a:r>
          </a:p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树立科学的世界观、人生观、价值观</a:t>
            </a:r>
          </a:p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增强历史使命感和社会责任感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1051560"/>
            <a:ext cx="2743200" cy="4937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1051560"/>
            <a:ext cx="27432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1430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34416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645920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57400"/>
            <a:ext cx="237744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课堂讲授 + 自主学习 + 视频学习（知识）</a:t>
            </a:r>
          </a:p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小组研讨 + 案例分析 + 社会实践（能力）</a:t>
            </a:r>
          </a:p>
          <a:p>
            <a:pPr algn="l">
              <a:lnSpc>
                <a:spcPct val="16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 + 主题实践 + 考核反馈（素养）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序章  Objectives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序章 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课程结构总览：3 部分 · 9 专题 · 48 学时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教材 2023 版统编教材 · ISBN 9787040610536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3657600" cy="4937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36576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专题一（2 学时）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马克思主义中国化时代化的历史进程与理论成果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490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297680"/>
            <a:ext cx="320040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43484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理解马克思主义中国化时代化的科学内涵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把握理论成果一脉相承又与时俱进的内在关系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明确学习本课程的方法和要求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051560"/>
            <a:ext cx="3657600" cy="4937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051560"/>
            <a:ext cx="36576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1887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417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288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专题二—五（15 学时）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42316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第一次历史性飞跃：毛泽东思想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52044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7490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80560" y="4297680"/>
            <a:ext cx="320040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80560" y="443484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专题二：毛泽东思想及其历史地位（4 学时）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专题三：新民主主义革命理论（4 学时）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专题四：社会主义改造理论（4 学时）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专题五：社会主义建设道路初步探索（3 学时）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051560"/>
            <a:ext cx="3657600" cy="4937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1051560"/>
            <a:ext cx="3657600" cy="11887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1887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417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8288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专题六—九 + 习近平新时代（25 学时）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2316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新的飞跃：中国特色社会主义理论体系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7490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21040" y="4297680"/>
            <a:ext cx="320040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321040" y="443484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专题六—九：邓三科（10 学时）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第十章：习近平新时代中国特色社会主义思想（6 学时）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第十一—十六章：五位一体 + 现代化（14 学时）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复习考核 + 实践教学（6 学时）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序章  Overview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序章 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教学方法与学时分配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三段式教学环节 · 48 学时 = 理论 42 + 实践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三段式教学环节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7033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70332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PRE-CLASS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观看视频 · 阅读资料 · 预习教材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知识目标 + 素养目标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508760"/>
            <a:ext cx="37033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508760"/>
            <a:ext cx="370332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6276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01168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IN-CLASS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33172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课堂讲授 · 案例教学 · 专题研讨 · 师生对话 · 翻转课堂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7180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知识 + 能力 + 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4" y="1508760"/>
            <a:ext cx="37033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4" y="1508760"/>
            <a:ext cx="370332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16276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01168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POST-CLASS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233172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社会调研 · 视频学习 · 主题实践 · 作业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97180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能力目标 + 素养目标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5656" y="224028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2240280"/>
            <a:ext cx="228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学时分配表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69080"/>
            <a:ext cx="11274552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板块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605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160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80560"/>
            <a:ext cx="11274552" cy="4114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7200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第一部分：马克思主义中国化时代化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572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45720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9204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98348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第二部分：毛泽东思想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9834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专题二—五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9834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03520"/>
            <a:ext cx="11274552" cy="4114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39496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第三部分：中国特色社会主义理论体系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3949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专题六—十六章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5394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715000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80644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复习与考核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806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总复习 + 期末考试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58064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126480"/>
            <a:ext cx="11274552" cy="4114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21792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实践教学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2179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社会调研 + 大学生讲思政课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2179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537960"/>
            <a:ext cx="11274552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629400"/>
            <a:ext cx="9601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合计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6294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序章 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马克思主义中国化时代化的历史进程与理论成果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本部分学时：2 学时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导入页 · 2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087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马克思主义中国化时代化的历史进程与理论成果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学时安排：2 学时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1605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297680"/>
            <a:ext cx="50292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5394960" cy="5349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3949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234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91640"/>
            <a:ext cx="49377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什么是马克思主义中国化时代化？为何要提「两个结合」？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马克思主义中国化时代化的科学内涵是什么？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中国化马克思主义有哪些理论成果？它们是什么关系？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为什么说要把握「一脉相承又与时俱进」？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学习本课程的科学方法是什么？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 · 2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马克思主义中国化时代化的提出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1938 年毛泽东在六届六中全会提出「马克思主义中国化」。2017 年党的十九大、2021 年十九届六中全会提出「马克思主义中国化时代化」。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科学内涵（两个结合）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马克思主义基本原理同中国具体实际相结合；马克思主义基本原理同中华优秀传统文化相结合。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理论成果及其关系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第一次飞跃：毛泽东思想。第二次飞跃：中国特色社会主义理论体系。关系：一脉相承又与时俱进。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重难点与教法 · 2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54480"/>
            <a:ext cx="56692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了解：马克思主义中国化时代化的历史进程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掌握：科学内涵和必要性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准确把握：理论成果「一脉相承又与时俱进」的内在关系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88620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402336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马克思主义中国化时代化的必要性；科学内涵；理论成果及其关系。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中国为什么选择马克思主义；马克思主义中国化时代化的必要性如何讲清。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141732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155448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启发式教学贯穿全程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案例式教学：建党、遵义会议、改革开放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对比法：马克思主义在中国 vs 苏联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时间轴展示：6 次理论飞跃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讲课提示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493776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5074920"/>
            <a:ext cx="5394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提问：为什么马克思主义必须中国化？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小组讨论：理论成果「一脉相承」体现在哪里？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 · 2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案例：真理标准大讨论：马克思主义中国化的关键一跃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112471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1097280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1978 年 5 月 11 日，《实践是检验真理的唯一标准》在《光明日报》发表，引发全国范围的大讨论。这篇文章矛头直指「两个凡是」（凡是毛主席作出的决策，我们都坚决维护；凡是毛主席的指示，我们都始终不渝地遵循），实质是要求重新确立实事求是的思想路线。讨论持续半年多，从中央到地方、从党外到党内、从理论界到全社会，为同年 12 月召开的党的十一届三中全会作了重要思想准备。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分析角度（3 个维度）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0233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57200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思想解放角度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真理标准讨论打破了对毛泽东思想的教条主义理解，是马克思主义中国化进程中思想路线的拨乱反正。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政治转折角度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为党的十一届三中全会确立「解放思想、实事求是」的思想路线奠定基础，开启了改革开放和社会主义现代化建设新时期。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理论创新角度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体现了马克思主义中国化「两个结合」原则——把马克思主义基本原理同中国具体实际（拨乱反正的现实需要）相结合。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 · 2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课堂讨论题（小组）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548640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2286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提问：为什么马克思主义必须中国化？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小组讨论：理论成果「一脉相承」体现在哪里？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建议时间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52628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52120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小组讨论：5-7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代表发言：每组 2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教师总结：3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学习任务（个人）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146304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1645920"/>
            <a:ext cx="539496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645920"/>
            <a:ext cx="73152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51206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用 100-150 字，写下你对这个专题最重要的 1 个观点，并给出 1 个生活/历史中的例子支撑。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评价标准（Rubric）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452628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0" y="4663440"/>
            <a:ext cx="539496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512064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观点准确：30%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逻辑清楚：30%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例子贴切：25%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语言流畅：15%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考点提示 · 2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本专题考试常见题型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5-6 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5 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马克思主义中国化时代化提出时间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简答题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2-3 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3 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两个结合的内容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 1-2 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理论成果关系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材料题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0-1 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综合 1 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为什么必须中国化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657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高频考点（必背）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6908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06240"/>
            <a:ext cx="548640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0624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2976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 / 简答 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马克思主义中国化（1938 年六届六中）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马克思主义中国化时代化（2017 年十九大）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两个结合：与中国具体实际 + 中华优秀传统文化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两次飞跃：毛泽东思想 + 中国特色社会主义理论体系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206240"/>
            <a:ext cx="557784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206240"/>
            <a:ext cx="73152" cy="21945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论述题答题模板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1. 提出背景（国际国内） 2. 科学内涵（两个结合） 3. 理论成果及关系 4. 一脉相承又与时俱进 5. 学习意义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本专题小结 · 2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本专题核心要点回顾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最核心的 3 个概念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马克思主义中国化时代化的提出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科学内涵（两个结合）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理论成果及其关系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启发式教学贯穿全程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案例式教学：建党、遵义会议、改革开放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理论脱离实际 / 死记硬背 / 流于空话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进入下一个专题 · 复习重点：马克思主义中国化时代化的提出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第一次历史性飞跃：毛泽东思想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本部分学时：15 学时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导入页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087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毛泽东思想及其历史地位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学时安排：4 学时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1605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297680"/>
            <a:ext cx="50292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5394960" cy="5349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3949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234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91640"/>
            <a:ext cx="49377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毛泽东思想形成发展的历史条件、过程是什么？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毛泽东思想「活的灵魂」是什么？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如何科学认识毛泽东和毛泽东思想的历史地位？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怎样区分毛泽东晚年错误和毛泽东思想科学体系？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形成发展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时间：1921—1976 年。过程：萌芽 → 形成 → 成熟 → 继续发展。代表著作：《矛盾论》《实践论》《新民主主义论》。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主要内容（六个方面）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新民主主义革命；社会主义革命和建设；革命军队建设、军事战略和国防建设；政策和策略；思想政治工作和文化工作；党的建设。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活的灵魂（三个基本方面）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实事求是；群众路线；独立自主。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重难点与教法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54480"/>
            <a:ext cx="56692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掌握：形成发展条件、主要内容、活的灵魂及内涵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熟悉：毛泽东思想是第一个理论成果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了解：毛泽东杰出贡献与晚年错误的关系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88620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402336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主要内容；活的灵魂；科学认识历史地位。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区别毛泽东晚年错误和毛泽东思想；科学评价。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141732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155448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讨论式教学：分组辩论「功与过」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案例式：遵义会议、延安整风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史料教学：原始文献 + 后人研究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混合式：线上史料阅读 + 线下研讨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讲课提示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493776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5074920"/>
            <a:ext cx="5394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辩论：毛泽东思想是否仍然具有当代价值？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小组研读：《实践论》《矛盾论》核心段落。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案例：遵义会议：毛泽东思想形成的关键转折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112471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1097280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1935 年 1 月，长征途中的中央红军在贵州遵义召开政治局扩大会议。会议集中全力纠正了博古等人在军事上和组织上的「左」倾错误，肯定了毛泽东的正确军事主张，选举毛泽东为中央政治局常委，取消博古、李德的军事最高指挥权。遵义会议在极其危急的情况下，挽救了党、挽救了红军、挽救了中国革命，是中国共产党历史上一个生死攸关的转折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分析角度（3 个维度）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0233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57200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思想路线角度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标志着中国共产党从「左」倾教条主义向实事求是的思想路线转变，毛泽东思想活的灵魂「实事求是」开始确立。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组织路线角度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结束了「左」倾错误在中央的统治，事实上确立了毛泽东在党中央和红军的领导地位，开始形成党的第一代领导集体。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历史意义角度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是中国共产党独立自主解决中国革命问题的开始，标志着中国共产党在政治上走向成熟。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课堂讨论题（小组）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548640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2286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辩论：毛泽东思想是否仍然具有当代价值？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小组研读：《实践论》《矛盾论》核心段落。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建议时间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52628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52120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小组讨论：5-7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代表发言：每组 2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教师总结：3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学习任务（个人）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146304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1645920"/>
            <a:ext cx="539496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645920"/>
            <a:ext cx="73152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51206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用 100-150 字，写下你对这个专题最重要的 1 个观点，并给出 1 个生活/历史中的例子支撑。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评价标准（Rubric）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452628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0" y="4663440"/>
            <a:ext cx="539496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512064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观点准确：30%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逻辑清楚：30%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例子贴切：25%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语言流畅：15%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考点提示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本专题考试常见题型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6-8 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5 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形成阶段及著作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简答题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2-3 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3 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主要内容六方面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 1-2 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活的灵魂三个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材料题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0-1 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综合 1 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历史地位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657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高频考点（必背）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6908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06240"/>
            <a:ext cx="548640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0624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2976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 / 简答 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活的灵魂：实事求是 / 群众路线 / 独立自主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主要内容：六方面（背诵标题）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形成过程：萌芽→形成→成熟→继续发展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代表作：《矛盾论》《实践论》《新民主主义论》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206240"/>
            <a:ext cx="557784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206240"/>
            <a:ext cx="73152" cy="21945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论述题答题模板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1. 形成背景 2. 主要内容（6 方面） 3. 活的灵魂（3 个） 4. 历史地位 5. 晚年错误与思想体系的区分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本专题小结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本专题核心要点回顾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最核心的 3 个概念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形成发展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主要内容（六个方面）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活的灵魂（三个基本方面）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讨论式教学：分组辩论「功与过」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案例式：遵义会议、延安整风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理论脱离实际 / 死记硬背 / 流于空话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进入下一个专题 · 复习重点：形成发展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导入页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087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新民主主义革命理论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学时安排：4 学时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1605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297680"/>
            <a:ext cx="50292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5394960" cy="5349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3949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234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91640"/>
            <a:ext cx="49377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近代中国基本国情是什么？革命任务是什么？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新民主主义革命总路线和基本纲领是什么？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什么是农村包围城市、武装夺取政权道路？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新民主主义革命的三大法宝是什么？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近代基本国情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半殖民地半封建社会。主要矛盾：帝国主义和中华民族、封建主义和人民大众。革命任务：反帝反封建反官僚资本主义。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总路线与基本纲领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总路线：无产阶级领导的，人民大众的，反帝反封建反官僚资本主义的革命。基本纲领：政治 + 经济 + 文化三方面。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革命道路与三大法宝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道路：农村包围城市、武装夺取政权。三大法宝：统一战线、武装斗争、党的建设。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重难点与教法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54480"/>
            <a:ext cx="56692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掌握：基本国情；总路线；革命道路；三大法宝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熟悉：近代中国革命的时代特征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了解：主要阶级；革命特殊性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88620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402336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基本国情；革命任务；革命道路。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新民主主义革命的性质；半殖民地半封建社会革命的特殊性。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141732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155448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启发式：历史 → 现实的问题导入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互动式：角色扮演（工人、农民、民族资产阶级）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案例式：井冈山、长征、抗日民族统一战线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比较法：新民主主义 vs 旧民主主义革命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讲课提示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493776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5074920"/>
            <a:ext cx="5394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讨论：为什么必须走农村包围城市道路？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案例分析：抗日民族统一战线形成的背景与意义。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案例：井冈山革命根据地的创建：农村包围城市道路的起点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112471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1097280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1927 年 10 月，毛泽东率领秋收起义部队到达井冈山，创建了第一个农村革命根据地。在根据地建设中，毛泽东领导开展打土豪、分田地的土地革命，建立红色政权（工农兵政府），探索出「工农武装割据」的道路：武装斗争、土地革命、根据地建设三者结合。井冈山道路是中国革命唯一正确的道路，为后来全国几十块革命根据地的建立提供了宝贵经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分析角度（3 个维度）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0233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57200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道路选择角度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中国革命不能照搬俄国十月革命中心城市暴动模式，必须结合中国实际走农村包围城市道路。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理论形成角度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「工农武装割据」思想是马克思主义中国化早期成果，是毛泽东思想形成的重要标志。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实践意义角度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为中国共产党探索中国革命正确道路提供了实践依据，成为后来革命胜利的根本保证。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课堂讨论题（小组）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548640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2286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讨论：为什么必须走农村包围城市道路？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案例分析：抗日民族统一战线形成的背景与意义。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建议时间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52628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52120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小组讨论：5-7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代表发言：每组 2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教师总结：3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学习任务（个人）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146304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1645920"/>
            <a:ext cx="539496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645920"/>
            <a:ext cx="73152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51206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用 100-150 字，写下你对这个专题最重要的 1 个观点，并给出 1 个生活/历史中的例子支撑。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评价标准（Rubric）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452628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0" y="4663440"/>
            <a:ext cx="539496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512064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观点准确：30%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逻辑清楚：30%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例子贴切：25%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语言流畅：15%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考点提示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本专题考试常见题型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5-6 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5 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半殖民地半封建社会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简答题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2-3 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3 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总路线记忆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 1-2 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三大法宝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材料题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综合 1 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革命道路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657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高频考点（必背）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6908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06240"/>
            <a:ext cx="548640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0624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2976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 / 简答 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基本国情：半殖民地半封建社会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总路线：无产阶级领导 + 人民大众 + 反帝反封建反官僚资本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三大法宝：统一战线、武装斗争、党的建设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革命道路：农村包围城市、武装夺取政权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206240"/>
            <a:ext cx="557784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206240"/>
            <a:ext cx="73152" cy="21945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论述题答题模板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1. 国情（半殖民地半封建） 2. 总路线 3. 革命道路 4. 三大法宝 5. 革命性质与前途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本专题小结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本专题核心要点回顾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最核心的 3 个概念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近代基本国情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总路线与基本纲领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革命道路与三大法宝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启发式：历史 → 现实的问题导入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互动式：角色扮演（工人、农民、民族资产阶级）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理论脱离实际 / 死记硬背 / 流于空话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进入下一个专题 · 复习重点：近代基本国情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导入页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087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社会主义改造理论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学时安排：4 学时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1605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297680"/>
            <a:ext cx="50292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5394960" cy="5349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3949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234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91640"/>
            <a:ext cx="49377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新民主主义社会的性质和特征是什么？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为什么必须从新民主主义向社会主义过渡？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过渡时期总路线的内容和理论依据是什么？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三大改造如何进行？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新民主主义社会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性质：过渡性社会，五种经济成分并存。主要矛盾：工人阶级和资产阶级的矛盾。任务：为向社会主义过渡准备条件。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过渡时期总路线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内容：在一个相当长的时期内，逐步实现国家的社会主义工业化，并逐步实现国家对农业、对手工业和对资本主义工商业的社会主义改造。简称「一化三改」。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三大改造的实践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农业：互助组 → 初级社 → 高级社。手工业：类似农业。资本主义工商业：和平赎买、阶梯式过渡。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重难点与教法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54480"/>
            <a:ext cx="56692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掌握：过渡的历史必然性；总路线；改造的历史经验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熟悉：新民主主义社会性质；总路线理论依据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了解：改造教训；社会主义基本制度确立的意义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88620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402336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过渡的历史必然性；过渡时期总路线；改造的历史经验。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过渡的历史必然性；只有社会主义能够救中国。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141732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155448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启发式：个体经营 vs 集体化效率讨论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翻转课堂：学生讲解「和平赎买」过程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案例式：荣毅仁家族、上海申新纺织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数据对比：改造前后工业产值、所有制结构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讲课提示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493776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5074920"/>
            <a:ext cx="5394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讨论：为什么中国选择「和平赎买」而非苏联式没收？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数据解读：1952 vs 1956 国民经济结构变化。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案例：荣毅仁家族：从民族资本家到红色资本家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112471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1097280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荣毅仁是近代中国民族工业巨头荣氏家族第三代代表人物，其家族企业包括申新纺织、茂新面粉等，是当时中国最大的民族资本集团之一。1956 年公私合营时，荣毅仁主动配合，将家族企业交由国家。后来他成为中华人民共和国副主席（1993-1998）。「红色资本家」这一称呼，体现了中国共产党对民族资产阶级的统一战线政策——通过和平赎买、阶梯式过渡，成功实现生产资料所有制的转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分析角度（3 个维度）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0233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57200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和平赎买角度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中国共产党创造性地用「和平赎买」方式，对资本主义工商业进行社会主义改造，避免了社会剧烈震荡。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统一战线角度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体现了统一战线政策在社会主义改造中的运用，团结了民族资产阶级，孤立了官僚资本。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制度创新角度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「公私合营」是马克思主义经典著作中没有的提法，是中国共产党对马克思主义理论的创新发展。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课堂讨论题（小组）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548640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2286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讨论：为什么中国选择「和平赎买」而非苏联式没收？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数据解读：1952 vs 1956 国民经济结构变化。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建议时间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52628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52120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小组讨论：5-7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代表发言：每组 2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教师总结：3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学习任务（个人）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146304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1645920"/>
            <a:ext cx="539496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645920"/>
            <a:ext cx="73152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51206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用 100-150 字，写下你对这个专题最重要的 1 个观点，并给出 1 个生活/历史中的例子支撑。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评价标准（Rubric）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452628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0" y="4663440"/>
            <a:ext cx="539496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512064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观点准确：30%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逻辑清楚：30%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例子贴切：25%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语言流畅：15%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考点提示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本专题考试常见题型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4-5 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5 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一化三改内容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简答题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 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3 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三大改造方式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 1-2 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历史经验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材料题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0-1 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综合 1 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制度确立意义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657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高频考点（必背）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6908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06240"/>
            <a:ext cx="548640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0624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2976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 / 简答 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总路线简称：「一化三改」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农业改造：互助组 → 初级社 → 高级社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资本主义工商业：和平赎买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历史经验：工业化与改造同时并举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206240"/>
            <a:ext cx="557784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206240"/>
            <a:ext cx="73152" cy="21945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论述题答题模板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1. 过渡背景 2. 总路线内容 3. 三大改造实践 4. 历史经验 5. 制度确立的意义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本专题小结 · 4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本专题核心要点回顾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最核心的 3 个概念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新民主主义社会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过渡时期总路线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三大改造的实践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启发式：个体经营 vs 集体化效率讨论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翻转课堂：学生讲解「和平赎买」过程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理论脱离实际 / 死记硬背 / 流于空话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进入下一个专题 · 复习重点：新民主主义社会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导入页 · 3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087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社会主义建设道路初步探索的理论成果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学时安排：3 学时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160520"/>
            <a:ext cx="50292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297680"/>
            <a:ext cx="50292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6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5394960" cy="5349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39496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234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91640"/>
            <a:ext cx="49377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为什么必须探索中国自己的社会主义建设道路？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如何调动一切积极因素为社会主义事业服务？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社会主义社会矛盾如何正确认识和处理？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走中国工业化道路的核心思想是什么？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 · 3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探索的背景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以苏联经验教训为鉴。苏联模式弊端：优先发展重工业、忽视轻工业和农业。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正确处理人民内部矛盾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两类矛盾学说：敌我矛盾（对抗性）+ 人民内部矛盾（非对抗性）。处理方针：团结—批评—团结。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1600200"/>
            <a:ext cx="3703320" cy="46634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600200"/>
            <a:ext cx="37033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764792"/>
            <a:ext cx="548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182880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走中国工业化道路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514600"/>
            <a:ext cx="3246120" cy="3566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重工业、轻工业和农业协调发展。四个现代化目标：工业、农业、国防、科学技术现代化。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重难点与教法 · 3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54480"/>
            <a:ext cx="56692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掌握：调动一切积极因素方针；正确处理人民内部矛盾；中国工业化道路思想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熟悉：「十大关系」中的协调发展思想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了解：探索的其他理论成果；经验教训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88620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402336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正确处理社会主义社会矛盾；走中国工业化道路。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5669280" cy="914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394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探索的经验教训；成就与曲折的关系。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141732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155448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启发式：从「为什么苏联会解体」引出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翻转课堂：学生汇报「十大关系」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史料教学：毛泽东《论十大关系》原文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反思式：成就与曲折并存的辩证思维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讲课提示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493776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5074920"/>
            <a:ext cx="5394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研讨：如何理解「成就与曲折并存」？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案例分析：1959—1961 三年困难时期的教训。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 · 3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案例：《论十大关系》：突破苏联模式的奠基之作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112471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1097280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1956 年 4 月，毛泽东在中央政治局扩大会议上发表《论十大关系》讲话。这十大关系包括：重工业和轻工业农业的关系、沿海工业和内地工业的关系、经济建设和国防建设的关系、国家生产单位和生产者个人的关系、中央和地方的关系、汉族和少数民族的关系、党和非党的关系、革命和反革命的关系、是非关系、中国和外国的关系。讲话的核心是调动一切积极因素为社会主义事业服务，标志着中国共产党开始突破苏联模式，探索中国自己的社会主义建设道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分析角度（3 个维度）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0233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57200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思想突破角度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突破苏联优先发展重工业的模式，提出重工业、轻工业、农业协调发展，体现中国工业化道路的独立思考。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辩证思维角度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《论十大关系》全篇贯穿着辩证法，体现了毛泽东对社会主义建设规律的哲学思考。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探索意义角度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为后来党的八大正确路线奠定基础，是马克思主义中国化在社会主义建设领域的重大成果。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 · 3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课堂讨论题（小组）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548640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2286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2120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研讨：如何理解「成就与曲折并存」？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题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案例分析：1959—1961 三年困难时期的教训。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建议时间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52628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52120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小组讨论：5-7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代表发言：每组 2 分钟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教师总结：3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学习任务（个人）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146304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0" y="1645920"/>
            <a:ext cx="5394960" cy="2286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645920"/>
            <a:ext cx="73152" cy="22860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830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512064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用 100-150 字，写下你对这个专题最重要的 1 个观点，并给出 1 个生活/历史中的例子支撑。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评价标准（Rubric）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452628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0800" y="4663440"/>
            <a:ext cx="5394960" cy="1737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512064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观点准确：30%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逻辑清楚：30%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例子贴切：25%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语言流畅：15%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考点提示 · 3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本专题考试常见题型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3-4 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5 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《论十大关系》内容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简答题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 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3 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两类矛盾学说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0-1 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 1-2 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四个现代化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材料题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0-1 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综合 1 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本章综合考点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657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高频考点（必背）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6908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06240"/>
            <a:ext cx="548640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0624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2976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 / 简答 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《论十大关系》（1956 年 4 月）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两类矛盾：敌我 + 人民内部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处理方针：团结—批评—团结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四个现代化：工业、农业、国防、科技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206240"/>
            <a:ext cx="557784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206240"/>
            <a:ext cx="73152" cy="21945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论述题答题模板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1. 探索背景（苏联模式弊端） 2. 《论十大关系》核心 3. 两类矛盾学说 4. 工业化道路思想 5. 经验教训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本专题小结 · 3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本专题核心要点回顾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最核心的 3 个概念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探索的背景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正确处理人民内部矛盾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走中国工业化道路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启发式：从「为什么苏联会解体」引出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翻转课堂：学生汇报「十大关系」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理论脱离实际 / 死记硬背 / 流于空话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进入下一个专题 · 复习重点：探索的背景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新的飞跃：中国特色社会主义理论体系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本部分学时：21 学时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专题六—九：中国特色社会主义理论体系全景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邓小平理论 + 三个代表 + 科学发展观 · 10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四大理论成果逻辑关系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691640"/>
            <a:ext cx="1124712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▎邓小平理论（1982—1997）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回答「什么是社会主义、怎样建设社会主义」。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▎「三个代表」重要思想（2000—2002）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回答「建设什么样的党、怎样建设党」。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▎科学发展观（2003—2012）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回答「实现什么样的发展、怎样发展」。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第十章：习近平新时代中国特色社会主义思想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导入页 · 本课程核心章节 · 6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本章地位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60020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本章是本课程的核心章节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习近平新时代中国特色社会主义思想是当代中国马克思主义、二十一世纪马克思主义，是中华文化和中国精神的时代精华，实现了马克思主义中国化时代化新的飞跃。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本章学习目标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5257800"/>
            <a:ext cx="548640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5394960"/>
            <a:ext cx="54864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理解其历史地位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掌握「十个明确」核心要义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掌握「十四个坚持」基本方略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历史地位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146304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1600200"/>
            <a:ext cx="53949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8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马克思主义中国化时代化的最新理论成果</a:t>
            </a:r>
          </a:p>
          <a:p>
            <a:pPr algn="l">
              <a:lnSpc>
                <a:spcPct val="18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新时代党和国家的行动指南</a:t>
            </a:r>
          </a:p>
          <a:p>
            <a:pPr algn="l">
              <a:lnSpc>
                <a:spcPct val="18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21 世纪马克思主义、当代中国马克思主义</a:t>
            </a:r>
          </a:p>
          <a:p>
            <a:pPr algn="l">
              <a:lnSpc>
                <a:spcPct val="18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中华文化和中国精神的时代精华</a:t>
            </a:r>
          </a:p>
          <a:p>
            <a:pPr algn="l">
              <a:lnSpc>
                <a:spcPct val="18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对三大规律认识的新跃升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核心要义：十个明确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本章核心知识点 · 1/2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核心要义：十个明确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691640"/>
            <a:ext cx="11247120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总任务：实现社会主义现代化和中华民族伟大复兴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社会主要矛盾：美好生活需要 vs 不平衡不充分的发展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总体布局「五位一体」+ 战略布局「四个全面」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全面深化改革总目标：完善制度、推进治理现代化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全面依法治国总目标：建设法治体系、建设法治国家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坚持基本经济制度，市场起决定性作用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坚持以人民为中心的发展思想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党在新时代的强军目标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中国特色大国外交：构建新型国际关系、人类命运共同体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全面从严治党的战略方针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基本方略：十四个坚持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本章核心知识点 · 2/2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基本方略：十四个坚持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691640"/>
            <a:ext cx="11247120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坚持党对一切工作的领导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坚持以人民为中心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坚持全面深化改革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坚持新发展理念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坚持人民当家作主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坚持全面依法治国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坚持社会主义核心价值体系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坚持在发展中保障和改善民生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坚持人与自然和谐共生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坚持总体国家安全观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坚持党对人民军队的绝对领导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坚持「一国两制」和推进祖国统一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坚持推动构建人类命运共同体</a:t>
            </a:r>
          </a:p>
          <a:p>
            <a:pPr algn="l">
              <a:lnSpc>
                <a:spcPct val="185000"/>
              </a:lnSpc>
            </a:pPr>
            <a:r>
              <a:rPr sz="16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6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坚持全面从严治党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案例分析：脱贫攻坚战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本章案例 · 6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案例：新时代脱贫攻坚战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645920"/>
            <a:ext cx="1124712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73152" cy="1828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1097280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党的十八大以来，中国组织实施了人类历史上规模最大、速度最快的脱贫攻坚战。8 年时间，现行标准下 9899 万农村贫困人口全部脱贫，832 个贫困县全部摘帽，12.8 万个贫困村全部出列。2021 年 7 月 1 日，习近平总书记在天安门城楼上庄严宣告：「在迎来中国共产党成立一百周年的重要时刻，我国脱贫攻坚战取得了全面胜利」。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分析角度（3 个维度）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0233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57200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十个明确角度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体现「以人民为中心」（明确 7）和「社会主要矛盾」（明确 2）。脱贫攻坚回应「人民对美好生活的需要」，破解「发展不平衡不充分」。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十四个坚持角度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体现「坚持在发展中保障和改善民生」（坚持 8）和「坚持以人民为中心」（坚持 2）。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160520"/>
            <a:ext cx="3703320" cy="2331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4160520"/>
            <a:ext cx="3703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233672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理论贡献角度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4709160"/>
            <a:ext cx="324612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为全球减贫事业提供中国方案，是习近平新时代中国特色社会主义思想在民生领域的成功实践。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考点提示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本章考点 · 6 学时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本章考试常见题型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6304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8-10 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 5 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本章必考章节，分值高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简答题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必考 2 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本章必考章节，分值高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645920"/>
            <a:ext cx="269748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1-2 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 1 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本章必考章节，分值高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1645920"/>
            <a:ext cx="2697480" cy="1828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1645920"/>
            <a:ext cx="2697480" cy="45720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9136" y="171907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材料题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19456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27432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综合 1 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306324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本章必考章节，分值高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657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高频考点（必背）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6908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06240"/>
            <a:ext cx="548640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06240"/>
            <a:ext cx="73152" cy="21945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29768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 / 简答 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61772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十个明确的核心要义（10 条全背）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十四个坚持的基本方略（14 条全背）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五位一体总体布局 + 四个全面战略布局</a:t>
            </a:r>
          </a:p>
          <a:p>
            <a:pPr algn="l">
              <a:lnSpc>
                <a:spcPct val="155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两个确立 / 四个意识 / 两个维护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206240"/>
            <a:ext cx="5577840" cy="21945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206240"/>
            <a:ext cx="73152" cy="21945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论述题答题模板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617720"/>
            <a:ext cx="5303520" cy="1691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1. 时代背景（为什么提出） 2. 核心内容（是什么） 3. 实践要求（怎么做） 4. 理论意义（为什么重要） 5. 联系实际（结合案例）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本章核心要点回顾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本章核心要点回顾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508760"/>
            <a:ext cx="1106424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最核心的 3 个概念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十个明确（核心要义）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十四个坚持（基本方略）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五位一体 + 四个全面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以人民为中心（价值立场）</a:t>
            </a:r>
          </a:p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全面深化改革（实践路径）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0233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56232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514600"/>
            <a:ext cx="33375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学用脱节：背诵条目不联系实际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进入第十一—十六章 · 复习重点：十个明确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50 /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6B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课程总结与课后任务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Summary &amp; Homework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本课程最重要的 3 个概念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1732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54480"/>
            <a:ext cx="5669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马克思主义中国化时代化（两个结合）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两次飞跃：毛泽东思想 + 中国特色社会主义理论体系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习近平新时代：十个明确 + 十四个坚持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47472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611880"/>
            <a:ext cx="566928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立场观点方法：马克思主义分析现实问题</a:t>
            </a:r>
          </a:p>
          <a:p>
            <a:pPr algn="l">
              <a:lnSpc>
                <a:spcPct val="170000"/>
              </a:lnSpc>
            </a:pPr>
            <a:r>
              <a:rPr sz="15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5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一脉相承又与时俱进：理解理论发展的内在逻辑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5212080"/>
            <a:ext cx="566928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349240"/>
            <a:ext cx="5669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理论学习与现实脱节，不能用马克思主义立场观点方法分析中国实际问题，流于空洞说教。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课后作业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141732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1554480"/>
            <a:ext cx="53949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基础：教材对应章节思考题（每专题 1 道）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阅读：《实践论》《矛盾论》+《之江新语》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实践：「大学生讲思政课」—— 1 专题微课 10 分钟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调研：「中国式现代化」家乡调研 2000 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拓展阅读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402336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4160520"/>
            <a:ext cx="53949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《毛泽东选集》第一卷、第三卷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《邓小平文选》第三卷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4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《习近平谈治国理政》第一至四卷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864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 Rubric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5852160"/>
            <a:ext cx="5394960" cy="0"/>
          </a:xfrm>
          <a:prstGeom prst="line">
            <a:avLst/>
          </a:prstGeom>
          <a:ln w="1905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0" y="598932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 40% + 能力 30% + 素养 30% ·  过程性 + 终结性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65760" y="6492240"/>
            <a:ext cx="11457432" cy="0"/>
          </a:xfrm>
          <a:prstGeom prst="line">
            <a:avLst/>
          </a:prstGeom>
          <a:ln w="9525">
            <a:solidFill>
              <a:srgbClr val="E0D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76479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51 /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