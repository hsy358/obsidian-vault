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高校思想政治理论课 · 通识教育必修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理论体系概论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教学大纲概览 · 课程结构 · 教学方法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15010017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学分 / 学时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学分 / 48 学时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授课对象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全校本科生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开课学期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 3 或第 4 学期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657600"/>
            <a:ext cx="2194560" cy="8229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374904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005072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2023 年修订版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教育部 2023 版统编教材 · 高等教育出版社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生成时间：2026-06-15  |  v1.2 教育咨询 PPT 技能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课程摘要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本课程讲什么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6692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本课程是高校思想政治理论课程中分量最重的一门，是每个大学生的必修课。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以马克思主义中国化时代化为主线，阐述中国共产党把马克思主义基本原理同中国具体实际相结合、同中华优秀传统文化相结合的历史进程。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集中讲授中国化马克思主义的理论成果。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本课程不讲什么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39"/>
            <a:ext cx="5669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不替代《马克思主义基本原理》的纯理论推导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不重复《思想道德与法治》的具体规范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不替代《中国近现代史纲要》的史实细节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学完可以获得什么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27632"/>
            <a:ext cx="50292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系统掌握马克思主义中国化时代化的科学内涵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理解各理论成果一脉相承又与时俱进的内在关系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运用马克思主义立场观点方法分析中国现实问题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确立科学社会主义信仰和建设中国特色社会主义共同理想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增强四个自信，为实现中华民族伟大复兴而奋斗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建议学习方式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5029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课前：观看视频、阅读资料、预习教材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课内：课堂讲授、案例教学、专题研讨、师生对话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课后：社会调研、主题实践、完成作业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序章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KNOWLEDGE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系统掌握马克思主义中国化时代化的科学内涵、历史进程、理论成果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掌握毛泽东思想和中国特色社会主义理论体系的基本原理、精神实质、历史地位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能力目标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56432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56432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运用马克思主义立场、观点、方法分析中国革命、建设和改革中的重大问题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对未来事物发展中可能出现的问题形成正确判断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素养目标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LITERACY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4224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64224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坚定四个自信（道路、理论、制度、文化）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树立科学的世界观、人生观、价值观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增强历史使命感和社会责任感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89136" y="1234440"/>
            <a:ext cx="278892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1234440"/>
            <a:ext cx="2788920" cy="9144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141732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评价方式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17830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ASSESSMENT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2016" y="2148840"/>
            <a:ext cx="24231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72016" y="2286000"/>
            <a:ext cx="242316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课堂讲授 + 自主学习 + 视频学习（知识）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小组研讨 + 案例分析 + 社会实践（能力）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课堂互动 + 主题实践 + 考核反馈（素养）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序章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课程结构总览：3 部分 · 9 专题 · 48 学时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280160"/>
            <a:ext cx="365760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57600" cy="109728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专题一（2 学时）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47472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61188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32004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理解马克思主义中国化时代化的科学内涵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把握理论成果一脉相承又与时俱进的内在关系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明确学习本课程的方法和要求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65760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657600" cy="109728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4173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6459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993392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专题二—五（15 学时）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56032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第一次历史性飞跃：毛泽东思想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26280" y="347472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26280" y="361188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947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89120"/>
            <a:ext cx="32004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专题二：毛泽东思想及其历史地位（4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专题三：新民主主义革命理论（4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专题四：社会主义改造理论（4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专题五：社会主义建设道路初步探索（3 学时）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280160"/>
            <a:ext cx="3657600" cy="4937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280160"/>
            <a:ext cx="3657600" cy="109728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6459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993392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 + 习近平新时代（25 学时）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56032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新的飞跃：中国特色社会主义理论体系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66760" y="3474720"/>
            <a:ext cx="320040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366760" y="361188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79476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389120"/>
            <a:ext cx="32004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专题六—九：邓三科（10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第十章：习近平新时代中国特色社会主义思想（6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第十一—十六章：五位一体 + 现代化（14 学时）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复习考核 + 实践教学（6 学时）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序章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METHODS &amp;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教学方法与学时分配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三段式教学环节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703320" cy="18288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3337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PRE-CLASS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观看视频
阅读资料
预习教材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知识目标 + 素养目标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45920"/>
            <a:ext cx="3703320" cy="18288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755648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75688"/>
            <a:ext cx="3337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IN-CLASS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7744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课堂讲授 · 案例教学
专题研讨 · 热点评析
师生对话 · 翻转课堂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10896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知识 + 能力 + 素养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45920"/>
            <a:ext cx="3703320" cy="18288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755648"/>
            <a:ext cx="3337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075688"/>
            <a:ext cx="3337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POST-CLASS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37744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社会调研
视频学习
主题实践 · 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10896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→ 能力目标 + 素养目标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703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学时分配：48 学时 = 理论 42 + 实践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板块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2452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2245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9028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第一部分：马克思主义中国化时代化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028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459028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5604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第二部分：毛泽东思想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5604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专题二—五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495604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11274552" cy="365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32180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第三部分：中国特色社会主义理论体系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2180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专题六—十六章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532180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68756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复习与考核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68756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总复习 + 期末考试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68756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05332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实践教学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05332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社会调研 + 大学生讲思政课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05332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19088"/>
            <a:ext cx="9601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合计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48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序章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本部分学时：2 学时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第一部分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 ·  2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马克思主义中国化时代化的历史进程与理论成果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学时安排：2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什么是马克思主义中国化时代化？为何要提「两个结合」？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马克思主义中国化时代化的科学内涵是什么？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中国化马克思主义有哪些理论成果？它们之间是什么关系？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为什么说本课程要把握「一脉相承又与时俱进」？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学习本课程的科学方法是什么？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第一部分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 ·  2 学时  ·  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 马克思主义中国化时代化的提出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1938 年毛泽东在六届六中全会提出「马克思主义中国化」。
2017 年党的十九大、2021 年十九届六中全会提出「马克思主义中国化时代化」。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 科学内涵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272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马克思主义基本原理同中国具体实际相结合。
马克思主义基本原理同中华优秀传统文化相结合。
核心要义：实事求是、与时俱进。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 理论成果及其关系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第一次飞跃：毛泽东思想。
第二次飞跃：中国特色社会主义理论体系（含邓小平理论、三个代表、科学发展观、习近平新时代中国特色社会主义思想）。
关系：一脉相承又与时俱进。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第一部分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第一部分  ·  2 学时  ·  重难点与教法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1：马克思主义中国化时代化的历史进程与理论成果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了解：马克思主义中国化时代化的历史进程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掌握：科学内涵和必要性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准确把握：理论成果「一脉相承又与时俱进」的内在关系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自觉提升：运用马克思主义立场、观点、方法分析问题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马克思主义中国化时代化的必要性；科学内涵；理论成果及其关系。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中国为什么选择了马克思主义；马克思主义中国化时代化的必要性如何讲清。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启发式教学贯穿全程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案例式教学：用中国共产党成立、遵义会议、改革开放等案例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对比法：马克思主义在中国 vs 苏联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时间轴展示：6 次理论飞跃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课堂提问 / 互动设计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提问：为什么马克思主义必须中国化？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小组讨论：理论成果「一脉相承」体现在哪里？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第一部分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第一次历史性飞跃：毛泽东思想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本部分学时：15 学时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毛泽东思想及其历史地位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毛泽东思想形成发展的历史条件、过程是什么？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毛泽东思想「活的灵魂」是什么？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如何科学认识毛泽东和毛泽东思想的历史地位？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怎样区分毛泽东晚年错误和毛泽东思想科学体系？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 形成发展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时间：1921—1976 年（建国前 + 建国后）。
过程：萌芽（建党—土地革命）→ 形成（遵义会议—抗战）→ 成熟（延安时期）→ 继续发展（建国后）。
代表著作：《矛盾论》《实践论》《新民主主义论》《论十大关系》。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 主要内容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272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六个方面：新民主主义革命；社会主义革命和建设；革命军队建设、军事战略和国防建设；政策和策略；思想政治工作和文化工作；党的建设。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 活的灵魂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三个基本方面：
• 实事求是
• 群众路线
• 独立自主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重难点与教法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2：毛泽东思想及其历史地位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掌握：形成发展条件、主要内容、活的灵魂及内涵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熟悉：毛泽东思想是第一个理论成果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了解：毛泽东杰出贡献与晚年错误的关系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毛泽东思想的主要内容和活的灵魂；科学认识毛泽东和毛泽东思想的历史地位。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正确区别毛泽东晚年错误和毛泽东思想；科学评价毛泽东和毛泽东思想。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讨论式教学：分组辩论「毛泽东的功与过」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案例式教学：遵义会议、延安整风、庐山会议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史料教学：原始文献 + 后人研究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混合式：线上史料阅读 + 线下研讨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课堂提问 / 互动设计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辩论：毛泽东思想是否仍然具有当代价值？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小组研读：《实践论》《矛盾论》核心段落。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近代中国基本国情是什么？革命任务是什么？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新民主主义革命总路线和基本纲领是什么？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什么是农村包围城市、武装夺取政权道路？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新民主主义革命的三大法宝是什么？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 近代基本国情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半殖民地半封建社会。
主要矛盾：帝国主义和中华民族、封建主义和人民大众。
革命任务：反帝反封建反官僚资本主义。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 总路线与基本纲领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272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总路线：无产阶级领导的，人民大众的，反对帝国主义、封建主义和官僚资本主义的革命。
经济纲领：没收封建地主土地归农民，没收官僚资本归新民主主义国家，保护民族工商业。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 革命道路与三大法宝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道路：农村包围城市、武装夺取政权。
三大法宝：
• 统一战线
• 武装斗争
• 党的建设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重难点与教法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3：新民主主义革命理论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掌握：基本国情；总路线；革命道路；三大法宝；性质和前途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熟悉：近代中国革命的时代特征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了解：近代中国社会主要阶级；革命特殊性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近代中国基本国情；革命的根本任务；新民主主义革命道路。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新民主主义革命的性质；半殖民地半封建社会革命的特殊性。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启发式教学：历史 → 现实的问题导入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互动式：角色扮演（工人、农民、民族资产阶级）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案例式：井冈山根据地、长征、抗日民族统一战线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比较法：新民主主义革命 vs 旧民主主义革命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课堂提问 / 互动设计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课堂讨论：为什么中国革命必须走农村包围城市道路？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案例分析：抗日民族统一战线形成的背景与意义。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社会主义改造理论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新民主主义社会的性质和特征是什么？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为什么必须从新民主主义向社会主义过渡？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过渡时期总路线的内容和理论依据是什么？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三大改造如何进行？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社会主义改造有哪些历史经验和教训？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 新民主主义社会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性质：过渡性社会，五种经济成分并存。
主要矛盾：工人阶级和资产阶级的矛盾。
任务：为向社会主义过渡准备条件。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 过渡时期总路线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272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内容：在一个相当长的时期内，逐步实现国家的社会主义工业化，并逐步实现国家对农业、对手工业和对资本主义工商业的社会主义改造。
简称：「一化三改」。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 三大改造的实践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农业：互助组 → 初级社 → 高级社。
手工业：类似农业改造。
资本主义工商业：和平赎买、阶梯式过渡。
核心经验：社会主义工业化建设与社会主义改造同时并举。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4 学时  ·  重难点与教法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4：社会主义改造理论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掌握：过渡的历史必然性；总路线；改造的历史经验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熟悉：新民主主义社会性质；总路线理论依据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了解：改造教训；社会主义基本制度确立的意义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过渡的历史必然性；过渡时期总路线；改造的历史经验。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过渡的历史必然性；只有社会主义能够救中国。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启发式教学：从个体经营 vs 集体化效率讨论入手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翻转课堂：学生分组讲解「和平赎买」过程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案例式：荣毅仁家族、上海申新纺织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数据对比：改造前后工业产值、所有制结构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课堂提问 / 互动设计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讨论：为什么中国选择「和平赎买」而非苏联式没收？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数据解读：1952 vs 1956 国民经济结构变化。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3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社会主义建设道路初步探索的理论成果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学时安排：3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为什么必须探索中国自己的社会主义建设道路？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如何调动一切积极因素为社会主义事业服务？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社会主义社会矛盾如何正确认识和处理？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走中国工业化道路的核心思想是什么？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3 学时  ·  核心知识点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核心知识点结构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 探索的背景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以苏联经验教训为鉴。
苏联模式弊端：优先发展重工业、忽视轻工业和农业。
中央提出：不能像苏联那样走弯路。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 正确处理人民内部矛盾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62272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62272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两类矛盾学说：
• 敌我矛盾（对抗性）
• 人民内部矛盾（非对抗性）
处理方针：团结—批评—团结。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691640"/>
            <a:ext cx="3703320" cy="457200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703320" cy="73152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74519"/>
            <a:ext cx="3337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 走中国工业化道路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4464" y="2331720"/>
            <a:ext cx="3337560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4464" y="2468880"/>
            <a:ext cx="3337560" cy="3749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重工业、轻工业和农业协调发展。
四个现代化目标：工业、农业、国防、科学技术现代化。
「两步走」战略设想。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第二部分  ·  3 学时  ·  重难点与教法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5：社会主义建设道路初步探索的理论成果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教学基本要求（3 层次）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掌握：调动一切积极因素方针；正确处理人民内部矛盾；中国工业化道路思想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熟悉：「十大关系」中的协调发展思想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了解：探索的其他理论成果；经验教训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重点与难点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正确认识和处理社会主义社会矛盾；走中国工业化道路。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5669280" cy="77724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探索的经验教训；成就与曲折的关系。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教学方法与课堂节奏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3949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启发式教学：从「为什么苏联会解体」引出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翻转课堂：学生汇报「十大关系」学习体会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史料教学：毛泽东《论十大关系》原文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反思式教学：成就与曲折并存的辩证思维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课堂提问 / 互动设计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53949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小组研讨：如何理解「成就与曲折并存」？</a:t>
            </a:r>
          </a:p>
          <a:p>
            <a:pPr algn="l">
              <a:lnSpc>
                <a:spcPct val="140000"/>
              </a:lnSpc>
            </a:pPr>
            <a:r>
              <a:rPr sz="10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0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案例分析：1959—1961 三年困难时期的教训。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第二部分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AE6E0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AF7F2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新的飞跃：中国特色社会主义理论体系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本部分学时：21 学时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第三部分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邓小平理论 + 三个代表 + 科学发展观  ·  10 学时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专题六—九：中国特色社会主义理论体系全景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四大理论成果逻辑关系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▎邓小平理论（1982—1997）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回答「什么是社会主义、怎样建设社会主义」。奠基之作：社会主义本质论 + 社会主义初级阶段论 + 社会主义市场经济。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▎「三个代表」重要思想（2000—2002）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回答「建设什么样的党、怎样建设党」。核心：代表先进生产力、先进文化、最广大人民根本利益。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▎科学发展观（2003—2012）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回答「实现什么样的发展、怎样发展」。第一要义：发展。核心：以人为本。基本要求：全面协调可持续。根本方法：统筹兼顾。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▎习近平新时代中国特色社会主义思想（2012— ）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回答「新时代坚持和发展什么样的中国特色社会主义、怎样坚持和发展中国特色社会主义」。十个明确 + 十四个坚持。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第三部分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  ·  4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7：邓小平理论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邓小平理论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学时安排：4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邓小平理论形成条件是什么？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它回答了哪些基本问题？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社会主义本质论的核心内容是什么？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社会主义初级阶段理论主要内容是什么？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第三部分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第三部分  ·  2 学时  ·  导入页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9：科学发展观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本专题在课程中的位置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专题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54864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科学发展观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学时安排：2 学时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教学功能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课程导入：建立学习动机与历史定位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背景铺垫：理论成果的时代背景与现实意义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学习目标：明确本专题要解决的核心问题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94960" cy="4846320"/>
          </a:xfrm>
          <a:prstGeom prst="rect">
            <a:avLst/>
          </a:prstGeom>
          <a:solidFill>
            <a:srgbClr val="F0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本专题要回答的核心问题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科学发展观形成背景是什么？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科学发展观的科学内涵是什么？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以人为本 vs 以经济建设为中心是什么关系？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第三部分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本课程核心章节  ·  6 学时  ·  分两讲授课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本章地位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73E1D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本章是本课程的核心章节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习近平新时代中国特色社会主义思想是当代中国马克思主义、二十一世纪马克思主义，是中华文化和中国精神的时代精华，实现了马克思主义中国化时代化新的飞跃。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377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本章学习目标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49240"/>
            <a:ext cx="5486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理解其历史地位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掌握「十个明确」核心要义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掌握「十四个坚持」基本方略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历史地位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3949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马克思主义中国化时代化的最新理论成果</a:t>
            </a:r>
          </a:p>
          <a:p>
            <a:pPr algn="l">
              <a:lnSpc>
                <a:spcPct val="17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新时代党和国家的行动指南</a:t>
            </a:r>
          </a:p>
          <a:p>
            <a:pPr algn="l">
              <a:lnSpc>
                <a:spcPct val="17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 世纪马克思主义、当代中国马克思主义</a:t>
            </a:r>
          </a:p>
          <a:p>
            <a:pPr algn="l">
              <a:lnSpc>
                <a:spcPct val="17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中华文化和中国精神的时代精华</a:t>
            </a:r>
          </a:p>
          <a:p>
            <a:pPr algn="l">
              <a:lnSpc>
                <a:spcPct val="17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对三大规律认识的新跃升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习近平新时代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本课程核心章节  ·  6 学时  ·  分两讲授课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核心要义：十个明确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12471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总任务：实现社会主义现代化和中华民族伟大复兴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社会主要矛盾：美好生活需要 vs 不平衡不充分的发展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总体布局「五位一体」+ 战略布局「四个全面」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全面深化改革总目标：完善制度、推进治理现代化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全面依法治国总目标：建设法治体系、建设法治国家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坚持基本经济制度，市场起决定性作用 + 更好发挥政府作用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坚持以人民为中心的发展思想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党在新时代的强军目标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中国特色大国外交：构建新型国际关系、人类命运共同体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全面从严治党的战略方针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习近平新时代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本课程核心章节  ·  6 学时  ·  分两讲授课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第十章：习近平新时代中国特色社会主义思想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基本方略：十四个坚持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124712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坚持党对一切工作的领导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坚持以人民为中心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坚持全面深化改革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坚持新发展理念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坚持人民当家作主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坚持全面依法治国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坚持社会主义核心价值体系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坚持在发展中保障和改善民生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坚持人与自然和谐共生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坚持总体国家安全观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坚持党对人民军队的绝对领导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坚持「一国两制」和推进祖国统一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坚持推动构建人类命运共同体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坚持全面从严治党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习近平新时代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365760"/>
          </a:xfrm>
          <a:prstGeom prst="rect">
            <a:avLst/>
          </a:prstGeom>
          <a:solidFill>
            <a:srgbClr val="8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SUMMARY &amp;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课程总结与课后任务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344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本课程最重要的 3 个概念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6692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马克思主义中国化时代化（两个结合）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两次历史性飞跃：毛泽东思想 + 中国特色社会主义理论体系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习近平新时代中国特色社会主义思想：十个明确 + 十四个坚持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最有用的 2 个方法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56692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立场观点方法：马克思主义分析现实问题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一脉相承又与时俱进：理解理论发展的内在逻辑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120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最需要警惕的 1 个风险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5669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理论学习与现实脱节，不能用马克思主义立场观点方法分析中国实际问题，流于空洞说教。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344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课后作业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52120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基础作业：完成教材对应章节思考题（每个专题 1 道）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阅读作业：《实践论》《矛盾论》选段 + 习近平《之江新语》选篇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实践作业：「大学生讲思政课」—— 任选 1 个专题做 10 分钟微课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调研作业：围绕「中国式现代化」做 1 份家乡调研（2000 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31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拓展阅读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5212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《毛泽东选集》第一卷、第三卷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《邓小平文选》第三卷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《习近平谈治国理政》第一至四卷</a:t>
            </a:r>
          </a:p>
          <a:p>
            <a:pPr algn="l">
              <a:lnSpc>
                <a:spcPct val="150000"/>
              </a:lnSpc>
            </a:pPr>
            <a:r>
              <a:rPr sz="11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■  </a:t>
            </a:r>
            <a:r>
              <a:rPr sz="1100" b="0">
                <a:solidFill>
                  <a:srgbClr val="2C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中央党史和文献研究院相关读物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7607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2C2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评价标准（Rubric）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1722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40% + 能力 30% + 素养 30%  ·  过程性评价 + 终结性评价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" y="6446520"/>
            <a:ext cx="11457432" cy="0"/>
          </a:xfrm>
          <a:prstGeom prst="line">
            <a:avLst/>
          </a:prstGeom>
          <a:ln w="9525">
            <a:solidFill>
              <a:srgbClr val="D4C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毛泽东思想和中国特色社会主义理论体系概论 · 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