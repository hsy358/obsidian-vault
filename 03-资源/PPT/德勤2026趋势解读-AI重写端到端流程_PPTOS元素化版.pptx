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" y="384048"/>
            <a:ext cx="11274552" cy="0"/>
          </a:xfrm>
          <a:prstGeom prst="line">
            <a:avLst/>
          </a:prstGeom>
          <a:ln w="1524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 · KDD 金字塔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5877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· 01 /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科沃斯 AI 转型三步法：松土 → 打样 → 铺开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全业务场景 AI Agent 覆盖 · 端到端主价值流 · 可复制落地公式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资料来源：德勤 2026 趋势解读 · 战略流程智慧坊（2026-05-31）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元素化版 v1.4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74520"/>
            <a:ext cx="34747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74520"/>
            <a:ext cx="3474720" cy="73152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659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 · 松土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E5DFD5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认知对齐 + 组织就绪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889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889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管理层认知统一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成立 AI 转型小组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118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118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梳理核心流程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2336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0233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数据基础盘点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1874520"/>
            <a:ext cx="34747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70248" y="1874520"/>
            <a:ext cx="3474720" cy="73152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70248" y="19659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 · 打样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0248" y="22860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E5DFD5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单点场景验证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27889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6008" y="27889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选择高价值场景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20040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8" y="32004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PoC 快速验证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128" y="36118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8" y="36118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量化效果指标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3128" y="402336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40233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沉淀方法论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83296" y="1874520"/>
            <a:ext cx="34747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83296" y="1874520"/>
            <a:ext cx="3474720" cy="73152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6" y="19659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 · 铺开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6" y="22860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E5DFD5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规模化复制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6" y="27889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27889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横向复制场景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20040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2004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标准化 AI Agent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36118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49056" y="36118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建立运营机制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66176" y="402336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49056" y="40233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持续迭代优化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950208" y="3703320"/>
            <a:ext cx="274320" cy="0"/>
          </a:xfrm>
          <a:prstGeom prst="rightArrow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ight Arrow 47"/>
          <p:cNvSpPr/>
          <p:nvPr/>
        </p:nvSpPr>
        <p:spPr>
          <a:xfrm>
            <a:off x="7763256" y="3703320"/>
            <a:ext cx="274320" cy="0"/>
          </a:xfrm>
          <a:prstGeom prst="rightArrow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57200" y="5806440"/>
            <a:ext cx="11247120" cy="82296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897879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5DFD5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★ AI 落地可复制公式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高价值场景 × 数据就绪度 × 组织变革力  =  AI Agent 规模化复制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" y="384048"/>
            <a:ext cx="11274552" cy="0"/>
          </a:xfrm>
          <a:prstGeom prst="line">
            <a:avLst/>
          </a:prstGeom>
          <a:ln w="1524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 · 标杆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5877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· 02 /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美的智能体工厂全流程闭环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南沙工厂 TPM/DMS/LOSS/模具矩阵 · 六步闭环 · 芜湖验证交付 -39%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资料来源：德勤 2026 趋势解读 · 战略流程智慧坊（2026-05-31）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元素化版 v1.4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74520"/>
            <a:ext cx="2697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74520"/>
            <a:ext cx="2697480" cy="36576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2024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TPM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设备管理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TPM</a:t>
            </a:r>
          </a:p>
          <a:p>
            <a:pPr algn="ctr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设备状态实时监控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1874520"/>
            <a:ext cx="2697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91840" y="1874520"/>
            <a:ext cx="2697480" cy="36576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192024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DMS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2860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数据管理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65176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DMS</a:t>
            </a:r>
          </a:p>
          <a:p>
            <a:pPr algn="ctr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9260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全链路数据治理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1874520"/>
            <a:ext cx="2697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26480" y="1874520"/>
            <a:ext cx="2697480" cy="36576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192024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LOSS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2860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损耗管理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65176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LOSS</a:t>
            </a:r>
          </a:p>
          <a:p>
            <a:pPr algn="ctr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9260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损耗下降 90%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1874520"/>
            <a:ext cx="2697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61120" y="1874520"/>
            <a:ext cx="2697480" cy="36576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0" y="192024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模具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22860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模具管理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265176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模具</a:t>
            </a:r>
          </a:p>
          <a:p>
            <a:pPr algn="ctr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29260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模具寿命预测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▍ 六步闭环控制塔流程（感知 → 决策 → 执行 → 回流）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977640"/>
            <a:ext cx="1691640" cy="640080"/>
          </a:xfrm>
          <a:prstGeom prst="round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14223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① 感知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2167128" y="4251960"/>
            <a:ext cx="146304" cy="0"/>
          </a:xfrm>
          <a:prstGeom prst="rightArrow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331720" y="3977640"/>
            <a:ext cx="1691640" cy="640080"/>
          </a:xfrm>
          <a:prstGeom prst="round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31720" y="414223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② 决策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4041648" y="4251960"/>
            <a:ext cx="146304" cy="0"/>
          </a:xfrm>
          <a:prstGeom prst="rightArrow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206240" y="3977640"/>
            <a:ext cx="1691640" cy="640080"/>
          </a:xfrm>
          <a:prstGeom prst="round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414223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③ 执行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5916168" y="4251960"/>
            <a:ext cx="146304" cy="0"/>
          </a:xfrm>
          <a:prstGeom prst="rightArrow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80759" y="3977640"/>
            <a:ext cx="1691640" cy="640080"/>
          </a:xfrm>
          <a:prstGeom prst="round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59" y="414223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④ 反馈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790687" y="4251960"/>
            <a:ext cx="146304" cy="0"/>
          </a:xfrm>
          <a:prstGeom prst="rightArrow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955279" y="3977640"/>
            <a:ext cx="1691640" cy="640080"/>
          </a:xfrm>
          <a:prstGeom prst="round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79" y="414223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⑤ 优化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665207" y="4251960"/>
            <a:ext cx="146304" cy="0"/>
          </a:xfrm>
          <a:prstGeom prst="rightArrow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829800" y="3977640"/>
            <a:ext cx="1691640" cy="640080"/>
          </a:xfrm>
          <a:prstGeom prst="round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414223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⑥ 回流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▍ 核心 KPI 成果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34924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349240"/>
            <a:ext cx="269748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577840"/>
            <a:ext cx="2697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-90%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00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损耗下降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76656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南沙 LOSS Agent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91840" y="534924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1840" y="5349240"/>
            <a:ext cx="269748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91840" y="5577840"/>
            <a:ext cx="2697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6 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6400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下线节拍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40" y="676656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一台空调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534924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26480" y="5349240"/>
            <a:ext cx="269748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80" y="5577840"/>
            <a:ext cx="2697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-39%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6400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交付周期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676656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芜湖验证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534924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61120" y="5349240"/>
            <a:ext cx="269748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961120" y="5577840"/>
            <a:ext cx="2697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-30%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6400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库存下降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61120" y="676656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芜湖验证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" y="384048"/>
            <a:ext cx="11274552" cy="0"/>
          </a:xfrm>
          <a:prstGeom prst="line">
            <a:avLst/>
          </a:prstGeom>
          <a:ln w="1524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 · 标杆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5877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· 03 /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广域铭岛 AI 原生工厂四层架构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地基 / 平台 / 应用 / 决策 · 吉利张家口 +15% 效率 · 领克成都 -15% 交付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资料来源：德勤 2026 趋势解读 · 战略流程智慧坊（2026-05-31）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元素化版 v1.4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74520"/>
            <a:ext cx="5029200" cy="77724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决策层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AI 决策中枢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全局调度优化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697480"/>
            <a:ext cx="5029200" cy="777240"/>
          </a:xfrm>
          <a:prstGeom prst="round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应用层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工业 App 矩阵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场景化 AI 工具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20440"/>
            <a:ext cx="5029200" cy="777240"/>
          </a:xfrm>
          <a:prstGeom prst="roundRect">
            <a:avLst/>
          </a:prstGeom>
          <a:solidFill>
            <a:srgbClr val="E5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平台层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IoT + 数据湖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AI 模型工厂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43400"/>
            <a:ext cx="5029200" cy="777240"/>
          </a:xfrm>
          <a:prstGeom prst="round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3484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地基层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548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5G + 工业互联网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边缘计算节点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874520"/>
            <a:ext cx="57607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0" y="1874520"/>
            <a:ext cx="57607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2011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吉利 · 张家口工厂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3774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效率提升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6517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+15%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743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年节约 ¥1400 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3246120"/>
            <a:ext cx="57607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0" y="3246120"/>
            <a:ext cx="576072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33832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领克 · 成都工厂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7490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交付周期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40233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-15%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1148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运营成本显著优化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▍ 四层架构核心逻辑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607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地基层（连接）→ 平台层（汇聚）→ 应用层（赋能）→ 决策层（自主）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从设备连接到全局智能，每一层都是上一层的基础，缺一不可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" y="384048"/>
            <a:ext cx="11274552" cy="0"/>
          </a:xfrm>
          <a:prstGeom prst="line">
            <a:avLst/>
          </a:prstGeom>
          <a:ln w="1524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 · 标杆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5877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· 04 /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明略科技 20 倍人效实证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60 天全链路 Agentic AI 改造 · 90% 自动化率 · 三大核心洞察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资料来源：德勤 2026 趋势解读 · 战略流程智慧坊（2026-05-31）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元素化版 v1.4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74520"/>
            <a:ext cx="365760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74520"/>
            <a:ext cx="365760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3657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60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全链路改造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Agentic AI 端到端重塑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0248" y="1874520"/>
            <a:ext cx="365760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1874520"/>
            <a:ext cx="365760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0248" y="2103120"/>
            <a:ext cx="3657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0248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流程自动化率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32918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覆盖核心业务节点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1874520"/>
            <a:ext cx="365760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1874520"/>
            <a:ext cx="365760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2103120"/>
            <a:ext cx="3657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20×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产出人效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83296" y="32918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传统 vs AI 模式对比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8862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▍ 传统模式 vs AI 模式（成本结构对比）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434340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3200400"/>
                <a:gridCol w="2560320"/>
              </a:tblGrid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维度</a:t>
                      </a:r>
                    </a:p>
                  </a:txBody>
                  <a:tcPr marL="91440" marR="91440" marT="45720" marB="45720">
                    <a:solidFill>
                      <a:srgbClr val="8B2C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传统模式</a:t>
                      </a:r>
                    </a:p>
                  </a:txBody>
                  <a:tcPr marL="91440" marR="91440" marT="45720" marB="45720">
                    <a:solidFill>
                      <a:srgbClr val="8B2C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AI 模式</a:t>
                      </a:r>
                    </a:p>
                  </a:txBody>
                  <a:tcPr marL="91440" marR="91440" marT="45720" marB="45720">
                    <a:solidFill>
                      <a:srgbClr val="8B2C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变化</a:t>
                      </a:r>
                    </a:p>
                  </a:txBody>
                  <a:tcPr marL="91440" marR="91440" marT="45720" marB="45720">
                    <a:solidFill>
                      <a:srgbClr val="8B2C2C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人力成本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高（多岗协作）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低（Agent 接管）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↓ 显著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响应速度</a:t>
                      </a:r>
                    </a:p>
                  </a:txBody>
                  <a:tcPr marL="91440" marR="91440" marT="45720" marB="45720">
                    <a:solidFill>
                      <a:srgbClr val="F2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按天/周</a:t>
                      </a:r>
                    </a:p>
                  </a:txBody>
                  <a:tcPr marL="91440" marR="91440" marT="45720" marB="45720">
                    <a:solidFill>
                      <a:srgbClr val="F2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实时</a:t>
                      </a:r>
                    </a:p>
                  </a:txBody>
                  <a:tcPr marL="91440" marR="91440" marT="45720" marB="45720">
                    <a:solidFill>
                      <a:srgbClr val="F2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↑ 10×</a:t>
                      </a:r>
                    </a:p>
                  </a:txBody>
                  <a:tcPr marL="91440" marR="91440" marT="45720" marB="45720">
                    <a:solidFill>
                      <a:srgbClr val="F2EEE7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错误率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5-10%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&lt; 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↓ 80%+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可扩展性</a:t>
                      </a:r>
                    </a:p>
                  </a:txBody>
                  <a:tcPr marL="91440" marR="91440" marT="45720" marB="45720">
                    <a:solidFill>
                      <a:srgbClr val="F2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线性（招人）</a:t>
                      </a:r>
                    </a:p>
                  </a:txBody>
                  <a:tcPr marL="91440" marR="91440" marT="45720" marB="45720">
                    <a:solidFill>
                      <a:srgbClr val="F2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指数（部署）</a:t>
                      </a:r>
                    </a:p>
                  </a:txBody>
                  <a:tcPr marL="91440" marR="91440" marT="45720" marB="45720">
                    <a:solidFill>
                      <a:srgbClr val="F2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↑ 20×</a:t>
                      </a:r>
                    </a:p>
                  </a:txBody>
                  <a:tcPr marL="91440" marR="91440" marT="45720" marB="45720">
                    <a:solidFill>
                      <a:srgbClr val="F2EEE7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稳定性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波动大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持续稳定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B2B2B"/>
                          </a:solidFill>
                          <a:latin typeface="思源黑体"/>
                          <a:eastAsia typeface="思源黑体"/>
                          <a:cs typeface="思源黑体"/>
                          <a:ascii typeface="思源黑体"/>
                        </a:rPr>
                        <a:t>↑ 显著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" y="384048"/>
            <a:ext cx="11274552" cy="0"/>
          </a:xfrm>
          <a:prstGeom prst="line">
            <a:avLst/>
          </a:prstGeom>
          <a:ln w="1524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 · 标杆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5877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· 05 /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中信泰富特钢双域融合：管理域 + 制造域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2026 年 4 月业内首家 · 流程周期 -30% · OEE +12%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资料来源：德勤 2026 趋势解读 · 战略流程智慧坊（2026-05-31）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元素化版 v1.4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74520"/>
            <a:ext cx="11247120" cy="64008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8424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★ 2026 年 4 月 · 业内首家企业管理智能体（重工业 AI 原生验证）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36576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697480"/>
            <a:ext cx="3657600" cy="502920"/>
          </a:xfrm>
          <a:prstGeom prst="round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管理域智能体矩阵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17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行政事务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290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合同审核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13048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8130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报告生成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197096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1970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跨部门知识共享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81144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58114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业务流程合规率 &gt; 95%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697480"/>
            <a:ext cx="36576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70248" y="2697480"/>
            <a:ext cx="3657600" cy="502920"/>
          </a:xfrm>
          <a:prstGeom prst="round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0248" y="2743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数据 &amp; 平台底座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0248" y="3017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中枢桥梁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42900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8" y="34290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流程主数据系统（统一编码）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128" y="3813048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8" y="38130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流程管理平台（建模/监控）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3128" y="4197096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41970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高质量向量数据库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3128" y="4581144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6008" y="458114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结构化系统标准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83296" y="2697480"/>
            <a:ext cx="36576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83296" y="2697480"/>
            <a:ext cx="3657600" cy="502920"/>
          </a:xfrm>
          <a:prstGeom prst="roundRect">
            <a:avLst/>
          </a:prstGeom>
          <a:solidFill>
            <a:srgbClr val="E5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2743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制造域工业智能体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83296" y="3017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工厂现场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42900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5DFD5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4290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冶金模型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3813048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5DFD5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49056" y="38130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视觉算法（98%+ 准确率）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66176" y="4197096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5DFD5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49056" y="41970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动态配料优化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4581144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5DFD5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49056" y="458114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预测性维护（92% 健康指标）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▍ 6 项核心价值成效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080760"/>
            <a:ext cx="1828800" cy="100584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6080760"/>
            <a:ext cx="1828800" cy="4572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-30%+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6751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流程周期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40864" y="6080760"/>
            <a:ext cx="1828800" cy="100584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40864" y="6080760"/>
            <a:ext cx="1828800" cy="4572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40864" y="62179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95%+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40864" y="66751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一次通过率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24528" y="6080760"/>
            <a:ext cx="1828800" cy="100584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24528" y="6080760"/>
            <a:ext cx="1828800" cy="4572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24528" y="62179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+12%+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24528" y="66751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OEE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6080760"/>
            <a:ext cx="1828800" cy="100584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08192" y="6080760"/>
            <a:ext cx="1828800" cy="4572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08192" y="62179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+10%+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08192" y="66751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质量一次合格率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991856" y="6080760"/>
            <a:ext cx="1828800" cy="100584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91856" y="6080760"/>
            <a:ext cx="1828800" cy="4572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991856" y="62179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-8%+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91856" y="66751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运营成本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75520" y="6080760"/>
            <a:ext cx="1828800" cy="100584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0" y="6080760"/>
            <a:ext cx="1828800" cy="4572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875520" y="62179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-6%+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5520" y="66751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碳排放强度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" y="384048"/>
            <a:ext cx="11274552" cy="0"/>
          </a:xfrm>
          <a:prstGeom prst="line">
            <a:avLst/>
          </a:prstGeom>
          <a:ln w="1524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4 · X 光机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5877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· 06 /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流程智能是 AI 原生运营的「X 光机」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Celonis 引领 · 实际路径 vs 标准路径对比 · 4 大核心能力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资料来源：德勤 2026 趋势解读 · 战略流程智慧坊（2026-05-31）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元素化版 v1.4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7452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▍ 实际路径 vs 标准路径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423160"/>
            <a:ext cx="64008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订单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063240"/>
            <a:ext cx="640080" cy="365760"/>
          </a:xfrm>
          <a:prstGeom prst="ellipse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08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订单</a:t>
            </a:r>
          </a:p>
        </p:txBody>
      </p:sp>
      <p:sp>
        <p:nvSpPr>
          <p:cNvPr id="17" name="Oval 16"/>
          <p:cNvSpPr/>
          <p:nvPr/>
        </p:nvSpPr>
        <p:spPr>
          <a:xfrm>
            <a:off x="1645920" y="2423160"/>
            <a:ext cx="64008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24688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采购</a:t>
            </a:r>
          </a:p>
        </p:txBody>
      </p:sp>
      <p:sp>
        <p:nvSpPr>
          <p:cNvPr id="19" name="Oval 18"/>
          <p:cNvSpPr/>
          <p:nvPr/>
        </p:nvSpPr>
        <p:spPr>
          <a:xfrm>
            <a:off x="1828800" y="3063240"/>
            <a:ext cx="640080" cy="365760"/>
          </a:xfrm>
          <a:prstGeom prst="ellipse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3108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采购</a:t>
            </a:r>
          </a:p>
        </p:txBody>
      </p:sp>
      <p:sp>
        <p:nvSpPr>
          <p:cNvPr id="21" name="Oval 20"/>
          <p:cNvSpPr/>
          <p:nvPr/>
        </p:nvSpPr>
        <p:spPr>
          <a:xfrm>
            <a:off x="2651760" y="2423160"/>
            <a:ext cx="64008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24688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生产</a:t>
            </a:r>
          </a:p>
        </p:txBody>
      </p:sp>
      <p:sp>
        <p:nvSpPr>
          <p:cNvPr id="23" name="Oval 22"/>
          <p:cNvSpPr/>
          <p:nvPr/>
        </p:nvSpPr>
        <p:spPr>
          <a:xfrm>
            <a:off x="2468880" y="3063240"/>
            <a:ext cx="640080" cy="365760"/>
          </a:xfrm>
          <a:prstGeom prst="ellipse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68880" y="3108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生产</a:t>
            </a:r>
          </a:p>
        </p:txBody>
      </p:sp>
      <p:sp>
        <p:nvSpPr>
          <p:cNvPr id="25" name="Oval 24"/>
          <p:cNvSpPr/>
          <p:nvPr/>
        </p:nvSpPr>
        <p:spPr>
          <a:xfrm>
            <a:off x="3657600" y="2423160"/>
            <a:ext cx="64008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24688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交付</a:t>
            </a:r>
          </a:p>
        </p:txBody>
      </p:sp>
      <p:sp>
        <p:nvSpPr>
          <p:cNvPr id="27" name="Oval 26"/>
          <p:cNvSpPr/>
          <p:nvPr/>
        </p:nvSpPr>
        <p:spPr>
          <a:xfrm>
            <a:off x="3931920" y="3063240"/>
            <a:ext cx="640080" cy="365760"/>
          </a:xfrm>
          <a:prstGeom prst="ellipse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3108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交付</a:t>
            </a:r>
          </a:p>
        </p:txBody>
      </p:sp>
      <p:sp>
        <p:nvSpPr>
          <p:cNvPr id="29" name="Oval 28"/>
          <p:cNvSpPr/>
          <p:nvPr/>
        </p:nvSpPr>
        <p:spPr>
          <a:xfrm>
            <a:off x="4663440" y="2423160"/>
            <a:ext cx="64008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24688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售后</a:t>
            </a:r>
          </a:p>
        </p:txBody>
      </p:sp>
      <p:sp>
        <p:nvSpPr>
          <p:cNvPr id="31" name="Oval 30"/>
          <p:cNvSpPr/>
          <p:nvPr/>
        </p:nvSpPr>
        <p:spPr>
          <a:xfrm>
            <a:off x="4663440" y="3063240"/>
            <a:ext cx="640080" cy="365760"/>
          </a:xfrm>
          <a:prstGeom prst="ellipse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108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售后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566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虚线：标准路径 · 实线：实际路径 · 偏差即为改进机会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45352" y="187452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45352" y="1874520"/>
            <a:ext cx="548640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0116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▍ 市场地位（2026 Gartner 流程智能魔力象限）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4688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★ Celonis  ·  Leaders 象限首位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971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对象中心数字孪生 ·  为 AI Agent 提供「运营上下文」</a:t>
            </a:r>
          </a:p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代表案例：雷诺集团（数据标准化）·  Florida Crystals（LLM 需要运营上下文）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3434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▍ 4 大核心能力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80060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4800600"/>
            <a:ext cx="269748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029200"/>
            <a:ext cx="2697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98%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85216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流程可视化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217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端到端运营轨迹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480060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91840" y="4800600"/>
            <a:ext cx="269748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0" y="5029200"/>
            <a:ext cx="2697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92%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85216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偏差分析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0" y="6217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实际 vs 标准识别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480060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4800600"/>
            <a:ext cx="269748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5029200"/>
            <a:ext cx="2697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90%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585216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瓶颈预测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6217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未来 7 天预测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61120" y="480060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61120" y="4800600"/>
            <a:ext cx="269748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61120" y="5029200"/>
            <a:ext cx="2697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+35%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20" y="585216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闭环反馈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0" y="6217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AI 模型迭代提速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" y="384048"/>
            <a:ext cx="11274552" cy="0"/>
          </a:xfrm>
          <a:prstGeom prst="line">
            <a:avLst/>
          </a:prstGeom>
          <a:ln w="1524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4 · X 光机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5877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· 07 /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流程智能四大底座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可视化 / 偏差分析 / 瓶颈预测 / 闭环反馈 · 三大核心模块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8B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资料来源：德勤 2026 趋势解读 · 战略流程智慧坊（2026-05-31）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PPTOS 元素化版 v1.4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356616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流程可视化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346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让 AI 看见端到端轨迹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004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O2C / P2P 流程图</a:t>
            </a:r>
          </a:p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实际 vs 标准路径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98%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233172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23360" y="2331720"/>
            <a:ext cx="3566160" cy="73152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24688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偏差分析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8346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自动触发改进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2004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超时 / 跳步 / 异常</a:t>
            </a:r>
          </a:p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自动识别偏差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886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92%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61772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617720"/>
            <a:ext cx="3566160" cy="73152"/>
          </a:xfrm>
          <a:prstGeom prst="rect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瓶颈预测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资源动态调整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7 天拥堵预测</a:t>
            </a:r>
          </a:p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人机资源调度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172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90%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0" y="461772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23360" y="4617720"/>
            <a:ext cx="3566160" cy="73152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548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闭环反馈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51206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持续迭代优化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54864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数据回流 AI 模型</a:t>
            </a:r>
          </a:p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持续训练优化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6172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+35%</a:t>
            </a:r>
          </a:p>
        </p:txBody>
      </p:sp>
      <p:sp>
        <p:nvSpPr>
          <p:cNvPr id="35" name="Oval 34"/>
          <p:cNvSpPr/>
          <p:nvPr/>
        </p:nvSpPr>
        <p:spPr>
          <a:xfrm>
            <a:off x="3337560" y="3977639"/>
            <a:ext cx="1920240" cy="1280160"/>
          </a:xfrm>
          <a:prstGeom prst="ellipse">
            <a:avLst/>
          </a:prstGeom>
          <a:solidFill>
            <a:srgbClr val="8B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37560" y="4251959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流程智能平台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4617719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E5DFD5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让 AI 理解流程如何运行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7086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▍ 三大核心模块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7543800"/>
            <a:ext cx="3657600" cy="73152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7635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流程挖掘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7955279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发现真实路径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70248" y="7543800"/>
            <a:ext cx="3657600" cy="73152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53128" y="7635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任务挖掘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53128" y="7955279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员工行为记录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83296" y="7543800"/>
            <a:ext cx="3657600" cy="731520"/>
          </a:xfrm>
          <a:prstGeom prst="rect">
            <a:avLst/>
          </a:prstGeom>
          <a:solidFill>
            <a:srgbClr val="F2EEE7"/>
          </a:solidFill>
          <a:ln w="6350">
            <a:solidFill>
              <a:srgbClr val="C9BC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6176" y="7635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B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流程建模与监控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7955279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实时跟踪异常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