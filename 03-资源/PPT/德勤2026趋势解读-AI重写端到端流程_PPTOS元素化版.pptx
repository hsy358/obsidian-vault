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Elemental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26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v 1.4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01168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 勤 2026 趋 势 解 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688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企业如何围绕 AI</a:t>
            </a:r>
          </a:p>
          <a:p>
            <a:pPr algn="l"/>
            <a:r>
              <a:rPr sz="40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重写端到端流程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4572000"/>
            <a:ext cx="713232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0" y="475488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从执行到自优化 · KDD 金字塔 · 标杆案例 · 流程智能 X 光机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94360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战略流程智慧坊  ·  2026-05-31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21792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全部由 PPTOS 元素化生成 · 可二次编辑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  ·  本 质 跃 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本质跃迁：从执行到自优化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传统流程靠固定规则机械执行，AI 原生流程以数据为驱动、智能体为核心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决策逻辑：静态规则 → 实时动态自主决策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优化周期：季度/年度 → 实时持续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价值重心：节省人力 → 提升决策质量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01 / 图 02 / 图 03 / 图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  ·  K D D 金 字 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金字塔：AI 原生底层根基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K（知识）-D（数据）-D（决策）三层不可跳跃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知识层：沉淀业务规则、SOP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数据层：打通全链路数据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决策层：AI 自主判断、执行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05 / 图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  ·  标 杆 成 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标杆成效：效率与价值双升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 / 科沃斯 / 中信泰富 / 广域铭岛 / 明略科技 — 5 大落地标杆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美的南沙：产线节拍 6 秒、库存降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科沃斯：人效提升 20 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中信泰富：流程周期缩短 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07-12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4  ·  落 地 路 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</a:t>
            </a:r>
          </a:p>
          <a:p>
            <a:pPr algn="l"/>
            <a:r>
              <a:rPr sz="8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落地路径：从体检到规模化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 X 光机 + 8 步行动指南 + 2026-2028 演进路线图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X 光机：可视化 / 偏差 / 瓶颈 / 闭环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8 步路径：KDD → 体检 → 试点 → 治理 → 规模化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路线图：2026 试点 → 2027 规模化 → 2028 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13-18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 · 概 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从流程自动化到流程 AI 原生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KPI 全面提升 · AI 试点 75% vs 量产 25% · 2027 年转型预测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系统调用增长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Agent 自主调用激增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7452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试点覆盖率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但仅 25% 成功规模化量产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87452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转型关键节点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40% 中高复杂度知识工作将由 AI 辅助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核心价值矩阵（9 宫格）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效率提升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7091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流程自动化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4434840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4526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决策质量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846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7091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动态决策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4434840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6" y="4526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人力释放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846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47091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人效倍增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94959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8639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响应速度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0643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669279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节拍时间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5394959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548639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库存下降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580643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5669279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芜湖验证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5394959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6" y="548639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流程周期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580643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4976" y="5669279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355079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44651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缺陷识别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76655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98%+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6629399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视觉算法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0248" y="6355079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53128" y="644651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预测维护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53128" y="676655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6629399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健康指标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83296" y="6355079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6176" y="644651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成本节约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676655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8%+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94976" y="6629399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运营成本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传统模式：流程主体不变，AI 搭便车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业务架构未重构，AI 仅作辅助工具被动叠加到现有流程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11247120" cy="64008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核心观点：AI 在传统架构中是「搭便车的乘客」，而非「重塑流程的司机」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880360"/>
            <a:ext cx="1371600" cy="1828800"/>
          </a:xfrm>
          <a:prstGeom prst="ellipse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流程主导者</a:t>
            </a:r>
          </a:p>
        </p:txBody>
      </p:sp>
      <p:sp>
        <p:nvSpPr>
          <p:cNvPr id="16" name="Oval 15"/>
          <p:cNvSpPr/>
          <p:nvPr/>
        </p:nvSpPr>
        <p:spPr>
          <a:xfrm>
            <a:off x="2468880" y="2880360"/>
            <a:ext cx="1371600" cy="182880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2461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886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辅助搭便车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4290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需求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715000" y="3931920"/>
            <a:ext cx="54864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0" y="34290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审批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52360" y="3931920"/>
            <a:ext cx="54864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34290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7490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执行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189720" y="3931920"/>
            <a:ext cx="54864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4080" y="34290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7490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反馈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3657600" cy="10972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73152" cy="109728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0749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流程未重构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86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业务流程本质未变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4983480"/>
            <a:ext cx="3657600" cy="10972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4983480"/>
            <a:ext cx="73152" cy="109728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50749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被叠加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486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作为外挂被动加入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3296" y="4983480"/>
            <a:ext cx="3657600" cy="10972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3296" y="4983480"/>
            <a:ext cx="73152" cy="109728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50749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协同弱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5486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与流程存在剥离感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智能体正在改变商业模式基础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SaaS 板块暴跌 18.3% · 仅 11% 企业成功投产 · 五大运营 KPI 跃升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▼ 18.3%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美国 SaaS 板块暴跌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“SaaSApocalypse” 现象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7452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企业成功将智能体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投入生产运营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87452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人机协作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流程重构演进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从「人执」到「机执」协作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五大运营 KPI 提升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21945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+156%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系统调用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Agent 自主调用激增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34340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4343400"/>
            <a:ext cx="21945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526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+75%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257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623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流程自动化显著提速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434340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4343400"/>
            <a:ext cx="21945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526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257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人效倍增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623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明略科技实证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34340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4343400"/>
            <a:ext cx="21945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526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257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决策质量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623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数据驱动动态决策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34340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0" y="4343400"/>
            <a:ext cx="21945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0" y="45262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52578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成本下降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623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中信泰富流程周期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智能体工厂三级演进：自动 → 数字 → AI 原生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从 60% 提升至 95% · 美的 6 秒下线一台空调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74520"/>
            <a:ext cx="3657600" cy="45720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L1 · 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机械执行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按预设规则执行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64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人工监督为主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484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484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异常需人工干预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3250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325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≈ 60%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8745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0248" y="1874520"/>
            <a:ext cx="3657600" cy="45720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9476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L2 · 数字化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423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数据辅助决策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880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880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数据采集 + 看板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26440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264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经验决策为主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6484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6484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预警但仍人工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03250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40325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≈ 80%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18745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3296" y="1874520"/>
            <a:ext cx="3657600" cy="45720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19476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L3 · AI 原生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423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系统自主决策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2880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2880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智能体自主判断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326440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32644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实时动态优化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6484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36484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自闭环干预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403250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40325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≈ 95%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069080" y="324612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7882127" y="3246120"/>
            <a:ext cx="274321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7200" y="5166360"/>
            <a:ext cx="11247120" cy="109728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标杆案例 · 美的智能体工厂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秒下线一台空调 · 交期缩短 39% · 库存下降 30% · 损耗下降 90%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· KDD 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能力金字塔：知识 → 数据 → 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原生底层根基 · 三层递进 · 不可跳跃原则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Trapezoid 10"/>
          <p:cNvSpPr/>
          <p:nvPr/>
        </p:nvSpPr>
        <p:spPr>
          <a:xfrm>
            <a:off x="4952847" y="2331720"/>
            <a:ext cx="2286000" cy="822960"/>
          </a:xfrm>
          <a:prstGeom prst="trapezoid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2847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决策层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847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自主判断、执行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495647" y="3246120"/>
            <a:ext cx="3200400" cy="822960"/>
          </a:xfrm>
          <a:prstGeom prst="trapezoid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3291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数据层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647" y="3657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打通全链路数据</a:t>
            </a:r>
          </a:p>
        </p:txBody>
      </p:sp>
      <p:sp>
        <p:nvSpPr>
          <p:cNvPr id="17" name="Trapezoid 16"/>
          <p:cNvSpPr/>
          <p:nvPr/>
        </p:nvSpPr>
        <p:spPr>
          <a:xfrm>
            <a:off x="4038447" y="4160520"/>
            <a:ext cx="4114800" cy="822960"/>
          </a:xfrm>
          <a:prstGeom prst="trapezoid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8447" y="42062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知识层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8447" y="45720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沉淀业务规则、SOP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331720"/>
            <a:ext cx="3474720" cy="8686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331720"/>
            <a:ext cx="73152" cy="8686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 知识层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974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沉淀业务规则、SOP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流程数字化 · 经验标准化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291840"/>
            <a:ext cx="3474720" cy="8686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73152" cy="86868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383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数据层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57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打通全链路数据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实时采集 · 治理统一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251960"/>
            <a:ext cx="3474720" cy="8686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251960"/>
            <a:ext cx="73152" cy="86868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343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决策层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自主判断、执行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智能体部署 · 闭环反馈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212080"/>
            <a:ext cx="3474720" cy="8686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5212080"/>
            <a:ext cx="73152" cy="8686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 不可跳跃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必须按 K → D → D 顺序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不可跨层、不可省略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32120"/>
            <a:ext cx="73152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应用案例：美的（数据层）+ 中信泰富特钢（决策层）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转型自检：知识数字化率 / 数据在线率 / 决策智能化率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· KDD 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 AI 转型三步法：松土 → 打样 → 铺开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全业务场景 AI Agent 覆盖 · 端到端主价值流 · 可复制落地公式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74520"/>
            <a:ext cx="347472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· 松土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认知对齐 + 组织就绪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管理层认知统一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成立 AI 转型小组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梳理核心流程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数据基础盘点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87452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0248" y="1874520"/>
            <a:ext cx="347472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965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· 打样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2860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单点场景验证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7889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7889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选择高价值场景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2004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200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PoC 快速验证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6118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611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量化效果指标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023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沉淀方法论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187452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3296" y="1874520"/>
            <a:ext cx="347472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1965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· 铺开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2860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规模化复制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27889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27889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横向复制场景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32004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3200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标准化 AI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6118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3611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建立运营机制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4023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持续迭代优化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50208" y="370332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7763256" y="370332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7200" y="5806440"/>
            <a:ext cx="11247120" cy="82296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897879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AI 落地可复制公式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高价值场景 × 数据就绪度 × 组织变革力  =  AI Agent 规模化复制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美的智能体工厂全流程闭环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南沙工厂 TPM/DMS/LOSS/模具矩阵 · 六步闭环 · 芜湖验证交付 -39%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74520"/>
            <a:ext cx="2697480" cy="36576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TPM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设备管理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TPM</a:t>
            </a:r>
          </a:p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设备状态实时监控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7452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1874520"/>
            <a:ext cx="2697480" cy="36576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9202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51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DMS</a:t>
            </a:r>
          </a:p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9260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全链路数据治理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87452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1874520"/>
            <a:ext cx="2697480" cy="36576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9202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损耗管理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51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LOSS</a:t>
            </a:r>
          </a:p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9260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损耗下降 90%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87452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1874520"/>
            <a:ext cx="2697480" cy="36576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192024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651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</a:t>
            </a:r>
          </a:p>
          <a:p>
            <a:pPr algn="ctr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9260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模具寿命预测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六步闭环控制塔流程（感知 → 决策 → 执行 → 回流）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77640"/>
            <a:ext cx="1691640" cy="64008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14223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① 感知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167128" y="4251960"/>
            <a:ext cx="146304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31720" y="3977640"/>
            <a:ext cx="1691640" cy="64008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414223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② 决策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041648" y="4251960"/>
            <a:ext cx="146304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06240" y="3977640"/>
            <a:ext cx="1691640" cy="64008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414223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③ 执行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16168" y="4251960"/>
            <a:ext cx="146304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80759" y="3977640"/>
            <a:ext cx="1691640" cy="64008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59" y="414223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④ 反馈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790687" y="4251960"/>
            <a:ext cx="146304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55279" y="3977640"/>
            <a:ext cx="1691640" cy="64008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414223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⑤ 优化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665207" y="4251960"/>
            <a:ext cx="146304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29800" y="3977640"/>
            <a:ext cx="1691640" cy="64008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414223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⑥ 回流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核心 KPI 成果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34924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34924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57784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-90%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损耗下降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766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南沙 LOSS Agent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534924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534924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0" y="557784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0" y="64008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下线节拍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6766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一台空调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534924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80" y="534924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557784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64008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交付周期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6766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芜湖验证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534924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61120" y="534924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20" y="557784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64008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库存下降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6766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芜湖验证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广域铭岛 AI 原生工厂四层架构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 / 平台 / 应用 / 决策 · 吉利张家口 +15% 效率 · 领克成都 -15% 交付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5029200" cy="77724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决策中枢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全局调度优化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5029200" cy="77724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应用层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工业 App 矩阵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场景化 AI 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5029200" cy="777240"/>
          </a:xfrm>
          <a:prstGeom prst="round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平台层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IoT + 数据湖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模型工厂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5029200" cy="77724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5G + 工业互联网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边缘计算节点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874520"/>
            <a:ext cx="5760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874520"/>
            <a:ext cx="57607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吉利 · 张家口工厂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效率提升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517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年节约 ¥1400 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246120"/>
            <a:ext cx="5760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3246120"/>
            <a:ext cx="57607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383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领克 · 成都工厂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749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交付周期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023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运营成本显著优化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57800"/>
            <a:ext cx="11247120" cy="128016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四层架构核心逻辑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地基层（连接）→ 平台层（汇聚）→ 应用层（赋能）→ 决策层（自主）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从设备连接到全局智能，每一层都是上一层的基础，缺一不可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明略科技 20 倍人效实证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 天全链路 Agentic AI 改造 · 90% 自动化率 · 三大核心洞察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全链路改造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Agentic AI 端到端重塑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7452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流程自动化率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覆盖核心业务节点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87452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874520"/>
            <a:ext cx="36576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210312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产出人效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 vs AI 模式对比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传统模式 vs AI 模式（成本结构对比）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43434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56032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传统模式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AI 模式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变化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人力成本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高（多岗协作）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低（Agent 接管）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↓ 显著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响应速度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按天/周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实时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↑ 10×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错误率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5-10%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&lt; 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↓ 80%+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可扩展性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线性（招人）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指数（部署）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↑ 20×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稳定性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波动大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持续稳定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↑ 显著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中信泰富特钢双域融合：管理域 + 制造域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 年 4 月业内首家 · 流程周期 -30% · OEE +12%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11247120" cy="64008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2026 年 4 月 · 业内首家企业管理智能体（重工业 AI 原生验证）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3657600" cy="5029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管理域智能体矩阵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行政事务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合同审核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1304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130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报告生成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9709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970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跨部门知识共享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8114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81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业务流程合规率 &gt; 95%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69748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0248" y="2697480"/>
            <a:ext cx="3657600" cy="50292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2743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 &amp; 平台底座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3017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中枢桥梁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4290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流程主数据系统（统一编码）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81304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8130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流程管理平台（建模/监控）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19709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41970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高质量向量数据库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58114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4581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结构化系统标准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269748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83296" y="2697480"/>
            <a:ext cx="3657600" cy="502920"/>
          </a:xfrm>
          <a:prstGeom prst="round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3296" y="2743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制造域工业智能体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3017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工厂现场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34290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冶金模型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81304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38130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视觉算法（98%+ 准确率）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419709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41970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动态配料优化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458114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4581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预测性维护（92% 健康指标）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6 项核心价值成效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80760"/>
            <a:ext cx="1828800" cy="100584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6080760"/>
            <a:ext cx="1828800" cy="4572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675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流程周期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40864" y="6080760"/>
            <a:ext cx="1828800" cy="100584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40864" y="6080760"/>
            <a:ext cx="1828800" cy="4572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40864" y="6217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95%+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40864" y="6675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一次通过率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24528" y="6080760"/>
            <a:ext cx="1828800" cy="100584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24528" y="6080760"/>
            <a:ext cx="1828800" cy="4572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8" y="6217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+12%+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6675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6080760"/>
            <a:ext cx="1828800" cy="100584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08192" y="6080760"/>
            <a:ext cx="1828800" cy="4572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6217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+10%+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8192" y="6675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质量一次合格率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91856" y="6080760"/>
            <a:ext cx="1828800" cy="100584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91856" y="6080760"/>
            <a:ext cx="1828800" cy="4572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91856" y="6217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-8%+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91856" y="6675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运营成本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5520" y="6080760"/>
            <a:ext cx="1828800" cy="100584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0" y="6080760"/>
            <a:ext cx="1828800" cy="4572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75520" y="6217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-6%+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6675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碳排放强度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 · X 光机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流程智能是 AI 原生运营的「X 光机」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Celonis 引领 · 实际路径 vs 标准路径对比 · 4 大核心能力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实际路径 vs 标准路径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2316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订单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063240"/>
            <a:ext cx="640080" cy="36576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订单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242316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4688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采购</a:t>
            </a:r>
          </a:p>
        </p:txBody>
      </p:sp>
      <p:sp>
        <p:nvSpPr>
          <p:cNvPr id="19" name="Oval 18"/>
          <p:cNvSpPr/>
          <p:nvPr/>
        </p:nvSpPr>
        <p:spPr>
          <a:xfrm>
            <a:off x="1828800" y="3063240"/>
            <a:ext cx="640080" cy="36576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108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采购</a:t>
            </a:r>
          </a:p>
        </p:txBody>
      </p:sp>
      <p:sp>
        <p:nvSpPr>
          <p:cNvPr id="21" name="Oval 20"/>
          <p:cNvSpPr/>
          <p:nvPr/>
        </p:nvSpPr>
        <p:spPr>
          <a:xfrm>
            <a:off x="2651760" y="242316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4688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生产</a:t>
            </a:r>
          </a:p>
        </p:txBody>
      </p:sp>
      <p:sp>
        <p:nvSpPr>
          <p:cNvPr id="23" name="Oval 22"/>
          <p:cNvSpPr/>
          <p:nvPr/>
        </p:nvSpPr>
        <p:spPr>
          <a:xfrm>
            <a:off x="2468880" y="3063240"/>
            <a:ext cx="640080" cy="36576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108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生产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242316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4688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</a:t>
            </a:r>
          </a:p>
        </p:txBody>
      </p:sp>
      <p:sp>
        <p:nvSpPr>
          <p:cNvPr id="27" name="Oval 26"/>
          <p:cNvSpPr/>
          <p:nvPr/>
        </p:nvSpPr>
        <p:spPr>
          <a:xfrm>
            <a:off x="3931920" y="3063240"/>
            <a:ext cx="640080" cy="36576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3108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242316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4688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售后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3063240"/>
            <a:ext cx="640080" cy="36576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108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售后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566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虚线：标准路径 · 实线：实际路径 · 偏差即为改进机会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18745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45352" y="1874520"/>
            <a:ext cx="54864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市场地位（2026 Gartner 流程智能魔力象限）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Celonis  ·  Leaders 象限首位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97180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对象中心数字孪生 ·  为 AI Agent 提供「运营上下文」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代表案例：雷诺集团（数据标准化）·  Florida Crystals（LLM 需要运营上下文）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4 大核心能力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00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80060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2920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521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流程可视化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17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端到端运营轨迹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4800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91840" y="480060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502920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8521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偏差分析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6217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实际 vs 标准识别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800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480060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502920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8521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瓶颈预测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6217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未来 7 天预测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4800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61120" y="4800600"/>
            <a:ext cx="269748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5029200"/>
            <a:ext cx="2697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+35%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8521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闭环反馈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6217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模型迭代提速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 · X 光机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流程智能四大底座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可视化 / 偏差分析 / 瓶颈预测 / 闭环反馈 · 三大核心模块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5661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流程可视化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 AI 看见端到端轨迹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O2C / P2P 流程图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实际 vs 标准路径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33172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2331720"/>
            <a:ext cx="35661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468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偏差分析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834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自动触发改进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00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超时 / 跳步 / 异常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自动识别偏差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886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356616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瓶颈预测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资源动态调整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天拥堵预测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人机资源调度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461772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0" y="4617720"/>
            <a:ext cx="35661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754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闭环反馈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20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持续迭代优化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486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数据回流 AI 模型</a:t>
            </a:r>
          </a:p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持续训练优化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6172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+35%</a:t>
            </a:r>
          </a:p>
        </p:txBody>
      </p:sp>
      <p:sp>
        <p:nvSpPr>
          <p:cNvPr id="35" name="Oval 34"/>
          <p:cNvSpPr/>
          <p:nvPr/>
        </p:nvSpPr>
        <p:spPr>
          <a:xfrm>
            <a:off x="3337560" y="3977639"/>
            <a:ext cx="1920240" cy="128016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4251959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617719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 AI 理解流程如何运行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7086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三大核心模块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7543800"/>
            <a:ext cx="3657600" cy="73152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7635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流程挖掘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795527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发现真实路径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7543800"/>
            <a:ext cx="3657600" cy="73152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7635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任务挖掘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795527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员工行为记录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3296" y="7543800"/>
            <a:ext cx="3657600" cy="73152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6176" y="7635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流程建模与监控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795527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实时跟踪异常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 ·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原生流程转型四条主线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主流程提效 / 岗位赋能 / 例外管理 / 持续优化 · 2026-2028 转型路径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主流程提效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从「人驱动」到「智能驱动」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已对部分流程彻底重构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331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331720"/>
            <a:ext cx="548640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34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关键岗位赋能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246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每个员工拥有「AI 副驾驶」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794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企业正在增加 AI 投资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17720"/>
            <a:ext cx="548640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例外管理自动化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从「预警」到「干预」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20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80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协调损失下降（美的案例）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4617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4617720"/>
            <a:ext cx="548640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4754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120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持续运营优化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5532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构建流程自学习闭环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5120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6080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2027 年 AI Agent 辅助知识工作</a:t>
            </a:r>
          </a:p>
        </p:txBody>
      </p:sp>
      <p:sp>
        <p:nvSpPr>
          <p:cNvPr id="39" name="Oval 38"/>
          <p:cNvSpPr/>
          <p:nvPr/>
        </p:nvSpPr>
        <p:spPr>
          <a:xfrm>
            <a:off x="4956048" y="4069080"/>
            <a:ext cx="2286000" cy="109728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6048" y="4251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AI-Native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4617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Process 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7086600"/>
            <a:ext cx="1124712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7223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管理启示：① 先重构流程 ② 配置 AI 副驾驶 ③ 例外自动干预 ④ 持续训练优化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 ·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 AI 原生流程行动指南：8 步路径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建设 → 流程体检 → 试点 → 治理 → 规模化 → 闭环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286000"/>
            <a:ext cx="548640" cy="54864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317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 KDD 金字塔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知识/经验/SOP 数字化沉淀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214884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3008" y="2286000"/>
            <a:ext cx="548640" cy="54864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23317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流程智能做体检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69748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诊断偏差/瓶颈/异常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214884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2286000"/>
            <a:ext cx="548640" cy="54864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3317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选高价值+高闭环场景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269748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智能采购/质检/DMS 优先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214884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0304" y="2286000"/>
            <a:ext cx="548640" cy="54864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3317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调整组织与绩效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9748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跨部门 AI 小组 + 重构岗位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3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3931920"/>
            <a:ext cx="548640" cy="54864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977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776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设置 AI 治理官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3434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由 CEO/CTO 负责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379476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3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3008" y="3931920"/>
            <a:ext cx="548640" cy="54864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3977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8808" y="39776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人机协同责任机制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8808" y="43434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明确 AI 执行与人类决策边界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496" y="379476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3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91656" y="3931920"/>
            <a:ext cx="548640" cy="54864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3977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39776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试点成功后规模化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43434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单点 → 公司主价值流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53144" y="379476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3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90304" y="3931920"/>
            <a:ext cx="548640" cy="548640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0304" y="3977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76104" y="39776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持续迭代闭环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76104" y="43434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 → AI 学习 → 优化循环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5852160" y="3657600"/>
            <a:ext cx="0" cy="137160"/>
          </a:xfrm>
          <a:prstGeom prst="down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440680"/>
            <a:ext cx="11247120" cy="118872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10 维转型自评（1-5 分）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943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知识数字化率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39" y="5943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数据在线率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943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员工 AI 协作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5943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试点 ROI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9" y="5943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组织变革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217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治理机制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39" y="6217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场景覆盖率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6217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闭环成熟度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6217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人才培养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19" y="6217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规模化速度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6812280"/>
            <a:ext cx="11247120" cy="64008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949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管理结论：先体检 → 再试点 → 同步治理 → 最后规模化   ·   避免把 AI 直接叠加到混乱的流程上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 vs 传统自动化（8 维度对比）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从「if-then 自动化」到「运行时优化」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5486400" cy="64008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传统流程自动化 · 执行已有逻辑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74520"/>
            <a:ext cx="5486400" cy="64008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2011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 · 学习并优化流程本身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65176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303520"/>
              </a:tblGrid>
              <a:tr h="4368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传统自动化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AI 原生流程</a:t>
                      </a:r>
                    </a:p>
                  </a:txBody>
                  <a:tcPr marL="91440" marR="91440" marT="45720" marB="45720">
                    <a:solidFill>
                      <a:srgbClr val="8B2C2C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定义方式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人画流程图 / 写 SOP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从流程数据中学习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异常处理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人工审批链为主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智能体自主发现并干预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决策逻辑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if-then 规则引擎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Agent 决策中枢 · 实时优化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人机协作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人主导 / 机器执行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人监督战略 · AI 执行战术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优化周期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季度 / 年度复盘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实时持续闭环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复杂度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处理简单规则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复杂动态多变量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IT 架构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ERP / MES / WMS API 集成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流程智能 + AI 模型 + IoT + 数据湖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ROI 特征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节省人力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提升决策质量 · 创造新价值</a:t>
                      </a:r>
                    </a:p>
                  </a:txBody>
                  <a:tcPr marL="91440" marR="91440" marT="45720" marB="45720">
                    <a:solidFill>
                      <a:srgbClr val="F2EEE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6812280"/>
            <a:ext cx="1124712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903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核心金句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178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管理对象从「图纸」走向「运行时」 · 价值从「效率提升」走向「决策升级」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原生运营挑战与应对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大挑战 + 应对策略 · 治理框架缺失 8.7 / 遗留系统整合 8.5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6 大挑战（风险评分 0-10）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3182111" cy="10972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治理框架缺失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决策责任不清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44952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02152"/>
            <a:ext cx="3108960" cy="10972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36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遗留系统整合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ERP/MES 改造难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1821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58184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15384"/>
            <a:ext cx="2852928" cy="10972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496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数据架构限制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5079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数据孤岛林立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953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71416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928616"/>
            <a:ext cx="2633472" cy="10972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628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组织惯性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64024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部门壁垒难破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0857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84648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641848"/>
            <a:ext cx="2523744" cy="10972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76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人才短缺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77256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复合型 AI 人才稀缺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32180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9788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6355080"/>
            <a:ext cx="2377440" cy="10972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难量化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90488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价值难对齐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6035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1874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应对策略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2331720"/>
            <a:ext cx="54864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4231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治理缺失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423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设立 AI 治理委员会 · 制定 AI 责任清单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5352" y="3044952"/>
            <a:ext cx="54864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1363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系统整合 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13639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采用中台架构 · 渐进式 API 改造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5352" y="3758184"/>
            <a:ext cx="54864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384962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数据架构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84962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建立数据中台 · 统一主数据标准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5352" y="4471416"/>
            <a:ext cx="54864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5628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组织惯性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562856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成立跨部门 AI 小组 · 高层挂帅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5352" y="5184648"/>
            <a:ext cx="54864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2760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人才短缺 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2760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内部培养 + 外部引进 · 建设 AI 学院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45352" y="5897880"/>
            <a:ext cx="5486400" cy="64008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989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量化 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5989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 KPI 仪表盘 · 试点-验证-推广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6812280"/>
            <a:ext cx="1124712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903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闭环路径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7178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流程体检 → 高价值场景 → 治理同步 → 持续优化  ·  AI 原生是流程+数据+组织+治理的系统工程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·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2026-2028 流程管理演进路线图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 → 规模化推广 → 成熟运营 · 三阶段演进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365760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试点验证期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1-3 个高价值场景试点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完成 KDD 金字塔建设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流程智能平台部署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1874520"/>
            <a:ext cx="3657600" cy="731520"/>
          </a:xfrm>
          <a:prstGeom prst="round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286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规模化推广期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265176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复制扩张期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24612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试点场景规模化复制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50% 核心流程 AI 化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建立 AI 治理体系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874520"/>
            <a:ext cx="3657600" cy="73152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286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成熟运营期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265176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24612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80% 流程 AI 原生化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智能体自主决策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持续闭环优化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069080" y="342900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882128" y="342900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532120"/>
            <a:ext cx="11247120" cy="73152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终极目标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将业务流程改造为能被 AI 理解、调度和优化的运行时「活系统」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关键指标演进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903720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9951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场景数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1-3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371600" y="745236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10+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468880" y="745236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6903720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69951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流程覆盖率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10%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184648" y="745236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0408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50%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281928" y="745236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7688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83296" y="6903720"/>
            <a:ext cx="3657600" cy="914400"/>
          </a:xfrm>
          <a:prstGeom prst="rect">
            <a:avLst/>
          </a:prstGeom>
          <a:solidFill>
            <a:srgbClr val="F2EEE7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6" y="69951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决策自主率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6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30%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997696" y="745236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63456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60%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0094976" y="7452360"/>
            <a:ext cx="274320" cy="0"/>
          </a:xfrm>
          <a:prstGeom prst="rightArrow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0736" y="7315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85%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·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流程管理的终极形态：智能体工厂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七大支柱 · 自我运行与优化的智能体系统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1" name="Oval 10"/>
          <p:cNvSpPr/>
          <p:nvPr/>
        </p:nvSpPr>
        <p:spPr>
          <a:xfrm>
            <a:off x="5870448" y="4617720"/>
            <a:ext cx="2286000" cy="1371600"/>
          </a:xfrm>
          <a:prstGeom prst="ellipse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4846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257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5532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自我运行 · 持续优化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31720"/>
            <a:ext cx="73152" cy="9144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根本性重写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流程不是叠加，是重写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3317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233172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对象迁移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788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从「过程」到「对象」中心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05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本质差异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if-then vs 智能体中枢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1605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4160520"/>
            <a:ext cx="73152" cy="9144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251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顺序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617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→ 数据 → 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93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73152" cy="9144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80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基础设施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数据湖 + IoT + AI 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59893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0" y="598932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6080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6446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美的/中信泰富/广域铭岛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7448" y="717804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27448" y="7178040"/>
            <a:ext cx="73152" cy="9144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0328" y="72694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时间窗口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7635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2026-2028 关键三年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7818120"/>
            <a:ext cx="11247120" cy="640080"/>
          </a:xfrm>
          <a:prstGeom prst="round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7909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终极形态：流程即智能体 · 智能体即流程 · 自我感知 · 自主决策 · 自学习优化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结  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一图看全：AI 原生流程转型核心逻辑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127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元素化版 v1.4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本质跃迁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从「人定规则」到「流程自主进化」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402336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执行 → 自优化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10312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10312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底层根基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889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K-D-D 金字塔不可跳跃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20440" y="402336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2044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→ 数据 → 决策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0312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0312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889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 步行动指南 + 流程智能 X 光机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0" y="402336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体检 → 试点 → 规模化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210312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210312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78892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美的/中信泰富/明略/广域铭岛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81160" y="402336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28116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 + 价值双升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11274552" cy="14630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管理金句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「流程是骨架，AI 是血肉」  ·  流程管理对象正从「静态图纸」走向「动态运行时」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END  ·  感 谢 阅 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 AI 写进流程，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让流程自主进化。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30552" cy="0"/>
          </a:xfrm>
          <a:prstGeom prst="line">
            <a:avLst/>
          </a:prstGeom>
          <a:ln w="12700">
            <a:solidFill>
              <a:srgbClr val="E5DF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Elemental Edition v1.4  ·  18 张图全部元素化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Source: 战略流程智慧坊 · 德勤 2026 趋势解读（2026-05-31）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