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高校思想政治理论课 · 通识教育必修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毛泽东思想和中国特色社会主义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理论体系概论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教学大纲概览 · 课程结构 · 教学方法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31920"/>
            <a:ext cx="2194560" cy="10058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21945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课程代码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38912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15010017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931920"/>
            <a:ext cx="2194560" cy="10058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3931920"/>
            <a:ext cx="21945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4096512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学分/学时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38912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 学分 / 48 学时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3931920"/>
            <a:ext cx="2194560" cy="10058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3931920"/>
            <a:ext cx="21945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4096512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授课对象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38912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全校本科生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931920"/>
            <a:ext cx="2194560" cy="10058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931920"/>
            <a:ext cx="21945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4096512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开课学期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 3 或第 4 学期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3931920"/>
            <a:ext cx="2194560" cy="10058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0" y="3931920"/>
            <a:ext cx="21945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096512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438912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2023 年修订版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教育部 2023 版统编教材 · 高等教育出版社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本课程讲什么 / 不讲什么 / 学完获得什么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本课程讲什么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37160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本课程是高校思想政治理论课程中分量最重的一门，是每个大学生的必修课。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以马克思主义中国化时代化为主线，阐述中国共产党把马克思主义基本原理同中国具体实际相结合、同中华优秀传统文化相结合的历史进程。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集中讲授中国化马克思主义的理论成果。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本课程不讲什么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02336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不替代《马克思主义基本原理》的纯理论推导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不重复《思想道德与法治》的具体规范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不替代《中国近现代史纲要》的史实细节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0058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学完可以获得什么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0" y="137160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0" y="146304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系统掌握马克思主义中国化时代化的科学内涵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理解各理论成果一脉相承又与时俱进的内在关系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运用马克思主义立场观点方法分析中国现实问题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确立科学社会主义信仰和建设中国特色社会主义共同理想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增强四个自信，为实现中华民族伟大复兴而奋斗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4348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建议学习方式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0" y="480060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0" y="4937760"/>
            <a:ext cx="53949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课前：观看视频、阅读资料、预习教材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课内：课堂讲授、案例教学、专题研讨、师生对话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课后：社会调研、主题实践、完成作业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Abstract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知识 / 能力 / 素养 / 评价 四维一体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51560"/>
            <a:ext cx="27432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5156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1430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知识目标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2377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57400"/>
            <a:ext cx="23774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系统掌握马克思主义中国化时代化的科学内涵、历史进程、理论成果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掌握毛泽东思想和中国特色社会主义理论体系的基本原理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051560"/>
            <a:ext cx="27432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05156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1430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344168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能力目标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645920"/>
            <a:ext cx="2377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57400"/>
            <a:ext cx="23774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运用马克思主义立场观点方法分析中国革命、建设和改革的重大问题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对未来事物发展中可能出现的问题形成正确判断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051560"/>
            <a:ext cx="27432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105156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1430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344168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素养目标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645920"/>
            <a:ext cx="2377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LITERACY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057400"/>
            <a:ext cx="23774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坚定四个自信（道路、理论、制度、文化）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树立科学的世界观、人生观、价值观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增强历史使命感和社会责任感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1051560"/>
            <a:ext cx="27432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1051560"/>
            <a:ext cx="2743200" cy="8229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1430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344168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645920"/>
            <a:ext cx="2377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57400"/>
            <a:ext cx="2377440" cy="3749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课堂讲授 + 自主学习 + 视频学习（知识）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小组研讨 + 案例分析 + 社会实践（能力）</a:t>
            </a:r>
          </a:p>
          <a:p>
            <a:pPr algn="l">
              <a:lnSpc>
                <a:spcPct val="16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+ 主题实践 + 考核反馈（素养）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Objectives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课程结构总览：3 部分 · 9 专题 · 48 学时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教材 2023 版统编教材 · ISBN 9787040610536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51560"/>
            <a:ext cx="36576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51560"/>
            <a:ext cx="3657600" cy="11887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专题一（2 学时）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1371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490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29768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43484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理解马克思主义中国化时代化的科学内涵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把握理论成果一脉相承又与时俱进的内在关系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明确学习本课程的方法和要求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1051560"/>
            <a:ext cx="36576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051560"/>
            <a:ext cx="3657600" cy="11887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1887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417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8288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专题二—五（15 学时）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42316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第一次历史性飞跃：毛泽东思想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520440"/>
            <a:ext cx="1371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7490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80560" y="429768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80560" y="443484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专题二：毛泽东思想及其历史地位（4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专题三：新民主主义革命理论（4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专题四：社会主义改造理论（4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专题五：社会主义建设道路初步探索（3 学时）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1051560"/>
            <a:ext cx="3657600" cy="4937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1051560"/>
            <a:ext cx="3657600" cy="11887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1887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417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8288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 + 习近平新时代（25 学时）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23160"/>
            <a:ext cx="3200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新的飞跃：中国特色社会主义理论体系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520440"/>
            <a:ext cx="1371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37490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21040" y="4297680"/>
            <a:ext cx="3200400" cy="0"/>
          </a:xfrm>
          <a:prstGeom prst="line">
            <a:avLst/>
          </a:prstGeom>
          <a:ln w="9525">
            <a:solidFill>
              <a:srgbClr val="D4C9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21040" y="443484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专题六—九：邓三科（10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第十章：习近平新时代中国特色社会主义思想（6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第十一—十六章：五位一体 + 现代化（14 学时）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复习考核 + 实践教学（6 学时）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Overview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04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教学方法与学时分配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三段式教学环节 · 48 学时 = 理论 42 + 实践 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三段式教学环节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3703320" cy="1828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370332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PRE-CLASS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观看视频 · 阅读资料 · 预习教材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718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知识目标 + 素养目标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508760"/>
            <a:ext cx="3703320" cy="1828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508760"/>
            <a:ext cx="370332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16276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01168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IN-CLASS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23317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课堂讲授 · 案例教学 · 专题研讨 · 师生对话 · 翻转课堂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9718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知识 + 能力 + 素养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4" y="1508760"/>
            <a:ext cx="3703320" cy="1828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4" y="1508760"/>
            <a:ext cx="370332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16276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201168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POST-CLASS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23317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社会调研 · 视频学习 · 主题实践 · 作业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29718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能力目标 + 素养目标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05656" y="224028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224028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学时分配表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69080"/>
            <a:ext cx="11274552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板块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1605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160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1274552" cy="4114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57200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第一部分：马克思主义中国化时代化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572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45720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892040"/>
            <a:ext cx="11274552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98348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第二部分：毛泽东思想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9834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专题二—五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98348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03520"/>
            <a:ext cx="11274552" cy="4114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39496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第三部分：中国特色社会主义理论体系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949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专题六—十六章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539496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715000"/>
            <a:ext cx="11274552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80644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复习与考核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5806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总复习 + 期末考试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580644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126480"/>
            <a:ext cx="11274552" cy="4114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21792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实践教学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62179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社会调研 + 大学生讲思政课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2179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537960"/>
            <a:ext cx="11274552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629400"/>
            <a:ext cx="9601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合计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6294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48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序章 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05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本部分学时：2 学时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06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2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087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马克思主义中国化时代化的历史进程与理论成果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学时安排：2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41605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297680"/>
            <a:ext cx="50292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51560"/>
            <a:ext cx="5394960" cy="5349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3949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什么是马克思主义中国化时代化？为何要提「两个结合」？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马克思主义中国化时代化的科学内涵是什么？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中国化马克思主义有哪些理论成果？它们是什么关系？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为什么说要把握「一脉相承又与时俱进」？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学习本课程的科学方法是什么？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 · 2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马克思主义中国化时代化的提出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1938 年毛泽东在六届六中全会提出「马克思主义中国化」。2017 年党的十九大、2021 年十九届六中全会提出「马克思主义中国化时代化」。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科学内涵（两个结合）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马克思主义基本原理同中国具体实际相结合；马克思主义基本原理同中华优秀传统文化相结合。核心要义：实事求是、与时俱进。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理论成果及其关系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第一次飞跃：毛泽东思想。第二次飞跃：中国特色社会主义理论体系。关系：一脉相承又与时俱进。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08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重难点与教法 · 2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了解：马克思主义中国化时代化的历史进程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掌握：科学内涵和必要性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准确把握：理论成果「一脉相承又与时俱进」的内在关系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自觉提升：运用马克思主义立场观点方法分析问题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48640" y="402336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73152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马克思主义中国化时代化的必要性；科学内涵；理论成果及其关系。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中国为什么选择马克思主义；马克思主义中国化时代化的必要性如何讲清。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155448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启发式教学贯穿全程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案例式教学：建党、遵义会议、改革开放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对比法：马克思主义在中国 vs 苏联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时间轴展示：6 次理论飞跃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讲课提示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9377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5074920"/>
            <a:ext cx="539496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提问：为什么马克思主义必须中国化？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小组讨论：理论成果「一脉相承」体现在哪里？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09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· 2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课堂讨论题（小组）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1645920"/>
            <a:ext cx="548640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73152" cy="2286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提问：为什么马克思主义必须中国化？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小组讨论：理论成果「一脉相承」体现在哪里？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建议时间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2628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521208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小组讨论：5-7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代表发言：每组 2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教师总结：3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学习任务（个人）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0" y="1645920"/>
            <a:ext cx="539496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45920"/>
            <a:ext cx="73152" cy="22860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用 100-150 字，写下你对这个专题最重要的 1 个观点，并给出 1 个生活/历史中的例子支撑。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0" y="4663440"/>
            <a:ext cx="539496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00600"/>
            <a:ext cx="512064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观点准确：30%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逻辑清楚：30%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例子贴切：25%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语言流畅：15%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10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1：马克思主义中国化时代化的历史进程与理论成果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本专题小结 · 2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本专题核心要点回顾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最核心的 3 个概念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马克思主义中国化时代化的提出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科学内涵（两个结合）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理论成果及其关系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启发式教学贯穿全程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案例式教学：建党、遵义会议、改革开放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理论脱离实际 / 死记硬背 / 流于空话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进入下一个专题 · 复习重点：马克思主义中国化时代化的提出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第一次历史性飞跃：毛泽东思想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本部分学时：15 学时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12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087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毛泽东思想及其历史地位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41605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297680"/>
            <a:ext cx="50292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51560"/>
            <a:ext cx="5394960" cy="5349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3949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毛泽东思想形成发展的历史条件、过程是什么？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毛泽东思想「活的灵魂」是什么？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如何科学认识毛泽东和毛泽东思想的历史地位？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怎样区分毛泽东晚年错误和毛泽东思想科学体系？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形成发展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时间：1921—1976 年。过程：萌芽 → 形成 → 成熟 → 继续发展。代表著作：《矛盾论》《实践论》《新民主主义论》。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主要内容（六个方面）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新民主主义革命；社会主义革命和建设；革命军队建设、军事战略和国防建设；政策和策略；思想政治工作和文化工作；党的建设。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活的灵魂（三个基本方面）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实事求是；群众路线；独立自主。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14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重难点与教法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掌握：形成发展条件、主要内容、活的灵魂及内涵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熟悉：毛泽东思想是第一个理论成果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了解：毛泽东杰出贡献与晚年错误的关系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48640" y="402336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73152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主要内容；活的灵魂；科学认识历史地位。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区别毛泽东晚年错误和毛泽东思想；科学评价。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155448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讨论式教学：分组辩论「功与过」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案例式：遵义会议、延安整风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史料教学：原始文献 + 后人研究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混合式：线上史料阅读 + 线下研讨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讲课提示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9377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5074920"/>
            <a:ext cx="539496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辩论：毛泽东思想是否仍然具有当代价值？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小组研读：《实践论》《矛盾论》核心段落。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课堂讨论题（小组）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1645920"/>
            <a:ext cx="548640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73152" cy="2286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辩论：毛泽东思想是否仍然具有当代价值？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小组研读：《实践论》《矛盾论》核心段落。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建议时间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2628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521208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小组讨论：5-7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代表发言：每组 2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教师总结：3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学习任务（个人）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0" y="1645920"/>
            <a:ext cx="539496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45920"/>
            <a:ext cx="73152" cy="22860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用 100-150 字，写下你对这个专题最重要的 1 个观点，并给出 1 个生活/历史中的例子支撑。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0" y="4663440"/>
            <a:ext cx="539496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00600"/>
            <a:ext cx="512064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观点准确：30%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逻辑清楚：30%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例子贴切：25%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语言流畅：15%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16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2：毛泽东思想及其历史地位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本专题小结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本专题核心要点回顾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最核心的 3 个概念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形成发展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主要内容（六个方面）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活的灵魂（三个基本方面）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讨论式教学：分组辩论「功与过」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案例式：遵义会议、延安整风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理论脱离实际 / 死记硬背 / 流于空话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进入下一个专题 · 复习重点：形成发展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087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新民主主义革命理论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41605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297680"/>
            <a:ext cx="50292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51560"/>
            <a:ext cx="5394960" cy="5349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3949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近代中国基本国情是什么？革命任务是什么？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新民主主义革命总路线和基本纲领是什么？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什么是农村包围城市、武装夺取政权道路？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新民主主义革命的三大法宝是什么？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18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近代基本国情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半殖民地半封建社会。主要矛盾：帝国主义和中华民族、封建主义和人民大众。革命任务：反帝反封建反官僚资本主义。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总路线与基本纲领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总路线：无产阶级领导的，人民大众的，反帝反封建反官僚资本主义的革命。基本纲领：政治 + 经济 + 文化三方面。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革命道路与三大法宝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道路：农村包围城市、武装夺取政权。三大法宝：统一战线、武装斗争、党的建设。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19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重难点与教法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掌握：基本国情；总路线；革命道路；三大法宝；性质和前途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熟悉：近代中国革命的时代特征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了解：主要阶级；革命特殊性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48640" y="402336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73152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基本国情；革命任务；革命道路。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新民主主义革命的性质；半殖民地半封建社会革命的特殊性。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155448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启发式：历史 → 现实的问题导入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互动式：角色扮演（工人、农民、民族资产阶级）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案例式：井冈山、长征、抗日民族统一战线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比较法：新民主主义 vs 旧民主主义革命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讲课提示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9377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5074920"/>
            <a:ext cx="539496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讨论：为什么必须走农村包围城市道路？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案例分析：抗日民族统一战线形成的背景与意义。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20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课堂讨论题（小组）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1645920"/>
            <a:ext cx="548640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73152" cy="2286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讨论：为什么必须走农村包围城市道路？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案例分析：抗日民族统一战线形成的背景与意义。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建议时间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2628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521208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小组讨论：5-7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代表发言：每组 2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教师总结：3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学习任务（个人）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0" y="1645920"/>
            <a:ext cx="539496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45920"/>
            <a:ext cx="73152" cy="22860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用 100-150 字，写下你对这个专题最重要的 1 个观点，并给出 1 个生活/历史中的例子支撑。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0" y="4663440"/>
            <a:ext cx="539496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00600"/>
            <a:ext cx="512064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观点准确：30%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逻辑清楚：30%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例子贴切：25%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语言流畅：15%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3：新民主主义革命理论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本专题小结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本专题核心要点回顾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最核心的 3 个概念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近代基本国情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总路线与基本纲领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革命道路与三大法宝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启发式：历史 → 现实的问题导入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互动式：角色扮演（工人、农民、民族资产阶级）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理论脱离实际 / 死记硬背 / 流于空话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进入下一个专题 · 复习重点：近代基本国情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22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087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社会主义改造理论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学时安排：4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41605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297680"/>
            <a:ext cx="50292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51560"/>
            <a:ext cx="5394960" cy="5349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3949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新民主主义社会的性质和特征是什么？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为什么必须从新民主主义向社会主义过渡？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过渡时期总路线的内容和理论依据是什么？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三大改造如何进行？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社会主义改造有哪些历史经验和教训？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23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新民主主义社会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性质：过渡性社会，五种经济成分并存。主要矛盾：工人阶级和资产阶级的矛盾。任务：为向社会主义过渡准备条件。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过渡时期总路线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内容：在一个相当长的时期内，逐步实现国家的社会主义工业化，并逐步实现国家对农业、对手工业和对资本主义工商业的社会主义改造。简称「一化三改」。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三大改造的实践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农业：互助组 → 初级社 → 高级社。手工业：类似农业。资本主义工商业：和平赎买、阶梯式过渡。核心经验：工业化建设与改造同时并举。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24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重难点与教法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掌握：过渡的历史必然性；总路线；改造的历史经验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熟悉：新民主主义社会性质；总路线理论依据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了解：改造教训；社会主义基本制度确立的意义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48640" y="402336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73152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过渡的历史必然性；过渡时期总路线；改造的历史经验。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过渡的历史必然性；只有社会主义能够救中国。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155448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启发式：个体经营 vs 集体化效率讨论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翻转课堂：学生讲解「和平赎买」过程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案例式：荣毅仁家族、上海申新纺织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数据对比：改造前后工业产值、所有制结构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讲课提示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9377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5074920"/>
            <a:ext cx="539496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讨论：为什么中国选择「和平赎买」而非苏联式没收？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数据解读：1952 vs 1956 国民经济结构变化。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25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课堂讨论题（小组）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1645920"/>
            <a:ext cx="548640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73152" cy="2286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讨论：为什么中国选择「和平赎买」而非苏联式没收？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数据解读：1952 vs 1956 国民经济结构变化。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建议时间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2628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521208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小组讨论：5-7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代表发言：每组 2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教师总结：3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学习任务（个人）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0" y="1645920"/>
            <a:ext cx="539496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45920"/>
            <a:ext cx="73152" cy="22860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用 100-150 字，写下你对这个专题最重要的 1 个观点，并给出 1 个生活/历史中的例子支撑。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0" y="4663440"/>
            <a:ext cx="539496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00600"/>
            <a:ext cx="512064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观点准确：30%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逻辑清楚：30%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例子贴切：25%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语言流畅：15%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4：社会主义改造理论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本专题小结 · 4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本专题核心要点回顾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最核心的 3 个概念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新民主主义社会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过渡时期总路线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三大改造的实践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启发式：个体经营 vs 集体化效率讨论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翻转课堂：学生讲解「和平赎买」过程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理论脱离实际 / 死记硬背 / 流于空话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进入下一个专题 · 复习重点：新民主主义社会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27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3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本专题在课程中的位置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087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社会主义建设道路初步探索的理论成果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学时安排：3 学时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教学功能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4160520"/>
            <a:ext cx="50292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297680"/>
            <a:ext cx="50292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课程导入：建立学习动机与历史定位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背景铺垫：理论成果的时代背景与现实意义</a:t>
            </a:r>
          </a:p>
          <a:p>
            <a:pPr algn="l">
              <a:lnSpc>
                <a:spcPct val="165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学习目标：明确本专题要解决的核心问题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051560"/>
            <a:ext cx="5394960" cy="5349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39496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本专题要回答的核心问题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为什么必须探索中国自己的社会主义建设道路？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如何调动一切积极因素为社会主义事业服务？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社会主义社会矛盾如何正确认识和处理？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走中国工业化道路的核心思想是什么？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28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 · 3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核心知识点结构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探索的背景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以苏联经验教训为鉴。苏联模式弊端：优先发展重工业、忽视轻工业和农业。中央提出：不能像苏联那样走弯路。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正确处理人民内部矛盾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两类矛盾学说：敌我矛盾（对抗性）+ 人民内部矛盾（非对抗性）。处理方针：团结—批评—团结。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1600200"/>
            <a:ext cx="3703320" cy="46634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1600200"/>
            <a:ext cx="370332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1764792"/>
            <a:ext cx="548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1828800"/>
            <a:ext cx="2697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走中国工业化道路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514600"/>
            <a:ext cx="324612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重工业、轻工业和农业协调发展。四个现代化目标：工业、农业、国防、科学技术现代化。「两步走」战略设想。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重难点与教法 · 3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教学基本要求（3 层次）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掌握：调动一切积极因素方针；正确处理人民内部矛盾；中国工业化道路思想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熟悉：「十大关系」中的协调发展思想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了解：探索的其他理论成果；经验教训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重点与难点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88620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48640" y="402336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73152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正确处理社会主义社会矛盾；走中国工业化道路。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5669280" cy="9144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73152" cy="9144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难点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394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探索的经验教训；成就与曲折的关系。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教学方法与课堂节奏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1554480"/>
            <a:ext cx="5394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启发式：从「为什么苏联会解体」引出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翻转课堂：学生汇报「十大关系」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史料教学：毛泽东《论十大关系》原文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反思式：成就与曲折并存的辩证思维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72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讲课提示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49377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5074920"/>
            <a:ext cx="539496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研讨：如何理解「成就与曲折并存」？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3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案例分析：1959—1961 三年困难时期的教训。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30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课堂互动 · 3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课堂讨论题（小组）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1645920"/>
            <a:ext cx="548640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73152" cy="2286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研讨：如何理解「成就与曲折并存」？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题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案例分析：1959—1961 三年困难时期的教训。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建议时间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2628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521208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小组讨论：5-7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代表发言：每组 2 分钟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教师总结：3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学习任务（个人）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0" y="1645920"/>
            <a:ext cx="5394960" cy="2286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645920"/>
            <a:ext cx="73152" cy="2286000"/>
          </a:xfrm>
          <a:prstGeom prst="rect">
            <a:avLst/>
          </a:prstGeom>
          <a:solidFill>
            <a:srgbClr val="C73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用 100-150 字，写下你对这个专题最重要的 1 个观点，并给出 1 个生活/历史中的例子支撑。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评价标准（Rubric）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0" y="4663440"/>
            <a:ext cx="5394960" cy="1737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00600"/>
            <a:ext cx="512064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观点准确：30%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逻辑清楚：30%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例子贴切：25%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语言流畅：15%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31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 5：社会主义建设道路初步探索的理论成果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本专题小结 · 3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本专题核心要点回顾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最核心的 3 个概念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探索的背景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正确处理人民内部矛盾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走中国工业化道路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启发式：从「为什么苏联会解体」引出</a:t>
            </a:r>
          </a:p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翻转课堂：学生汇报「十大关系」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4" y="1691640"/>
            <a:ext cx="3703320" cy="40233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4" y="1691640"/>
            <a:ext cx="37033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856232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333756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理论脱离实际 / 死记硬背 / 流于空话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→ 进入下一个专题 · 复习重点：探索的背景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第二部分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32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新的飞跃：中国特色社会主义理论体系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本部分学时：21 学时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专题六—九：中国特色社会主义理论体系全景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邓小平理论 + 三个代表 + 科学发展观 · 10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四大理论成果逻辑关系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691640"/>
            <a:ext cx="11247120" cy="4572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▎邓小平理论（1982—1997）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回答「什么是社会主义、怎样建设社会主义」。奠基之作：社会主义本质论 + 社会主义初级阶段论 + 社会主义市场经济。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▎「三个代表」重要思想（2000—2002）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回答「建设什么样的党、怎样建设党」。核心：代表先进生产力、先进文化、最广大人民根本利益。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▎科学发展观（2003—2012）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回答「实现什么样的发展、怎样发展」。第一要义：发展。核心：以人为本。基本要求：全面协调可持续。根本方法：统筹兼顾。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▎习近平新时代中国特色社会主义思想（2012— 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回答「新时代坚持和发展什么样的中国特色社会主义」。十个明确 + 十四个坚持。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第三部分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34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第十章：习近平新时代中国特色社会主义思想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导入页 · 本课程核心章节 · 6 学时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本章地位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6304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60020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C73E1D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本章是本课程的核心章节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5486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习近平新时代中国特色社会主义思想是当代中国马克思主义、二十一世纪马克思主义，是中华文化和中国精神的时代精华，实现了马克思主义中国化时代化新的飞跃。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本章学习目标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5257800"/>
            <a:ext cx="548640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5394960"/>
            <a:ext cx="5486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理解其历史地位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掌握「十个明确」核心要义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掌握「十四个坚持」基本方略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历史地位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146304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0" y="1600200"/>
            <a:ext cx="53949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马克思主义中国化时代化的最新理论成果</a:t>
            </a:r>
          </a:p>
          <a:p>
            <a:pPr algn="l">
              <a:lnSpc>
                <a:spcPct val="18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新时代党和国家的行动指南</a:t>
            </a:r>
          </a:p>
          <a:p>
            <a:pPr algn="l">
              <a:lnSpc>
                <a:spcPct val="18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21 世纪马克思主义、当代中国马克思主义</a:t>
            </a:r>
          </a:p>
          <a:p>
            <a:pPr algn="l">
              <a:lnSpc>
                <a:spcPct val="18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中华文化和中国精神的时代精华</a:t>
            </a:r>
          </a:p>
          <a:p>
            <a:pPr algn="l">
              <a:lnSpc>
                <a:spcPct val="185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对三大规律认识的新跃升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35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核心要义：十个明确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本章知识点 · 1/2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核心要义：十个明确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691640"/>
            <a:ext cx="11247120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总任务：实现社会主义现代化和中华民族伟大复兴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社会主要矛盾：美好生活需要 vs 不平衡不充分的发展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总体布局「五位一体」+ 战略布局「四个全面」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全面深化改革总目标：完善制度、推进治理现代化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全面依法治国总目标：建设法治体系、建设法治国家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坚持基本经济制度，市场起决定性作用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坚持以人民为中心的发展思想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党在新时代的强军目标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中国特色大国外交：构建新型国际关系、人类命运共同体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全面从严治党的战略方针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36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基本方略：十四个坚持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本章知识点 · 2/2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基本方略：十四个坚持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508760"/>
            <a:ext cx="1106424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691640"/>
            <a:ext cx="11247120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坚持党对一切工作的领导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坚持以人民为中心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坚持全面深化改革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坚持新发展理念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坚持人民当家作主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坚持全面依法治国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坚持社会主义核心价值体系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坚持在发展中保障和改善民生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坚持人与自然和谐共生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坚持总体国家安全观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坚持党对人民军队的绝对领导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坚持「一国两制」和推进祖国统一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坚持推动构建人类命运共同体</a:t>
            </a:r>
          </a:p>
          <a:p>
            <a:pPr algn="l">
              <a:lnSpc>
                <a:spcPct val="185000"/>
              </a:lnSpc>
            </a:pPr>
            <a:r>
              <a:rPr sz="16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6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坚持全面从严治党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37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AE6E0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课程总结与课后任务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Summary &amp; Homework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6B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本课程最重要的 3 个概念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173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54480"/>
            <a:ext cx="56692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马克思主义中国化时代化（两个结合）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两次飞跃：毛泽东思想 + 中国特色社会主义理论体系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习近平新时代：十个明确 + 十四个坚持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最有用的 2 个方法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47472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611880"/>
            <a:ext cx="566928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立场观点方法：马克思主义分析现实问题</a:t>
            </a:r>
          </a:p>
          <a:p>
            <a:pPr algn="l">
              <a:lnSpc>
                <a:spcPct val="170000"/>
              </a:lnSpc>
            </a:pPr>
            <a:r>
              <a:rPr sz="15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5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一脉相承又与时俱进：理解理论发展的内在逻辑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最需要警惕的 1 个风险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5212080"/>
            <a:ext cx="566928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5349240"/>
            <a:ext cx="5669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理论学习与现实脱节，不能用马克思主义立场观点方法分析中国实际问题，流于空洞说教。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0515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课后作业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0" y="141732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0" y="1554480"/>
            <a:ext cx="53949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基础：教材对应章节思考题（每专题 1 道）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阅读：《实践论》《矛盾论》+《之江新语》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实践：「大学生讲思政课」—— 1 专题微课 10 分钟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调研：「中国式现代化」家乡调研 2000 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拓展阅读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40233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0" y="4160520"/>
            <a:ext cx="5394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《毛泽东选集》第一卷、第三卷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《邓小平文选》第三卷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■  </a:t>
            </a:r>
            <a:r>
              <a:rPr sz="1400" b="0">
                <a:solidFill>
                  <a:srgbClr val="2C2C2C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《习近平谈治国理政》第一至四卷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864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评价 Rubric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0" y="5852160"/>
            <a:ext cx="5394960" cy="0"/>
          </a:xfrm>
          <a:prstGeom prst="line">
            <a:avLst/>
          </a:prstGeom>
          <a:ln w="1905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0" y="598932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知识 40% + 能力 30% + 素养 30% ·  过程性 + 终结性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65760" y="6492240"/>
            <a:ext cx="11457432" cy="0"/>
          </a:xfrm>
          <a:prstGeom prst="line">
            <a:avLst/>
          </a:prstGeom>
          <a:ln w="9525">
            <a:solidFill>
              <a:srgbClr val="E0D5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83680"/>
            <a:ext cx="7315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总结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583680"/>
            <a:ext cx="176479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思源黑体"/>
                <a:eastAsia typeface="思源黑体"/>
                <a:cs typeface="思源黑体"/>
                <a:ascii typeface="思源黑体"/>
              </a:rPr>
              <a:t>38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