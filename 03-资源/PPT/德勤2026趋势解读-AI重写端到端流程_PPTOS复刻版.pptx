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Recreation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26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v 1.4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01168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 勤 2026 趋 势 解 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6888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企业如何围绕 AI
重写端到端流程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0" y="4572000"/>
            <a:ext cx="713232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0" y="475488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从执行到自优化 · KDD 金字塔 · 标杆案例 · 流程智能 X 光机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94360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战略流程智慧坊  ·  2026-05-31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21792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由 PPTOS 1:1 复刻 18 张原文截图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  ·  本 质 跃 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
1
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本质跃迁：从执行到自优化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传统流程靠固定规则机械执行，AI 原生流程以数据为驱动、智能体为核心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决策逻辑：静态规则 → 实时动态自主决策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优化周期：季度/年度 → 实时持续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价值重心：节省人力 → 提升决策质量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02 / 图 03 / 图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  ·  K D D 金 字 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
2
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金字塔：AI 原生底层根基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K（知识）-D（数据）-D（决策）三层不可跳跃，递进构建智能体运行底座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知识层：沉淀业务规则、SOP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数据层：打通全链路数据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决策层：AI 自主判断、执行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05 / 图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  ·  标 杆 成 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
3
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标杆成效：效率与价值双升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 / 科沃斯 / 中信泰富 / 广域铭岛 / 明略科技——5 大落地标杆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美的南沙：产线节拍 6 秒、库存降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科沃斯：人效提升 20 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中信泰富：流程周期缩短 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06 / 图 07 / 图 08 / 图 09 / 图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4  ·  落 地 路 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
4
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落地路径：从体检到规模化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743200"/>
            <a:ext cx="6400800" cy="0"/>
          </a:xfrm>
          <a:prstGeom prst="line">
            <a:avLst/>
          </a:prstGeom>
          <a:ln w="2540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2926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 X 光机 + 8 步行动指南 + 2026-2028 演进路线图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X 光机：流程可视化 / 偏差 / 瓶颈 / 闭环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16052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1605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8 步路径：KDD → 体检 → 试点 → 治理 → 规模化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663440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663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路线图：2026 试点 → 2027 规模化 → 2028 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166359"/>
            <a:ext cx="73152" cy="3657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516635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11 / 图 12 / 图 13-18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 · 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从流程自动化到流程 AI 原生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KPI 提升 · AI 试点 75% / 量产 25% · 2027 转型预测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传统模式：流程主体不变，AI 搭便车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业务架构未重构，AI 仅作辅助工具被动叠加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智能体正在改变商业模式基础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美国 SaaS 暴跌 18.3% · 仅 11% 企业成功投产 · 五项 KPI 跃升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09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智能体工厂三级演进：自动→数字→AI 原生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60% → 95% · 美的 6 秒下线一台空调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· 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能力金字塔：知识-数据-决策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三层递进 · 不可跳跃原则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· 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 AI 转型三步法：松土 / 打样 / 铺开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全业务场景 AI Agent 覆盖 · 端到端主价值流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美的智能体工厂全流程闭环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南沙工厂 TPM/DMS/LOSS/模具矩阵 · 芜湖验证交付 -39% / 库存 -30%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广域铭岛 AI 原生工厂四层架构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 / 平台 / 应用 / 决策 · 吉利张家口 +15% 效率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明略科技 20 倍人效实证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 天全链路 Agentic AI 改造 · 90% 自动化率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中信泰富特钢双域融合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管理域 + 制造域融合 · 2026 年 4 月业内首家 · 流程周期 -30%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 · X 光机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流程智能是 AI 原生运营的 X 光机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Celonis 引领 · 实际 vs 标准路径对比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 · X 光机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流程智能四大底座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可视化 / 偏差分析 / 瓶颈预测 / 闭环反馈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 ·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原生流程转型四条主线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主流程提效 / 岗位赋能 / 例外管理 / 持续优化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 ·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19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 AI 原生流程行动指南：8 步路径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建设 → 流程体检 → 试点 → 治理 → 规模化 → 闭环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 vs 传统自动化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 维度深度对比 · 从 if-then 到运行时优化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原生运营挑战与应对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大挑战雷达图 · 治理框架缺失 8.7 / 遗留系统整合 8.5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·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2026-2028 流程管理演进路线图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 → 规模化推广 → 成熟运营三阶段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·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图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流程管理的终极形态：智能体工厂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七大支柱 · 自我运行与优化的智能体系统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1016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g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50" y="1554480"/>
            <a:ext cx="86085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384048"/>
            <a:ext cx="11274552" cy="0"/>
          </a:xfrm>
          <a:prstGeom prst="line">
            <a:avLst/>
          </a:prstGeom>
          <a:ln w="1524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结 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0972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· 24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复刻版 v1.4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一图看全：AI 原生流程转型的核心逻辑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19050">
            <a:solidFill>
              <a:srgbClr val="8B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01168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本质跃迁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从「人定规则」到「流程自主进化」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93192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0233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执行 → 自优化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01168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01168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底层根基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69748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K-D-D 金字塔不可跳跃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20440" y="393192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20440" y="40233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→ 数据 → 决策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01168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01168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 步行动指南 + 流程智能 X 光机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393192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40233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体检 → 试点 → 规模化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2011680"/>
            <a:ext cx="2651760" cy="2377440"/>
          </a:xfrm>
          <a:prstGeom prst="rect">
            <a:avLst/>
          </a:prstGeom>
          <a:solidFill>
            <a:srgbClr val="E5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011680"/>
            <a:ext cx="2651760" cy="73152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69748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美的/中信泰富/明略/广域铭岛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81160" y="3931920"/>
            <a:ext cx="228600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81160" y="40233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 + 价值双升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11274552" cy="14630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管理金句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「流程是骨架，AI 是血肉」  ·  流程管理对象正从「静态图纸」走向「动态运行时」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END  ·  感 谢 阅 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 AI 写进流程，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让流程自主进化。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937760"/>
            <a:ext cx="2130552" cy="0"/>
          </a:xfrm>
          <a:prstGeom prst="line">
            <a:avLst/>
          </a:prstGeom>
          <a:ln w="12700">
            <a:solidFill>
              <a:srgbClr val="E5DF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Recreate v1.4  ·  18 张原图 1:1 复刻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5DFD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Source: 战略流程智慧坊 · 德勤 2026 趋势解读（2026-05-31）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