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Calibri"/>
              </a:defRPr>
            </a:pPr>
            <a:r>
              <a:t>NemoClaw 赋能咨询公司：</a:t>
            </a:r>
            <a:br/>
            <a:r>
              <a:t>AI 智能体平台 × 物理 AI 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  <a:r>
              <a:t>从知识工作自动化到数字孪生与机器人仿真 — 基于 NVIDIA 生态的端到端方案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301752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6B900"/>
                </a:solidFill>
                <a:latin typeface="Calibri"/>
              </a:defRPr>
            </a:pPr>
            <a:r>
              <a:t>🏢  咨询智能体平台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多 Agent 协作 | 安全沙箱 | 知识管理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291840"/>
            <a:ext cx="301752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6B900"/>
                </a:solidFill>
                <a:latin typeface="Calibri"/>
              </a:defRPr>
            </a:pPr>
            <a:r>
              <a:t>🤖  物理 AI 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Omniverse 数字孪生 | Isaac Sim | 边缘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291840"/>
            <a:ext cx="301752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6B900"/>
                </a:solidFill>
                <a:latin typeface="Calibri"/>
              </a:defRPr>
            </a:pPr>
            <a:r>
              <a:t>🔒  企业级安全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114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数据隔离 | SSRF 防护 | 凭证脱敏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NemoClaw 平台回顾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核心架构与关键能力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463040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799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9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咨询行业痛点与 NemoClaw 的解决路径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19" y="1874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知识工作自动化与多 Agent 协作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06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NemoClaw 作为咨询 AI 智能体平台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架构设计、安全沙箱、多租户方案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2606040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799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2606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物理 AI 概览与咨询机遇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9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数字孪生、机器人、边缘 AI 市场分析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49039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NemoClaw × Omniverse 数字孪生方案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605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架构集成、Agent 驱动仿真流水线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3749039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799" y="3840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19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关键物理 AI 任务集成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19" y="41605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Isaac Sim、边缘部署、工业检测、供应链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92040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892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端到端咨询交付框架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03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方法论、工具体系、交付物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4892040"/>
            <a:ext cx="640080" cy="6400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799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9" y="4892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ROI 分析与实施路线图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19" y="5303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商业价值、分阶段实施计划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NemoClaw 平台核心能力回顾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NEMOCLAW 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🔒 沙箱隔离 — OpenShell 容器技术，文件系统/网络/进程三层防护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🧠 多 Agent 支持 — OpenClaw / Hermes / LangChain DeepAgents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📡 多消息通道 — Telegram, Discord, Slack, WeChat, WhatsApp, Teams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🔑 凭证安全 — 脱敏、哈希、秘密扫描、SSRF 防护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📋 声明式蓝图 — Blueprint YAML 定义完整沙箱运行时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🔄 路由推理 — LLM Router 根据复杂度分配模型（成本优化）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🛡️ 安全护盾 — Shields 系统临时放宽限制用于调试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📊 生命周期管理 — 创建/快照/备份/恢复/升级全流程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分层架构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011680"/>
            <a:ext cx="4846320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CLI 工具层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nemoclaw / nemohermes 命令入口，50+ 子命令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8920"/>
            <a:ext cx="4846320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操作层 (Actions)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工作流编排，组合领域逻辑与适配器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566160"/>
            <a:ext cx="4846320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领域层 (Domain)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纯策略逻辑，独立于基础设施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343400"/>
            <a:ext cx="4846320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适配器层 (Adapters)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Docker / OpenShell / HTTP 边界隔离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5120640"/>
            <a:ext cx="4846320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消息架构 (Messaging)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清单优先，声明式通道集成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897880"/>
            <a:ext cx="4846320" cy="640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插件系统 (Plugin)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OpenClaw Plugin SDK 扩展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咨询行业痛点与 NemoClaw 解决路径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CONSULTING CHALLENGES &amp; NEMOCLAW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🔴 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NemoClaw 解决路径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知识孤岛：顾问经验难以沉淀复用</a:t>
            </a:r>
            <a:br/>
            <a:r>
              <a:t>研究报告、分析模板分散在各处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4883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B900"/>
                </a:solidFill>
                <a:latin typeface="Calibri"/>
              </a:defRPr>
            </a:pPr>
            <a:r>
              <a:t>多 Agent 知识管理：</a:t>
            </a:r>
            <a:br/>
            <a:r>
              <a:t>Agent 自动整理工作区记忆，MEMORY.md 持久化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协作低效：跨领域项目协调成本高</a:t>
            </a:r>
            <a:br/>
            <a:r>
              <a:t>策略/技术/运营顾问信息不对称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B900"/>
                </a:solidFill>
                <a:latin typeface="Calibri"/>
              </a:defRPr>
            </a:pPr>
            <a:r>
              <a:t>多 Agent 协作 + 消息通道：</a:t>
            </a:r>
            <a:br/>
            <a:r>
              <a:t>不同专业 Agent 通过 Slack/Teams 通道协同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数据安全：客户敏感数据泄露风险</a:t>
            </a:r>
            <a:br/>
            <a:r>
              <a:t>合规要求（金融、医疗、政府）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862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B900"/>
                </a:solidFill>
                <a:latin typeface="Calibri"/>
              </a:defRPr>
            </a:pPr>
            <a:r>
              <a:t>沙箱隔离 + 凭证脱敏：</a:t>
            </a:r>
            <a:br/>
            <a:r>
              <a:t>每个客户独立 Sandbox，默认拒绝出站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7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重复劳动：大量格式化、汇总、翻译</a:t>
            </a:r>
            <a:br/>
            <a:r>
              <a:t>占据顾问 40%+ 工作时间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5487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B900"/>
                </a:solidFill>
                <a:latin typeface="Calibri"/>
              </a:defRPr>
            </a:pPr>
            <a:r>
              <a:t>AI Agent 自动化：</a:t>
            </a:r>
            <a:br/>
            <a:r>
              <a:t>自动生成初稿、翻译、格式化、数据汇总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工具碎片：PPT/Excel/数据库/仿真软件</a:t>
            </a:r>
            <a:br/>
            <a:r>
              <a:t>切换成本高，数据口径不一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6235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B900"/>
                </a:solidFill>
                <a:latin typeface="Calibri"/>
              </a:defRPr>
            </a:pPr>
            <a:r>
              <a:t>Agent 工具集成：</a:t>
            </a:r>
            <a:br/>
            <a:r>
              <a:t>通过 API 调用多种工具，统一数据口径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92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规模瓶颈：高级顾问时间有限</a:t>
            </a:r>
            <a:br/>
            <a:r>
              <a:t>项目交付质量依赖个人能力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492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B900"/>
                </a:solidFill>
                <a:latin typeface="Calibri"/>
              </a:defRPr>
            </a:pPr>
            <a:r>
              <a:t>智能体平台标准化：</a:t>
            </a:r>
            <a:br/>
            <a:r>
              <a:t>最佳实践编码为 Agent Skill，可复制可扩展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NemoClaw 咨询 AI 智能体平台架构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CONSULTING AGENT PLATFORM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926080" cy="777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🔍 研究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Web 搜索 / 文献综述 /</a:t>
            </a:r>
            <a:br/>
            <a:r>
              <a:t>竞品分析 / 技术调研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2926080" cy="777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E8"/>
                </a:solidFill>
                <a:latin typeface="Calibri"/>
              </a:defRPr>
            </a:pPr>
            <a:r>
              <a:t>📝 写作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报告撰写 / PPT 大纲 /</a:t>
            </a:r>
            <a:br/>
            <a:r>
              <a:t>翻译校对 / 格式化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2926080" cy="777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📊 数据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数据分析 / 可视化 /</a:t>
            </a:r>
            <a:br/>
            <a:r>
              <a:t>建模预测 / SQL 查询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2926080" cy="777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🏗️ 架构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3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技术方案设计 /</a:t>
            </a:r>
            <a:br/>
            <a:r>
              <a:t>系统架构评审 / 代码审查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2926080" cy="777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7BFF"/>
                </a:solidFill>
                <a:latin typeface="Calibri"/>
              </a:defRPr>
            </a:pPr>
            <a:r>
              <a:t>🎯 策略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SWOT 分析 / 路线图 /</a:t>
            </a:r>
            <a:br/>
            <a:r>
              <a:t>风险评估 / 商业模式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15000"/>
            <a:ext cx="2926080" cy="777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788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B900"/>
                </a:solidFill>
                <a:latin typeface="Calibri"/>
              </a:defRPr>
            </a:pPr>
            <a:r>
              <a:t>🤖 物理 AI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仿真管理 / 模型训练 /</a:t>
            </a:r>
            <a:br/>
            <a:r>
              <a:t>边缘部署 / 数字孪生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1371600"/>
            <a:ext cx="4389120" cy="5212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6B900"/>
                </a:solidFill>
                <a:latin typeface="Calibri"/>
              </a:defRPr>
            </a:pPr>
            <a:r>
              <a:t>NemoClaw 智能体编排中心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2860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📋 Blueprint 项目蓝图定义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🔀 消息路由与任务分发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📁 项目工作区隔离 (Sandbox)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🔐 客户凭证安全管理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📊 交付物质量审查 Agent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🔄 Agent Skill 复用库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📈 项目进度追踪看板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🔗 外部工具 API 集成网关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371600"/>
            <a:ext cx="3200400" cy="5212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A8E8"/>
                </a:solidFill>
                <a:latin typeface="Calibri"/>
              </a:defRPr>
            </a:pPr>
            <a:r>
              <a:t>基础设施层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2860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🐳 OpenShell 容器沙箱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🔒 Landlock + seccomp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🌐 网络策略 (egress 控制)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🔑 凭证哈希存储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📦 NIM / vLLM / Ollama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☁️ 多云部署 (Brev/DGX)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🔄 CI/CD (GitHub Actions)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📡 消息通道网关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多 Agent 咨询工作流示例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MULTI-AGENT CONSULTING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64592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1</a:t>
            </a:r>
            <a:br/>
            <a:r>
              <a:t>需求</a:t>
            </a:r>
            <a:br/>
            <a:r>
              <a:t>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客户通过</a:t>
            </a:r>
            <a:br/>
            <a:r>
              <a:t>Slack/Teams</a:t>
            </a:r>
            <a:br/>
            <a:r>
              <a:t>提交需求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645920"/>
            <a:ext cx="1645920" cy="1097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17373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2</a:t>
            </a:r>
            <a:br/>
            <a:r>
              <a:t>Agent</a:t>
            </a:r>
            <a:br/>
            <a:r>
              <a:t>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编排中心分配</a:t>
            </a:r>
            <a:br/>
            <a:r>
              <a:t>研究/数据/策略</a:t>
            </a:r>
            <a:br/>
            <a:r>
              <a:t>Agent 并行工作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164592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3</a:t>
            </a:r>
            <a:br/>
            <a:r>
              <a:t>研究</a:t>
            </a:r>
            <a:br/>
            <a:r>
              <a:t>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研究Agent搜索</a:t>
            </a:r>
            <a:br/>
            <a:r>
              <a:t>数据Agent分析</a:t>
            </a:r>
            <a:br/>
            <a:r>
              <a:t>策略Agent评估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164592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7373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4</a:t>
            </a:r>
            <a:br/>
            <a:r>
              <a:t>结果</a:t>
            </a:r>
            <a:br/>
            <a:r>
              <a:t>汇总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写作Agent整合</a:t>
            </a:r>
            <a:br/>
            <a:r>
              <a:t>各Agent输出</a:t>
            </a:r>
            <a:br/>
            <a:r>
              <a:t>生成初稿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645920"/>
            <a:ext cx="1645920" cy="1097280"/>
          </a:xfrm>
          <a:prstGeom prst="rect">
            <a:avLst/>
          </a:prstGeom>
          <a:solidFill>
            <a:srgbClr val="C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0" y="17373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5</a:t>
            </a:r>
            <a:br/>
            <a:r>
              <a:t>质量</a:t>
            </a:r>
            <a:br/>
            <a:r>
              <a:t>审查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审查Agent校验</a:t>
            </a:r>
            <a:br/>
            <a:r>
              <a:t>数据准确性</a:t>
            </a:r>
            <a:br/>
            <a:r>
              <a:t>合规性检查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6B9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645920"/>
            <a:ext cx="164592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04120" y="17373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6</a:t>
            </a:r>
            <a:br/>
            <a:r>
              <a:t>交付</a:t>
            </a:r>
            <a:br/>
            <a:r>
              <a:t>呈现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926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格式化输出</a:t>
            </a:r>
            <a:br/>
            <a:r>
              <a:t>PPT/Word/PDF</a:t>
            </a:r>
            <a:br/>
            <a:r>
              <a:t>多语言翻译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示例：汽车行业市场进入咨询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🔍 研究 Agent → 搜索全球EV市场报告、政策法规、竞品分析（Claude Code 搜索 + Brave Search API）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📊 数据 Agent → 分析销量数据、市场份额趋势、消费者调研数据，生成可视化图表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🎯 策略 Agent → SWOT分析目标市场、评估进入模式（合资/独资/并购）、风险矩阵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🤖 物理 AI Agent → 调用 Omniverse 搭建目标工厂数字孪生，仿真产线布局与物流路径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📝 写作 Agent → 整合所有输出，生成中英文双版市场进入报告 PPT + Word 文档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✅ 审查 Agent → 逐条校验数据来源、合规性检查、格式一致性，标注待人工确认项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沙箱安全：客户数据隔离方案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MULTI-TENANT SANDBOX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🔒 金融客户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项目类型: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银行数字化战略咨询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风控模型评估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策略层级: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restricted — 仅内网 + 合规API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独立 Sandbox 实例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凭证哈希 (无明文存储)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SSRF 防护 + DNS 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秘密扫描器 (防泄露)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网络策略默认拒绝出站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文件系统 Landlock 隔离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seccomp 系统调用过滤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审计日志完整记录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🔒 制造客户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项目类型: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智能工厂规划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数字孪生仿真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策略层级: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balanced — 开放工程工具链API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独立 Sandbox 实例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凭证哈希 (无明文存储)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SSRF 防护 + DNS 固定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秘密扫描器 (防泄露)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03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网络策略默认拒绝出站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文件系统 Landlock 隔离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943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seccomp 系统调用过滤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263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审计日志完整记录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🔒 政府客户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项目类型: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智慧城市顶层设计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数据治理体系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200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策略层级: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restricted — 最高级别隔离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独立 Sandbox 实例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凭证哈希 (无明文存储)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SSRF 防护 + DNS 固定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秘密扫描器 (防泄露)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303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网络策略默认拒绝出站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623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文件系统 Landlock 隔离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943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seccomp 系统调用过滤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6263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✅ 审计日志完整记录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物理 AI：定义、市场与咨询机遇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PHYSICAL AI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Calibri"/>
              </a:defRPr>
            </a:pPr>
            <a:r>
              <a:t>什么是物理 AI？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物理 AI (Physical AI) 是指能够理解、推理并与物理世界交互的 AI 系统。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核心特征：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在 3D 虚拟环境中感知、规划和行动（具身智能）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利用物理仿真引擎进行精确的物理规律建模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连接数字世界与物理世界（数字孪生）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支持机器人、自动驾驶、工业自动化等场景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NVIDIA 物理 AI 技术栈：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Omniverse — 3D 协作与仿真平台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Isaac Sim — 机器人仿真与训练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DRIVE Sim — 自动驾驶仿真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Cosmos — 物理世界基础模型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cuOpt — 优化求解引擎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Modulus — 物理信息神经网络 (PINN)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市场机遇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📈 数字孪生市场：2025年 $20B → 2030年 $120B+ (CAGR 43%)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🏭 工业 AI：2025年 $15B → 2030年 $100B+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🤖 机器人仿真：训练成本降低 60-80%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🚗 自动驾驶：虚拟里程占测试 90%+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303520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咨询公司物理 AI 服务方向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1. 数字孪生咨询 — 工厂/园区/城市孪生规划与实施</a:t>
            </a:r>
          </a:p>
          <a:p>
            <a:pPr>
              <a:spcAft>
                <a:spcPts val="5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2. 机器人仿真训练 — Isaac Sim 驱动的机器人开发</a:t>
            </a:r>
          </a:p>
          <a:p>
            <a:pPr>
              <a:spcAft>
                <a:spcPts val="5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3. 工业 AI 部署 — 边缘推理、预测性维护、质量检测</a:t>
            </a:r>
          </a:p>
          <a:p>
            <a:pPr>
              <a:spcAft>
                <a:spcPts val="5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4. 供应链优化 — cuOpt 驱动的物流与调度优化</a:t>
            </a:r>
          </a:p>
          <a:p>
            <a:pPr>
              <a:spcAft>
                <a:spcPts val="5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5. ESG/碳中和 — 能耗仿真、碳排放跟踪与优化</a:t>
            </a:r>
          </a:p>
          <a:p>
            <a:pPr>
              <a:spcAft>
                <a:spcPts val="5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6. 自动驾驶仿真 — DRIVE Sim 场景生成与验证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NemoClaw × Omniverse 数字孪生集成架构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DIGITAL TWIN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B900"/>
                </a:solidFill>
                <a:latin typeface="Calibri"/>
              </a:defRPr>
            </a:pPr>
            <a:r>
              <a:t>NemoClaw 物理 AI Agent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🔍 需求分析 Agent — 解析客户孪生需求 → 生成仿真规范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🏗️ 场景构建 Agent — 调用Omniverse API 搭建3D场景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⚙️  仿真控制 Agent — 参数配置 / 运行 / 监控仿真任务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📊 结果分析 Agent — 收集仿真数据 / 生成洞察报告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🔄 持续优化 Agent — 根据结果反馈迭代优化模型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8E8"/>
                </a:solidFill>
                <a:latin typeface="Calibri"/>
              </a:defRPr>
            </a:pPr>
            <a:r>
              <a:t>NemoClaw 编排 &amp; 安全层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Blueprint 项目模板 | 消息路由 | 沙箱隔离 | 凭证管理 | 网络策略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NVIDIA 物理 AI 平台层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Omniverse Nucleus (协作) | Kit SDK (开发) | RTX Renderer (渲染)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0740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Isaac Sim (机器人) | PhysX (物理引擎) | USD (通用场景描述)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7BFF"/>
                </a:solidFill>
                <a:latin typeface="Calibri"/>
              </a:defRPr>
            </a:pPr>
            <a:r>
              <a:t>基础设施层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DGX / OVX 服务器 | OpenShell 容器 | GPU 集群 | 云端 Brev 实例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B900"/>
                </a:solidFill>
                <a:latin typeface="Calibri"/>
              </a:defRPr>
            </a:pPr>
            <a:r>
              <a:t>🔗 关键集成: Omniverse Kit Python API ← Agent Tool Calling → USD 场景文件读写 ← Sandbox 安全边界 → 云端 GPU 资源调度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Agent 驱动的数字孪生开发流水线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AGENT-DRIVEN DIGITAL TWIN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💬</a:t>
            </a:r>
            <a:br/>
            <a:r>
              <a:t>需求定义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与客户对话</a:t>
            </a:r>
            <a:br/>
            <a:r>
              <a:t>分析业务需求</a:t>
            </a:r>
            <a:br/>
            <a:r>
              <a:t>输出孪生规格书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📡</a:t>
            </a:r>
            <a:br/>
            <a:r>
              <a:t>数据采集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调用IoT/扫描</a:t>
            </a:r>
            <a:br/>
            <a:r>
              <a:t>收集CAD/BIM/点云</a:t>
            </a:r>
            <a:br/>
            <a:r>
              <a:t>自动格式转换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🏗️</a:t>
            </a:r>
            <a:br/>
            <a:r>
              <a:t>场景建模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调用Omniverse</a:t>
            </a:r>
            <a:br/>
            <a:r>
              <a:t>搭建3D场景/USD</a:t>
            </a:r>
            <a:br/>
            <a:r>
              <a:t>材质/光照/物理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⚙️</a:t>
            </a:r>
            <a:br/>
            <a:r>
              <a:t>仿真配置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配置PhysX</a:t>
            </a:r>
            <a:br/>
            <a:r>
              <a:t>参数/边界条件</a:t>
            </a:r>
            <a:br/>
            <a:r>
              <a:t>传感器/执行器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🚀</a:t>
            </a:r>
            <a:br/>
            <a:r>
              <a:t>仿真执行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提交GPU集群</a:t>
            </a:r>
            <a:br/>
            <a:r>
              <a:t>监控仿真进度</a:t>
            </a:r>
            <a:br/>
            <a:r>
              <a:t>处理异常/重试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3524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📊</a:t>
            </a:r>
            <a:br/>
            <a:r>
              <a:t>结果分析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分析仿真数据</a:t>
            </a:r>
            <a:br/>
            <a:r>
              <a:t>生成可视化报告</a:t>
            </a:r>
            <a:br/>
            <a:r>
              <a:t>对比方案优劣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9828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🔄</a:t>
            </a:r>
            <a:br/>
            <a:r>
              <a:t>迭代优化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分析偏差</a:t>
            </a:r>
            <a:br/>
            <a:r>
              <a:t>建议参数调整</a:t>
            </a:r>
            <a:br/>
            <a:r>
              <a:t>自动触发重仿真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1371600"/>
            <a:ext cx="12801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6132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📦</a:t>
            </a:r>
            <a:br/>
            <a:r>
              <a:t>交付部署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2651760"/>
            <a:ext cx="137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生成文档</a:t>
            </a:r>
            <a:br/>
            <a:r>
              <a:t>打包USD资产</a:t>
            </a:r>
            <a:br/>
            <a:r>
              <a:t>部署到客户环境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11612880" cy="1463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案例：汽车工厂数字孪生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Agent 读取工厂 CAD 图纸 + 激光扫描点云 → 自动生成 USD 场景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Agent 配置 PhysX 物理参数（重力、摩擦、碰撞）→ 仿真物流 AGV 路径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Agent 运行 100 组布局方案对比 → 识别最优产线布局 → 节省 1200m² 面积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Agent 生成中英文孪生交付报告（含 3D 可交互场景 + 数据分析仪表板）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机器人仿真训练：NemoClaw × Isaac 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ROBOTICS SIMULATION WITH ISAAC 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Agent 驱动的机器人开发流程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1️⃣  需求定义 Agent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与客户讨论机器人应用场景（焊接/搬运/巡检）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输出机器人规格书（自由度、载荷、精度要求）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2️⃣  仿真环境搭建 Agent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在 Isaac Sim 中导入机器人 URDF/MJCF 模型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自动生成训练场景（产线、仓库、户外）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配置传感器（RGB-D 相机、LiDAR、IMU）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3️⃣  训练管理 Agent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配置强化学习参数 (PPO/SAC/TRPO)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提交 GPU 集群训练任务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监控训练曲线、自动早停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4️⃣  Sim2Real 验证 Agent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域随机化参数自动调优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对比仿真 vs 真实数据偏差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生成部署就绪模型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NemoClaw 赋能点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多场景并行训练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多个 Agent 实例同时管理不同机器人训练任务</a:t>
            </a:r>
            <a:br/>
            <a:r>
              <a:t>Sandbox 隔离确保训练互不干扰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163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安全凭证管理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44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Isaac Sim API 密钥通过凭证哈希管理</a:t>
            </a:r>
            <a:br/>
            <a:r>
              <a:t>避免硬编码泄露风险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295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训练数据管理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7581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Agent 自动整理训练日志、checkpoint</a:t>
            </a:r>
            <a:br/>
            <a:r>
              <a:t>按版本管理，支持回滚恢复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4281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报告自动生成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4714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Agent 自动生成训练报告、性能对比</a:t>
            </a:r>
            <a:br/>
            <a:r>
              <a:t>多语言输出，满足跨国团队需求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560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知识库沉淀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1846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每个项目的最佳实践编码为 Agent Skill</a:t>
            </a:r>
            <a:br/>
            <a:r>
              <a:t>后续项目直接复用，持续进化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6692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成本优化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897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LLM Router 自动分配模型</a:t>
            </a:r>
            <a:br/>
            <a:r>
              <a:t>简单任务用小模型（成本降低 60%+）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边缘 AI 部署管理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EDGE AI DEPLOYMENT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5544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端到端边缘 AI 部署流水线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🔹 Agent 协助模型优化：量化 (INT8/FP16) / 剪枝 / 知识蒸馏 → TensorRT 转换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🔹 Agent 管理设备注册：Jetson Orin / AGX / 工业 PC 的设备目录与健康监控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🔹 Agent 执行 OTA 部署：通过安全通道推送模型到边缘设备，验证推理结果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🔹 Agent 持续监控：收集边缘推理指标（延迟/吞吐/精度漂移），自动告警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3566160" cy="3200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B900"/>
                </a:solidFill>
                <a:latin typeface="Calibri"/>
              </a:defRPr>
            </a:pPr>
            <a:r>
              <a:t>🏭 工业质检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Agent 管理缺陷检测模型训练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NIM 推理引擎在 Jetson 部署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实时缺陷分类 + 产线联动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模型漂移自动检测与重训练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3566160" cy="3200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B900"/>
                </a:solidFill>
                <a:latin typeface="Calibri"/>
              </a:defRPr>
            </a:pPr>
            <a:r>
              <a:t>🚜 智慧农业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233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Agent 管理无人机巡检模型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边缘设备作物健康推理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自动生成施肥/灌溉方案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多光谱分析 Agent 协助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200400"/>
            <a:ext cx="3566160" cy="3200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B900"/>
                </a:solidFill>
                <a:latin typeface="Calibri"/>
              </a:defRPr>
            </a:pPr>
            <a:r>
              <a:t>🏥 医疗影像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Agent 管理 CT/MRI 分析模型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符合 HIPAA 的数据隔离沙箱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医生-Agent 协作诊断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模型版本管理与审计追踪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工业检测与预测性维护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INDUSTRIAL INSPECTION &amp; PREDICTIVE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NemoClaw × 工业 AI Agent 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📡  传感器数据采集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对接 OPC-UA / MQTT / Modbus 工业协议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自动发现设备 → 配置数据采集频率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异常值检测与清洗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🧠  模型训练与管理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时序预测模型 (LSTM/Transformer/PINN)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NVIDIA Modulus 物理信息神经网络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模型版本控制 → A/B 测试 → 自动上线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🔍  缺陷检测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计算机视觉 + 异常检测模型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产线实时推理 (TensorRT + Triton)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缺陷分类 → 根因分析 → 自动报告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📊  维护决策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RUL (剩余使用寿命) 预测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维修策略推荐（预防性/预测性/状态基）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备件库存优化 → 自动生成工单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NemoClaw 独特优势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安全隔离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59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每个工厂/产线的 AI Agent 独立运行在</a:t>
            </a:r>
            <a:br/>
            <a:r>
              <a:t>Sandbox 中，数据和模型完全隔离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远程管理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36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通过 CLI 远程管理数百个边缘 Agent</a:t>
            </a:r>
            <a:br/>
            <a:r>
              <a:t>统一升级、监控、回滚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策略控制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13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网络策略精确控制 Agent 的数据访问</a:t>
            </a:r>
            <a:br/>
            <a:r>
              <a:t>确保不泄露工艺机密到外部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多协议支持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908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消息通道架构原生支持多平台</a:t>
            </a:r>
            <a:br/>
            <a:r>
              <a:t>Slack/Teams/企业微信 统一告警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2120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合规审计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46811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所有 Agent 操作完整记录</a:t>
            </a:r>
            <a:br/>
            <a:r>
              <a:t>满足 ISO 9001 / ISO 27001 审计要求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9893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✅ 弹性扩展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2453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Blueprint 模板快速复制 Agent 配置</a:t>
            </a:r>
            <a:br/>
            <a:r>
              <a:t>新产线接入从数天缩短到数分钟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供应链与物流优化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SUPPLY CHAIN &amp; LOGISTICS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B900"/>
                </a:solidFill>
                <a:latin typeface="Calibri"/>
              </a:defRPr>
            </a:pPr>
            <a:r>
              <a:t>NemoClaw × cuOpt 供应链优化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🔷 数据接入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ERP/WMS/TMS 系统数据抽取与清洗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实时物流数据流处理 (Kafka/MQTT)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多源数据融合与标准化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🔷 优化求解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调用 NVIDIA cuOpt 求解引擎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VRP (车辆路径) / CVRP / VRPTW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仓库布局优化 / 库存策略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🔷 仿真验证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在 Omniverse 中搭建物流场景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验证优化方案可行性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瓶颈识别与方案迭代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🔷 决策支持 Agent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What-if 场景分析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多目标权衡 (成本 vs 时效 vs 碳排放)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自然语言交互式查询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典型咨询场景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B900"/>
                </a:solidFill>
                <a:latin typeface="Calibri"/>
              </a:defRPr>
            </a:pPr>
            <a:r>
              <a:t>📌 零售供应链网络设计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402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分析 500+ 门店数据 → cuOpt 求解最优仓库选址</a:t>
            </a:r>
            <a:br/>
            <a:r>
              <a:t>→ Omniverse 可视化供应链网络 → 物流成本降低 15-25%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B900"/>
                </a:solidFill>
                <a:latin typeface="Calibri"/>
              </a:defRPr>
            </a:pPr>
            <a:r>
              <a:t>📌 最后一公里配送优化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1089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分析订单密度/交通/时间窗 → 动态路径规划</a:t>
            </a:r>
            <a:br/>
            <a:r>
              <a:t>→ 实时调整配送路线 → 准时率提升至 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3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B900"/>
                </a:solidFill>
                <a:latin typeface="Calibri"/>
              </a:defRPr>
            </a:pPr>
            <a:r>
              <a:t>📌 生产排程优化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7763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读取 MES 生产订单 → cuOpt 求解排程方案</a:t>
            </a:r>
            <a:br/>
            <a:r>
              <a:t>→ 仿真验证产能 → 换线时间减少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17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B900"/>
                </a:solidFill>
                <a:latin typeface="Calibri"/>
              </a:defRPr>
            </a:pPr>
            <a:r>
              <a:t>📌 逆向物流网络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8463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分析退货数据 → 设计回收网络</a:t>
            </a:r>
            <a:br/>
            <a:r>
              <a:t>→ 成本-碳排放双目标优化 → 满足 ESG 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4864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B900"/>
                </a:solidFill>
                <a:latin typeface="Calibri"/>
              </a:defRPr>
            </a:pPr>
            <a:r>
              <a:t>📌 多式联运规划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7150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Agent 整合海运/铁路/公路数据 → 多式联运路径优化</a:t>
            </a:r>
            <a:br/>
            <a:r>
              <a:t>→ 实时事件响应（延误/天气） → 运输成本降 10-20%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端到端物理 AI 咨询交付框架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END-TO-END PHYSICAL AI CONSULTING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03120" cy="914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Phase 1</a:t>
            </a:r>
            <a:br/>
            <a:r>
              <a:t>评估诊断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业务需求访谈 Agent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现有 IT/OT 系统评估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AI 就绪度评分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数据资产盘点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371600"/>
            <a:ext cx="2103120" cy="914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Phase 2</a:t>
            </a:r>
            <a:br/>
            <a: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数字孪生架构设计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AI 模型选型与验证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边缘-云端部署方案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ROI 量化模型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371600"/>
            <a:ext cx="2103120" cy="914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199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Phase 3</a:t>
            </a:r>
            <a:br/>
            <a:r>
              <a:t>POC 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Agent 驱动的快速原型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Omniverse 场景搭建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模型训练与调优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客户演示与反馈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371600"/>
            <a:ext cx="2103120" cy="914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19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Phase 4</a:t>
            </a:r>
            <a:br/>
            <a:r>
              <a:t>规模部署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Blueprint 模板化部署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多站点 Agent 编排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运维监控体系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知识转移培训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6B90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9144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4173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Phase 5</a:t>
            </a:r>
            <a:br/>
            <a:r>
              <a:t>持续优化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4688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Agent 自动监控 KPI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模型漂移检测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季度优化建议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版本迭代升级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03520"/>
            <a:ext cx="11612880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NemoClaw 赋能的关键差异化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✅ Blueprint 模板化：每个行业/场景沉淀为 Blueprint 模板，后续项目 80% 工作可复用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✅ 沙箱安全合规：满足金融/制造/政府客户的最高安全要求，缩短安全审查周期 50%+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✅ Agent Skill 积累：形成咨询公司独有的 AI 能力资产，建立竞争壁垒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✅ 多语言支持：Agent 原生中英日韩多语言输出，服务全球客户无语言障碍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ROI 分析与商业价值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ROI ANALYSIS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219456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效率提升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40-60%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报告撰写、数据分析、文献综述</a:t>
            </a:r>
            <a:br/>
            <a:r>
              <a:t>等重复工作自动化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质量提升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30-50%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减少人为错误、格式不一致</a:t>
            </a:r>
            <a:br/>
            <a:r>
              <a:t>数据口径统一、合规自动检查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2194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规模扩展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3-5x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高级顾问时间释放 50%+</a:t>
            </a:r>
            <a:br/>
            <a:r>
              <a:t>项目吞吐量提升 3-5 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3566160" cy="2194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成本优化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30-50%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推理成本通过 LLM Router 优化</a:t>
            </a:r>
            <a:br/>
            <a:r>
              <a:t>简单任务用小模型，降低 60%+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566160" cy="2194560"/>
          </a:xfrm>
          <a:prstGeom prst="rect">
            <a:avLst/>
          </a:prstGeom>
          <a:solidFill>
            <a:srgbClr val="C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安全合规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显著降低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数据泄露风险降至最低</a:t>
            </a:r>
            <a:br/>
            <a:r>
              <a:t>满足最严格的客户安全审计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840480"/>
            <a:ext cx="3566160" cy="219456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知识资产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持续增长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每个项目的 Agent Skill 沉淀</a:t>
            </a:r>
            <a:br/>
            <a:r>
              <a:t>形成咨询公司独有 AI 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实施路线图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51760" cy="10972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Phase 1</a:t>
            </a:r>
            <a:br/>
            <a:r>
              <a:t>基础建设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B900"/>
                </a:solidFill>
                <a:latin typeface="Calibri"/>
              </a:defRPr>
            </a:pPr>
            <a:r>
              <a:t>⏱ 1-2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175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NemoClaw 平台部署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基础 Agent Skill 开发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Omniverse 环境搭建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安全策略配置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651760" cy="1097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Phase 2</a:t>
            </a:r>
            <a:br/>
            <a:r>
              <a:t>试点项目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A8E8"/>
                </a:solidFill>
                <a:latin typeface="Calibri"/>
              </a:defRPr>
            </a:pPr>
            <a:r>
              <a:t>⏱ 2-4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0175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选择 2-3 个内部项目试点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数字孪生 POC 开发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Agent 工作流验证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ROI 数据收集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517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Phase 3</a:t>
            </a:r>
            <a:br/>
            <a:r>
              <a:t>能力扩展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Calibri"/>
              </a:defRPr>
            </a:pPr>
            <a:r>
              <a:t>⏱ 4-8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175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物理 AI Agent 全家桶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Isaac Sim 机器人集成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边缘 AI 部署管线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行业 Blueprint 模板库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371600"/>
            <a:ext cx="2651760" cy="1097280"/>
          </a:xfrm>
          <a:prstGeom prst="rect">
            <a:avLst/>
          </a:prstGeom>
          <a:solidFill>
            <a:srgbClr val="C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Phase 4</a:t>
            </a:r>
            <a:br/>
            <a:r>
              <a:t>规模化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7BFF"/>
                </a:solidFill>
                <a:latin typeface="Calibri"/>
              </a:defRPr>
            </a:pPr>
            <a:r>
              <a:t>⏱ 8-12 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01752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多客户同时服务能力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Agent Skill 市场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合作伙伴生态</a:t>
            </a:r>
          </a:p>
          <a:p>
            <a:pPr>
              <a:spcAft>
                <a:spcPts val="6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品牌差异化建立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760720"/>
            <a:ext cx="11612880" cy="7315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6B900"/>
                </a:solidFill>
                <a:latin typeface="Calibri"/>
              </a:defRPr>
            </a:pPr>
            <a:r>
              <a:t>🎯 关键里程碑:  Month 1 — NemoClaw 上线  |  Month 3 — 首个数字孪生 POC  |  Month 6 — 物理 AI 全家桶就绪  |  Month 12 — 服务 10+ 付费客户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竞争优势分析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传统咨询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通用 AI 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NemoClaw 咨询平台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知识管理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依赖个人经验</a:t>
            </a:r>
            <a:br/>
            <a:r>
              <a:t>人员流动损失大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无结构化</a:t>
            </a:r>
            <a:br/>
            <a:r>
              <a:t>每次重新开始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alibri"/>
              </a:defRPr>
            </a:pPr>
            <a:r>
              <a:t>Agent Skill 代码化</a:t>
            </a:r>
            <a:br/>
            <a:r>
              <a:t>知识持续积累进化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数据安全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依靠制度和NDA</a:t>
            </a:r>
            <a:br/>
            <a:r>
              <a:t>人为泄露风险高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数据上传第三方</a:t>
            </a:r>
            <a:br/>
            <a:r>
              <a:t>合规风险大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alibri"/>
              </a:defRPr>
            </a:pPr>
            <a:r>
              <a:t>Sandbox 隔离 + 脱敏</a:t>
            </a:r>
            <a:br/>
            <a:r>
              <a:t>技术强制安全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协作效率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337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邮件 + 会议</a:t>
            </a:r>
            <a:br/>
            <a:r>
              <a:t>跨领域协调慢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337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单人使用</a:t>
            </a:r>
            <a:br/>
            <a:r>
              <a:t>无团队协作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337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alibri"/>
              </a:defRPr>
            </a:pPr>
            <a:r>
              <a:t>多 Agent 并行协作</a:t>
            </a:r>
            <a:br/>
            <a:r>
              <a:t>消息通道实时同步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可复制性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质量依赖顾问个人</a:t>
            </a:r>
            <a:br/>
            <a:r>
              <a:t>难以标准化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单次使用</a:t>
            </a:r>
            <a:br/>
            <a:r>
              <a:t>无模板积累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alibri"/>
              </a:defRPr>
            </a:pPr>
            <a:r>
              <a:t>Blueprint 模板化</a:t>
            </a:r>
            <a:br/>
            <a:r>
              <a:t>80% 工作可复用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26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物理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仅提供策略建议</a:t>
            </a:r>
            <a:br/>
            <a:r>
              <a:t>无法执行仿真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不支持物理 AI</a:t>
            </a:r>
            <a:br/>
            <a:r>
              <a:t>工具链割裂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alibri"/>
              </a:defRPr>
            </a:pPr>
            <a:r>
              <a:t>Omniverse / Isaac Sim</a:t>
            </a:r>
            <a:br/>
            <a:r>
              <a:t>端到端集成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规模扩展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线性增长</a:t>
            </a:r>
            <a:br/>
            <a:r>
              <a:t>高级顾问瓶颈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受限于个人使用</a:t>
            </a:r>
            <a:br/>
            <a:r>
              <a:t>无法团队共享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alibri"/>
              </a:defRPr>
            </a:pPr>
            <a:r>
              <a:t>项目并行处理</a:t>
            </a:r>
            <a:br/>
            <a:r>
              <a:t>3-5x 吞吐量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15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合规审计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人工整理材料</a:t>
            </a:r>
            <a:br/>
            <a:r>
              <a:t>耗时且易遗漏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缺乏审计能力</a:t>
            </a:r>
            <a:br/>
            <a:r>
              <a:t>不可追溯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6B900"/>
                </a:solidFill>
                <a:latin typeface="Calibri"/>
              </a:defRPr>
            </a:pPr>
            <a:r>
              <a:t>完整操作日志</a:t>
            </a:r>
            <a:br/>
            <a:r>
              <a:t>一键生成审计报告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风险与应对措施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RISK &amp;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⚠️  技术风险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OpenShell/Omniverse 兼容性更新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NemoClaw Blueprint 的声明式配置可快速适配新版本；CI/CD 自动回归测试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GPU 资源成本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LLM Router 优化模型选择 + 本地 NIM 推理降低云端依赖；BluePrint 支持混合部署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Agent 幻觉/错误输出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多 Agent 交叉验证 + 人工审核节点 + 输出置信度评分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⚠️  商业风险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客户对 AI Agent 信任度不足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Phase 2 试点项目积累案例；量化 ROI 数据说服；渐进式交付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咨询顾问转型阻力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Agent 定位为『增强』非『替代』；培训顾问使用 Agent 提升个人产出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竞争对手模仿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Agent Skill 库形成知识壁垒；行业 Blueprint 模板建立生态护城河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⚠️  合规风险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客户数据跨境合规 (GDPR/等保)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Sandbox 按地域部署；数据本地化处理；网络策略限制跨境传输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AI 输出责任归属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所有 Agent 输出标记「AI 辅助生成，须经人工审核」；交付物双签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🔴 模型训练数据版权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6B900"/>
                </a:solidFill>
                <a:latin typeface="Calibri"/>
              </a:defRPr>
            </a:pPr>
            <a:r>
              <a:t>🟢 使用 NVIDIA 授权模型 + 开源模型；自定义训练数据确保版权合规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总结与下一步行动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  <a:r>
              <a:t>NemoClaw 是咨询公司落地物理 AI 战略的理想 Agent 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2103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6B900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咨询 AI 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多 Agent 协作覆盖</a:t>
            </a:r>
            <a:br/>
            <a:r>
              <a:t>全咨询价值链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103120"/>
            <a:ext cx="2103120" cy="2103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2286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6B900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安全合规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Sandbox 隔离满足</a:t>
            </a:r>
            <a:br/>
            <a:r>
              <a:t>最严苛客户要求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103120"/>
            <a:ext cx="2103120" cy="2103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286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6B900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物理 AI 原生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Omniverse / Isaac Sim</a:t>
            </a:r>
            <a:br/>
            <a:r>
              <a:t>cuOpt 深度集成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2103120"/>
            <a:ext cx="2103120" cy="2103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39" y="2286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6B90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模板化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Blueprint 沉淀行业</a:t>
            </a:r>
            <a:br/>
            <a:r>
              <a:t>知识，80% 可复用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103120"/>
            <a:ext cx="2103120" cy="21031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2286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6B900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可量化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效率 40-60% ↑</a:t>
            </a:r>
            <a:br/>
            <a:r>
              <a:t>成本 30-50% 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11247120" cy="1920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B900"/>
                </a:solidFill>
                <a:latin typeface="Calibri"/>
              </a:defRPr>
            </a:pPr>
            <a:r>
              <a:t>🎯  建议下一步行动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1.  内部 Workshop — 识别 3 个最适合 AI Agent 改造的咨询业务线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2.  NemoClaw PoC — 部署 NemoClaw 平台，开发首批 5-10 个 Agent Skill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3.  物理 AI 评估 — 评估现有客户中数字孪生/机器人/边缘 AI 需求最迫切的 2-3 个项目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4.  试点项目 — 选择 1 个物理 AI 咨询项目作为端到端试点，收集量化效果数据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5.  能力建设 — 培训咨询顾问使用 Agent 平台，建立内部 AI 能力中心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6.  规模化 — 基于试点经验，将 Blueprint 模板推广到更多行业和客户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Calibri"/>
              </a:defRPr>
            </a:pPr>
            <a:r>
              <a:t>NVIDIA NemoClaw |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2755</Words>
  <Application>Microsoft Office PowerPoint</Application>
  <PresentationFormat>宽屏</PresentationFormat>
  <Paragraphs>579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Wang, Anna Xiaofei</dc:creator>
  <cp:keywords/>
  <dc:description>generated using python-pptx</dc:description>
  <cp:lastModifiedBy>Wang, Anna Xiaofei</cp:lastModifiedBy>
  <cp:revision>1</cp:revision>
  <dcterms:created xsi:type="dcterms:W3CDTF">2013-01-27T09:14:16Z</dcterms:created>
  <dcterms:modified xsi:type="dcterms:W3CDTF">2026-06-26T02:01:15Z</dcterms:modified>
  <cp:category/>
</cp:coreProperties>
</file>