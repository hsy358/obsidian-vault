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74320" cy="68580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371600"/>
            <a:ext cx="10058400" cy="457200"/>
          </a:xfrm>
          <a:prstGeom prst="rect">
            <a:avLst/>
          </a:prstGeom>
          <a:noFill/>
        </p:spPr>
        <p:txBody>
          <a:bodyPr wrap="square" anchor="t" lIns="45720" rIns="45720" tIns="18288" bIns="18288">
            <a:spAutoFit/>
          </a:bodyPr>
          <a:lstStyle/>
          <a:p>
            <a:pPr algn="l"/>
            <a:r>
              <a:rPr sz="1400" b="0">
                <a:solidFill>
                  <a:srgbClr val="CCDDEE"/>
                </a:solidFill>
                <a:latin typeface="Noto Serif CJK JP"/>
                <a:ea typeface="Noto Serif CJK JP"/>
              </a:rPr>
              <a:t>2026 / 战略流程智慧坊</a:t>
            </a:r>
          </a:p>
        </p:txBody>
      </p:sp>
      <p:sp>
        <p:nvSpPr>
          <p:cNvPr id="5" name="TextBox 4"/>
          <p:cNvSpPr txBox="1"/>
          <p:nvPr/>
        </p:nvSpPr>
        <p:spPr>
          <a:xfrm>
            <a:off x="914400" y="2011680"/>
            <a:ext cx="10058400" cy="1097280"/>
          </a:xfrm>
          <a:prstGeom prst="rect">
            <a:avLst/>
          </a:prstGeom>
          <a:noFill/>
        </p:spPr>
        <p:txBody>
          <a:bodyPr wrap="square" anchor="t" lIns="45720" rIns="45720" tIns="18288" bIns="18288">
            <a:spAutoFit/>
          </a:bodyPr>
          <a:lstStyle/>
          <a:p>
            <a:pPr algn="l"/>
            <a:r>
              <a:rPr sz="4400" b="1">
                <a:solidFill>
                  <a:srgbClr val="FFFFFF"/>
                </a:solidFill>
                <a:latin typeface="Noto Serif CJK JP"/>
                <a:ea typeface="Noto Serif CJK JP"/>
              </a:rPr>
              <a:t>企业流程智能成熟度自评模型</a:t>
            </a:r>
          </a:p>
        </p:txBody>
      </p:sp>
      <p:sp>
        <p:nvSpPr>
          <p:cNvPr id="6" name="TextBox 5"/>
          <p:cNvSpPr txBox="1"/>
          <p:nvPr/>
        </p:nvSpPr>
        <p:spPr>
          <a:xfrm>
            <a:off x="914400" y="3291840"/>
            <a:ext cx="10058400" cy="548640"/>
          </a:xfrm>
          <a:prstGeom prst="rect">
            <a:avLst/>
          </a:prstGeom>
          <a:noFill/>
        </p:spPr>
        <p:txBody>
          <a:bodyPr wrap="square" anchor="t" lIns="45720" rIns="45720" tIns="18288" bIns="18288">
            <a:spAutoFit/>
          </a:bodyPr>
          <a:lstStyle/>
          <a:p>
            <a:pPr algn="l"/>
            <a:r>
              <a:rPr sz="2200" b="0">
                <a:solidFill>
                  <a:srgbClr val="CCDDEE"/>
                </a:solidFill>
                <a:latin typeface="Noto Serif CJK JP"/>
                <a:ea typeface="Noto Serif CJK JP"/>
              </a:rPr>
              <a:t>从流程『有没有』到AI『灵不灵』，解码流程管理的进化路径</a:t>
            </a:r>
          </a:p>
        </p:txBody>
      </p:sp>
      <p:cxnSp>
        <p:nvCxnSpPr>
          <p:cNvPr id="7" name="Connector 6"/>
          <p:cNvCxnSpPr/>
          <p:nvPr/>
        </p:nvCxnSpPr>
        <p:spPr>
          <a:xfrm>
            <a:off x="914400" y="4206240"/>
            <a:ext cx="4572000" cy="0"/>
          </a:xfrm>
          <a:prstGeom prst="line">
            <a:avLst/>
          </a:prstGeom>
          <a:ln w="31750">
            <a:solidFill>
              <a:srgbClr val="D01F2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5029200"/>
            <a:ext cx="2194560" cy="365760"/>
          </a:xfrm>
          <a:prstGeom prst="rect">
            <a:avLst/>
          </a:prstGeom>
          <a:noFill/>
        </p:spPr>
        <p:txBody>
          <a:bodyPr wrap="square" anchor="t" lIns="45720" rIns="45720" tIns="18288" bIns="18288">
            <a:spAutoFit/>
          </a:bodyPr>
          <a:lstStyle/>
          <a:p>
            <a:pPr algn="l"/>
            <a:r>
              <a:rPr sz="1400" b="0">
                <a:solidFill>
                  <a:srgbClr val="FFFFFF"/>
                </a:solidFill>
                <a:latin typeface="Noto Serif CJK JP"/>
                <a:ea typeface="Noto Serif CJK JP"/>
              </a:rPr>
              <a:t>流程标准化</a:t>
            </a:r>
          </a:p>
        </p:txBody>
      </p:sp>
      <p:cxnSp>
        <p:nvCxnSpPr>
          <p:cNvPr id="9" name="Connector 8"/>
          <p:cNvCxnSpPr/>
          <p:nvPr/>
        </p:nvCxnSpPr>
        <p:spPr>
          <a:xfrm>
            <a:off x="914400" y="5394960"/>
            <a:ext cx="2194560" cy="0"/>
          </a:xfrm>
          <a:prstGeom prst="line">
            <a:avLst/>
          </a:prstGeom>
          <a:ln w="25400">
            <a:solidFill>
              <a:srgbClr val="D01F2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291840" y="5029200"/>
            <a:ext cx="2194560" cy="365760"/>
          </a:xfrm>
          <a:prstGeom prst="rect">
            <a:avLst/>
          </a:prstGeom>
          <a:noFill/>
        </p:spPr>
        <p:txBody>
          <a:bodyPr wrap="square" anchor="t" lIns="45720" rIns="45720" tIns="18288" bIns="18288">
            <a:spAutoFit/>
          </a:bodyPr>
          <a:lstStyle/>
          <a:p>
            <a:pPr algn="l"/>
            <a:r>
              <a:rPr sz="1400" b="0">
                <a:solidFill>
                  <a:srgbClr val="FFFFFF"/>
                </a:solidFill>
                <a:latin typeface="Noto Serif CJK JP"/>
                <a:ea typeface="Noto Serif CJK JP"/>
              </a:rPr>
              <a:t>数据贯通</a:t>
            </a:r>
          </a:p>
        </p:txBody>
      </p:sp>
      <p:cxnSp>
        <p:nvCxnSpPr>
          <p:cNvPr id="11" name="Connector 10"/>
          <p:cNvCxnSpPr/>
          <p:nvPr/>
        </p:nvCxnSpPr>
        <p:spPr>
          <a:xfrm>
            <a:off x="3291840" y="5394960"/>
            <a:ext cx="2194560" cy="0"/>
          </a:xfrm>
          <a:prstGeom prst="line">
            <a:avLst/>
          </a:prstGeom>
          <a:ln w="25400">
            <a:solidFill>
              <a:srgbClr val="D01F2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0" y="5029200"/>
            <a:ext cx="2194560" cy="365760"/>
          </a:xfrm>
          <a:prstGeom prst="rect">
            <a:avLst/>
          </a:prstGeom>
          <a:noFill/>
        </p:spPr>
        <p:txBody>
          <a:bodyPr wrap="square" anchor="t" lIns="45720" rIns="45720" tIns="18288" bIns="18288">
            <a:spAutoFit/>
          </a:bodyPr>
          <a:lstStyle/>
          <a:p>
            <a:pPr algn="l"/>
            <a:r>
              <a:rPr sz="1400" b="0">
                <a:solidFill>
                  <a:srgbClr val="FFFFFF"/>
                </a:solidFill>
                <a:latin typeface="Noto Serif CJK JP"/>
                <a:ea typeface="Noto Serif CJK JP"/>
              </a:rPr>
              <a:t>AI 应用</a:t>
            </a:r>
          </a:p>
        </p:txBody>
      </p:sp>
      <p:cxnSp>
        <p:nvCxnSpPr>
          <p:cNvPr id="13" name="Connector 12"/>
          <p:cNvCxnSpPr/>
          <p:nvPr/>
        </p:nvCxnSpPr>
        <p:spPr>
          <a:xfrm>
            <a:off x="5669280" y="5394960"/>
            <a:ext cx="2194560" cy="0"/>
          </a:xfrm>
          <a:prstGeom prst="line">
            <a:avLst/>
          </a:prstGeom>
          <a:ln w="25400">
            <a:solidFill>
              <a:srgbClr val="D01F2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046720" y="5029200"/>
            <a:ext cx="2194560" cy="365760"/>
          </a:xfrm>
          <a:prstGeom prst="rect">
            <a:avLst/>
          </a:prstGeom>
          <a:noFill/>
        </p:spPr>
        <p:txBody>
          <a:bodyPr wrap="square" anchor="t" lIns="45720" rIns="45720" tIns="18288" bIns="18288">
            <a:spAutoFit/>
          </a:bodyPr>
          <a:lstStyle/>
          <a:p>
            <a:pPr algn="l"/>
            <a:r>
              <a:rPr sz="1400" b="0">
                <a:solidFill>
                  <a:srgbClr val="FFFFFF"/>
                </a:solidFill>
                <a:latin typeface="Noto Serif CJK JP"/>
                <a:ea typeface="Noto Serif CJK JP"/>
              </a:rPr>
              <a:t>治理优化</a:t>
            </a:r>
          </a:p>
        </p:txBody>
      </p:sp>
      <p:cxnSp>
        <p:nvCxnSpPr>
          <p:cNvPr id="15" name="Connector 14"/>
          <p:cNvCxnSpPr/>
          <p:nvPr/>
        </p:nvCxnSpPr>
        <p:spPr>
          <a:xfrm>
            <a:off x="8046720" y="5394960"/>
            <a:ext cx="2194560" cy="0"/>
          </a:xfrm>
          <a:prstGeom prst="line">
            <a:avLst/>
          </a:prstGeom>
          <a:ln w="25400">
            <a:solidFill>
              <a:srgbClr val="D01F2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14400" y="6035040"/>
            <a:ext cx="10058400" cy="365760"/>
          </a:xfrm>
          <a:prstGeom prst="rect">
            <a:avLst/>
          </a:prstGeom>
          <a:noFill/>
        </p:spPr>
        <p:txBody>
          <a:bodyPr wrap="square" anchor="t" lIns="45720" rIns="45720" tIns="18288" bIns="18288">
            <a:spAutoFit/>
          </a:bodyPr>
          <a:lstStyle/>
          <a:p>
            <a:pPr algn="l"/>
            <a:r>
              <a:rPr sz="1400" b="1">
                <a:solidFill>
                  <a:srgbClr val="FFFFFF"/>
                </a:solidFill>
                <a:latin typeface="Noto Serif CJK JP"/>
                <a:ea typeface="Noto Serif CJK JP"/>
              </a:rPr>
              <a:t>一套可对标、可量化、可诊断的流程智能成熟度评估工具</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2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流程管理的范式跃迁</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核心洞察：流程管理正从『文档化与执行合规』跃迁为『实时感知、预测洞察与AI原生自优化』</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1554480"/>
            <a:ext cx="11247120" cy="457200"/>
          </a:xfrm>
          <a:prstGeom prst="rect">
            <a:avLst/>
          </a:prstGeom>
          <a:noFill/>
        </p:spPr>
        <p:txBody>
          <a:bodyPr wrap="square" anchor="t" lIns="45720" rIns="45720" tIns="18288" bIns="18288">
            <a:spAutoFit/>
          </a:bodyPr>
          <a:lstStyle/>
          <a:p>
            <a:pPr algn="l"/>
            <a:r>
              <a:rPr sz="1800" b="1">
                <a:solidFill>
                  <a:srgbClr val="003366"/>
                </a:solidFill>
                <a:latin typeface="Noto Serif CJK JP"/>
                <a:ea typeface="Noto Serif CJK JP"/>
              </a:rPr>
              <a:t>衡量标准变化：从『有没有流程』，到『流程有多聪明』</a:t>
            </a:r>
          </a:p>
        </p:txBody>
      </p:sp>
      <p:sp>
        <p:nvSpPr>
          <p:cNvPr id="11" name="Rectangle 10"/>
          <p:cNvSpPr/>
          <p:nvPr/>
        </p:nvSpPr>
        <p:spPr>
          <a:xfrm>
            <a:off x="365760" y="2194560"/>
            <a:ext cx="1828800" cy="137160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5760" y="2286000"/>
            <a:ext cx="1828800" cy="365760"/>
          </a:xfrm>
          <a:prstGeom prst="rect">
            <a:avLst/>
          </a:prstGeom>
          <a:noFill/>
        </p:spPr>
        <p:txBody>
          <a:bodyPr wrap="square" anchor="t" lIns="45720" rIns="45720" tIns="18288" bIns="18288">
            <a:spAutoFit/>
          </a:bodyPr>
          <a:lstStyle/>
          <a:p>
            <a:pPr algn="ctr"/>
            <a:r>
              <a:rPr sz="1000" b="0">
                <a:solidFill>
                  <a:srgbClr val="FFFFFF"/>
                </a:solidFill>
                <a:latin typeface="Noto Serif CJK JP"/>
                <a:ea typeface="Noto Serif CJK JP"/>
              </a:rPr>
              <a:t>1890s</a:t>
            </a:r>
          </a:p>
        </p:txBody>
      </p:sp>
      <p:sp>
        <p:nvSpPr>
          <p:cNvPr id="13" name="TextBox 12"/>
          <p:cNvSpPr txBox="1"/>
          <p:nvPr/>
        </p:nvSpPr>
        <p:spPr>
          <a:xfrm>
            <a:off x="365760" y="2606040"/>
            <a:ext cx="1828800" cy="457200"/>
          </a:xfrm>
          <a:prstGeom prst="rect">
            <a:avLst/>
          </a:prstGeom>
          <a:noFill/>
        </p:spPr>
        <p:txBody>
          <a:bodyPr wrap="square" anchor="t" lIns="45720" rIns="45720" tIns="18288" bIns="18288">
            <a:spAutoFit/>
          </a:bodyPr>
          <a:lstStyle/>
          <a:p>
            <a:pPr algn="ctr"/>
            <a:r>
              <a:rPr sz="1200" b="1">
                <a:solidFill>
                  <a:srgbClr val="FFFFFF"/>
                </a:solidFill>
                <a:latin typeface="Noto Serif CJK JP"/>
                <a:ea typeface="Noto Serif CJK JP"/>
              </a:rPr>
              <a:t>泰勒科学管理</a:t>
            </a:r>
          </a:p>
        </p:txBody>
      </p:sp>
      <p:sp>
        <p:nvSpPr>
          <p:cNvPr id="14" name="TextBox 13"/>
          <p:cNvSpPr txBox="1"/>
          <p:nvPr/>
        </p:nvSpPr>
        <p:spPr>
          <a:xfrm>
            <a:off x="365760" y="3108960"/>
            <a:ext cx="1828800" cy="365760"/>
          </a:xfrm>
          <a:prstGeom prst="rect">
            <a:avLst/>
          </a:prstGeom>
          <a:noFill/>
        </p:spPr>
        <p:txBody>
          <a:bodyPr wrap="square" anchor="t" lIns="45720" rIns="45720" tIns="18288" bIns="18288">
            <a:spAutoFit/>
          </a:bodyPr>
          <a:lstStyle/>
          <a:p>
            <a:pPr algn="ctr"/>
            <a:r>
              <a:rPr sz="1000" b="0">
                <a:solidFill>
                  <a:srgbClr val="FFFFFF"/>
                </a:solidFill>
                <a:latin typeface="Noto Serif CJK JP"/>
                <a:ea typeface="Noto Serif CJK JP"/>
              </a:rPr>
              <a:t>标准动作</a:t>
            </a:r>
          </a:p>
        </p:txBody>
      </p:sp>
      <p:cxnSp>
        <p:nvCxnSpPr>
          <p:cNvPr id="15" name="Connector 14"/>
          <p:cNvCxnSpPr/>
          <p:nvPr/>
        </p:nvCxnSpPr>
        <p:spPr>
          <a:xfrm>
            <a:off x="2194560" y="2880360"/>
            <a:ext cx="137160" cy="0"/>
          </a:xfrm>
          <a:prstGeom prst="line">
            <a:avLst/>
          </a:prstGeom>
          <a:ln w="2540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331720" y="2194560"/>
            <a:ext cx="1828800" cy="137160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31720" y="2286000"/>
            <a:ext cx="1828800" cy="365760"/>
          </a:xfrm>
          <a:prstGeom prst="rect">
            <a:avLst/>
          </a:prstGeom>
          <a:noFill/>
        </p:spPr>
        <p:txBody>
          <a:bodyPr wrap="square" anchor="t" lIns="45720" rIns="45720" tIns="18288" bIns="18288">
            <a:spAutoFit/>
          </a:bodyPr>
          <a:lstStyle/>
          <a:p>
            <a:pPr algn="ctr"/>
            <a:r>
              <a:rPr sz="1000" b="0">
                <a:solidFill>
                  <a:srgbClr val="FFFFFF"/>
                </a:solidFill>
                <a:latin typeface="Noto Serif CJK JP"/>
                <a:ea typeface="Noto Serif CJK JP"/>
              </a:rPr>
              <a:t>1950s</a:t>
            </a:r>
          </a:p>
        </p:txBody>
      </p:sp>
      <p:sp>
        <p:nvSpPr>
          <p:cNvPr id="18" name="TextBox 17"/>
          <p:cNvSpPr txBox="1"/>
          <p:nvPr/>
        </p:nvSpPr>
        <p:spPr>
          <a:xfrm>
            <a:off x="2331720" y="2606040"/>
            <a:ext cx="1828800" cy="457200"/>
          </a:xfrm>
          <a:prstGeom prst="rect">
            <a:avLst/>
          </a:prstGeom>
          <a:noFill/>
        </p:spPr>
        <p:txBody>
          <a:bodyPr wrap="square" anchor="t" lIns="45720" rIns="45720" tIns="18288" bIns="18288">
            <a:spAutoFit/>
          </a:bodyPr>
          <a:lstStyle/>
          <a:p>
            <a:pPr algn="ctr"/>
            <a:r>
              <a:rPr sz="1200" b="1">
                <a:solidFill>
                  <a:srgbClr val="FFFFFF"/>
                </a:solidFill>
                <a:latin typeface="Noto Serif CJK JP"/>
                <a:ea typeface="Noto Serif CJK JP"/>
              </a:rPr>
              <a:t>丰田精益</a:t>
            </a:r>
          </a:p>
        </p:txBody>
      </p:sp>
      <p:sp>
        <p:nvSpPr>
          <p:cNvPr id="19" name="TextBox 18"/>
          <p:cNvSpPr txBox="1"/>
          <p:nvPr/>
        </p:nvSpPr>
        <p:spPr>
          <a:xfrm>
            <a:off x="2331720" y="3108960"/>
            <a:ext cx="1828800" cy="365760"/>
          </a:xfrm>
          <a:prstGeom prst="rect">
            <a:avLst/>
          </a:prstGeom>
          <a:noFill/>
        </p:spPr>
        <p:txBody>
          <a:bodyPr wrap="square" anchor="t" lIns="45720" rIns="45720" tIns="18288" bIns="18288">
            <a:spAutoFit/>
          </a:bodyPr>
          <a:lstStyle/>
          <a:p>
            <a:pPr algn="ctr"/>
            <a:r>
              <a:rPr sz="1000" b="0">
                <a:solidFill>
                  <a:srgbClr val="FFFFFF"/>
                </a:solidFill>
                <a:latin typeface="Noto Serif CJK JP"/>
                <a:ea typeface="Noto Serif CJK JP"/>
              </a:rPr>
              <a:t>消除浪费</a:t>
            </a:r>
          </a:p>
        </p:txBody>
      </p:sp>
      <p:cxnSp>
        <p:nvCxnSpPr>
          <p:cNvPr id="20" name="Connector 19"/>
          <p:cNvCxnSpPr/>
          <p:nvPr/>
        </p:nvCxnSpPr>
        <p:spPr>
          <a:xfrm>
            <a:off x="4160520" y="2880360"/>
            <a:ext cx="137160" cy="0"/>
          </a:xfrm>
          <a:prstGeom prst="line">
            <a:avLst/>
          </a:prstGeom>
          <a:ln w="2540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297680" y="2194560"/>
            <a:ext cx="1828800" cy="137160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297680" y="2286000"/>
            <a:ext cx="1828800" cy="365760"/>
          </a:xfrm>
          <a:prstGeom prst="rect">
            <a:avLst/>
          </a:prstGeom>
          <a:noFill/>
        </p:spPr>
        <p:txBody>
          <a:bodyPr wrap="square" anchor="t" lIns="45720" rIns="45720" tIns="18288" bIns="18288">
            <a:spAutoFit/>
          </a:bodyPr>
          <a:lstStyle/>
          <a:p>
            <a:pPr algn="ctr"/>
            <a:r>
              <a:rPr sz="1000" b="0">
                <a:solidFill>
                  <a:srgbClr val="FFFFFF"/>
                </a:solidFill>
                <a:latin typeface="Noto Serif CJK JP"/>
                <a:ea typeface="Noto Serif CJK JP"/>
              </a:rPr>
              <a:t>1987</a:t>
            </a:r>
          </a:p>
        </p:txBody>
      </p:sp>
      <p:sp>
        <p:nvSpPr>
          <p:cNvPr id="23" name="TextBox 22"/>
          <p:cNvSpPr txBox="1"/>
          <p:nvPr/>
        </p:nvSpPr>
        <p:spPr>
          <a:xfrm>
            <a:off x="4297680" y="2606040"/>
            <a:ext cx="1828800" cy="457200"/>
          </a:xfrm>
          <a:prstGeom prst="rect">
            <a:avLst/>
          </a:prstGeom>
          <a:noFill/>
        </p:spPr>
        <p:txBody>
          <a:bodyPr wrap="square" anchor="t" lIns="45720" rIns="45720" tIns="18288" bIns="18288">
            <a:spAutoFit/>
          </a:bodyPr>
          <a:lstStyle/>
          <a:p>
            <a:pPr algn="ctr"/>
            <a:r>
              <a:rPr sz="1200" b="1">
                <a:solidFill>
                  <a:srgbClr val="FFFFFF"/>
                </a:solidFill>
                <a:latin typeface="Noto Serif CJK JP"/>
                <a:ea typeface="Noto Serif CJK JP"/>
              </a:rPr>
              <a:t>ISO 9000</a:t>
            </a:r>
          </a:p>
        </p:txBody>
      </p:sp>
      <p:sp>
        <p:nvSpPr>
          <p:cNvPr id="24" name="TextBox 23"/>
          <p:cNvSpPr txBox="1"/>
          <p:nvPr/>
        </p:nvSpPr>
        <p:spPr>
          <a:xfrm>
            <a:off x="4297680" y="3108960"/>
            <a:ext cx="1828800" cy="365760"/>
          </a:xfrm>
          <a:prstGeom prst="rect">
            <a:avLst/>
          </a:prstGeom>
          <a:noFill/>
        </p:spPr>
        <p:txBody>
          <a:bodyPr wrap="square" anchor="t" lIns="45720" rIns="45720" tIns="18288" bIns="18288">
            <a:spAutoFit/>
          </a:bodyPr>
          <a:lstStyle/>
          <a:p>
            <a:pPr algn="ctr"/>
            <a:r>
              <a:rPr sz="1000" b="0">
                <a:solidFill>
                  <a:srgbClr val="FFFFFF"/>
                </a:solidFill>
                <a:latin typeface="Noto Serif CJK JP"/>
                <a:ea typeface="Noto Serif CJK JP"/>
              </a:rPr>
              <a:t>质量体系</a:t>
            </a:r>
          </a:p>
        </p:txBody>
      </p:sp>
      <p:cxnSp>
        <p:nvCxnSpPr>
          <p:cNvPr id="25" name="Connector 24"/>
          <p:cNvCxnSpPr/>
          <p:nvPr/>
        </p:nvCxnSpPr>
        <p:spPr>
          <a:xfrm>
            <a:off x="6126480" y="2880360"/>
            <a:ext cx="137160" cy="0"/>
          </a:xfrm>
          <a:prstGeom prst="line">
            <a:avLst/>
          </a:prstGeom>
          <a:ln w="2540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263640" y="2194560"/>
            <a:ext cx="1828800" cy="137160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263640" y="2286000"/>
            <a:ext cx="1828800" cy="365760"/>
          </a:xfrm>
          <a:prstGeom prst="rect">
            <a:avLst/>
          </a:prstGeom>
          <a:noFill/>
        </p:spPr>
        <p:txBody>
          <a:bodyPr wrap="square" anchor="t" lIns="45720" rIns="45720" tIns="18288" bIns="18288">
            <a:spAutoFit/>
          </a:bodyPr>
          <a:lstStyle/>
          <a:p>
            <a:pPr algn="ctr"/>
            <a:r>
              <a:rPr sz="1000" b="0">
                <a:solidFill>
                  <a:srgbClr val="FFFFFF"/>
                </a:solidFill>
                <a:latin typeface="Noto Serif CJK JP"/>
                <a:ea typeface="Noto Serif CJK JP"/>
              </a:rPr>
              <a:t>1986</a:t>
            </a:r>
          </a:p>
        </p:txBody>
      </p:sp>
      <p:sp>
        <p:nvSpPr>
          <p:cNvPr id="28" name="TextBox 27"/>
          <p:cNvSpPr txBox="1"/>
          <p:nvPr/>
        </p:nvSpPr>
        <p:spPr>
          <a:xfrm>
            <a:off x="6263640" y="2606040"/>
            <a:ext cx="1828800" cy="457200"/>
          </a:xfrm>
          <a:prstGeom prst="rect">
            <a:avLst/>
          </a:prstGeom>
          <a:noFill/>
        </p:spPr>
        <p:txBody>
          <a:bodyPr wrap="square" anchor="t" lIns="45720" rIns="45720" tIns="18288" bIns="18288">
            <a:spAutoFit/>
          </a:bodyPr>
          <a:lstStyle/>
          <a:p>
            <a:pPr algn="ctr"/>
            <a:r>
              <a:rPr sz="1200" b="1">
                <a:solidFill>
                  <a:srgbClr val="FFFFFF"/>
                </a:solidFill>
                <a:latin typeface="Noto Serif CJK JP"/>
                <a:ea typeface="Noto Serif CJK JP"/>
              </a:rPr>
              <a:t>六西格玛</a:t>
            </a:r>
          </a:p>
        </p:txBody>
      </p:sp>
      <p:sp>
        <p:nvSpPr>
          <p:cNvPr id="29" name="TextBox 28"/>
          <p:cNvSpPr txBox="1"/>
          <p:nvPr/>
        </p:nvSpPr>
        <p:spPr>
          <a:xfrm>
            <a:off x="6263640" y="3108960"/>
            <a:ext cx="1828800" cy="365760"/>
          </a:xfrm>
          <a:prstGeom prst="rect">
            <a:avLst/>
          </a:prstGeom>
          <a:noFill/>
        </p:spPr>
        <p:txBody>
          <a:bodyPr wrap="square" anchor="t" lIns="45720" rIns="45720" tIns="18288" bIns="18288">
            <a:spAutoFit/>
          </a:bodyPr>
          <a:lstStyle/>
          <a:p>
            <a:pPr algn="ctr"/>
            <a:r>
              <a:rPr sz="1000" b="0">
                <a:solidFill>
                  <a:srgbClr val="FFFFFF"/>
                </a:solidFill>
                <a:latin typeface="Noto Serif CJK JP"/>
                <a:ea typeface="Noto Serif CJK JP"/>
              </a:rPr>
              <a:t>统计改进</a:t>
            </a:r>
          </a:p>
        </p:txBody>
      </p:sp>
      <p:cxnSp>
        <p:nvCxnSpPr>
          <p:cNvPr id="30" name="Connector 29"/>
          <p:cNvCxnSpPr/>
          <p:nvPr/>
        </p:nvCxnSpPr>
        <p:spPr>
          <a:xfrm>
            <a:off x="8092440" y="2880360"/>
            <a:ext cx="137160" cy="0"/>
          </a:xfrm>
          <a:prstGeom prst="line">
            <a:avLst/>
          </a:prstGeom>
          <a:ln w="2540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229600" y="2194560"/>
            <a:ext cx="1828800" cy="137160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0" y="2286000"/>
            <a:ext cx="1828800" cy="365760"/>
          </a:xfrm>
          <a:prstGeom prst="rect">
            <a:avLst/>
          </a:prstGeom>
          <a:noFill/>
        </p:spPr>
        <p:txBody>
          <a:bodyPr wrap="square" anchor="t" lIns="45720" rIns="45720" tIns="18288" bIns="18288">
            <a:spAutoFit/>
          </a:bodyPr>
          <a:lstStyle/>
          <a:p>
            <a:pPr algn="ctr"/>
            <a:r>
              <a:rPr sz="1000" b="0">
                <a:solidFill>
                  <a:srgbClr val="FFFFFF"/>
                </a:solidFill>
                <a:latin typeface="Noto Serif CJK JP"/>
                <a:ea typeface="Noto Serif CJK JP"/>
              </a:rPr>
              <a:t>2010s</a:t>
            </a:r>
          </a:p>
        </p:txBody>
      </p:sp>
      <p:sp>
        <p:nvSpPr>
          <p:cNvPr id="33" name="TextBox 32"/>
          <p:cNvSpPr txBox="1"/>
          <p:nvPr/>
        </p:nvSpPr>
        <p:spPr>
          <a:xfrm>
            <a:off x="8229600" y="2606040"/>
            <a:ext cx="1828800" cy="457200"/>
          </a:xfrm>
          <a:prstGeom prst="rect">
            <a:avLst/>
          </a:prstGeom>
          <a:noFill/>
        </p:spPr>
        <p:txBody>
          <a:bodyPr wrap="square" anchor="t" lIns="45720" rIns="45720" tIns="18288" bIns="18288">
            <a:spAutoFit/>
          </a:bodyPr>
          <a:lstStyle/>
          <a:p>
            <a:pPr algn="ctr"/>
            <a:r>
              <a:rPr sz="1200" b="1">
                <a:solidFill>
                  <a:srgbClr val="FFFFFF"/>
                </a:solidFill>
                <a:latin typeface="Noto Serif CJK JP"/>
                <a:ea typeface="Noto Serif CJK JP"/>
              </a:rPr>
              <a:t>数字化流程</a:t>
            </a:r>
          </a:p>
        </p:txBody>
      </p:sp>
      <p:sp>
        <p:nvSpPr>
          <p:cNvPr id="34" name="TextBox 33"/>
          <p:cNvSpPr txBox="1"/>
          <p:nvPr/>
        </p:nvSpPr>
        <p:spPr>
          <a:xfrm>
            <a:off x="8229600" y="3108960"/>
            <a:ext cx="1828800" cy="365760"/>
          </a:xfrm>
          <a:prstGeom prst="rect">
            <a:avLst/>
          </a:prstGeom>
          <a:noFill/>
        </p:spPr>
        <p:txBody>
          <a:bodyPr wrap="square" anchor="t" lIns="45720" rIns="45720" tIns="18288" bIns="18288">
            <a:spAutoFit/>
          </a:bodyPr>
          <a:lstStyle/>
          <a:p>
            <a:pPr algn="ctr"/>
            <a:r>
              <a:rPr sz="1000" b="0">
                <a:solidFill>
                  <a:srgbClr val="FFFFFF"/>
                </a:solidFill>
                <a:latin typeface="Noto Serif CJK JP"/>
                <a:ea typeface="Noto Serif CJK JP"/>
              </a:rPr>
              <a:t>线上协同</a:t>
            </a:r>
          </a:p>
        </p:txBody>
      </p:sp>
      <p:cxnSp>
        <p:nvCxnSpPr>
          <p:cNvPr id="35" name="Connector 34"/>
          <p:cNvCxnSpPr/>
          <p:nvPr/>
        </p:nvCxnSpPr>
        <p:spPr>
          <a:xfrm>
            <a:off x="10058400" y="2880360"/>
            <a:ext cx="137160" cy="0"/>
          </a:xfrm>
          <a:prstGeom prst="line">
            <a:avLst/>
          </a:prstGeom>
          <a:ln w="2540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0195560" y="2194560"/>
            <a:ext cx="1828800" cy="1371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195560" y="2286000"/>
            <a:ext cx="1828800" cy="365760"/>
          </a:xfrm>
          <a:prstGeom prst="rect">
            <a:avLst/>
          </a:prstGeom>
          <a:noFill/>
        </p:spPr>
        <p:txBody>
          <a:bodyPr wrap="square" anchor="t" lIns="45720" rIns="45720" tIns="18288" bIns="18288">
            <a:spAutoFit/>
          </a:bodyPr>
          <a:lstStyle/>
          <a:p>
            <a:pPr algn="ctr"/>
            <a:r>
              <a:rPr sz="1000" b="0">
                <a:solidFill>
                  <a:srgbClr val="FFFFFF"/>
                </a:solidFill>
                <a:latin typeface="Noto Serif CJK JP"/>
                <a:ea typeface="Noto Serif CJK JP"/>
              </a:rPr>
              <a:t>2025+</a:t>
            </a:r>
          </a:p>
        </p:txBody>
      </p:sp>
      <p:sp>
        <p:nvSpPr>
          <p:cNvPr id="38" name="TextBox 37"/>
          <p:cNvSpPr txBox="1"/>
          <p:nvPr/>
        </p:nvSpPr>
        <p:spPr>
          <a:xfrm>
            <a:off x="10195560" y="2606040"/>
            <a:ext cx="1828800" cy="457200"/>
          </a:xfrm>
          <a:prstGeom prst="rect">
            <a:avLst/>
          </a:prstGeom>
          <a:noFill/>
        </p:spPr>
        <p:txBody>
          <a:bodyPr wrap="square" anchor="t" lIns="45720" rIns="45720" tIns="18288" bIns="18288">
            <a:spAutoFit/>
          </a:bodyPr>
          <a:lstStyle/>
          <a:p>
            <a:pPr algn="ctr"/>
            <a:r>
              <a:rPr sz="1200" b="1">
                <a:solidFill>
                  <a:srgbClr val="FFFFFF"/>
                </a:solidFill>
                <a:latin typeface="Noto Serif CJK JP"/>
                <a:ea typeface="Noto Serif CJK JP"/>
              </a:rPr>
              <a:t>AI原生流程</a:t>
            </a:r>
          </a:p>
        </p:txBody>
      </p:sp>
      <p:sp>
        <p:nvSpPr>
          <p:cNvPr id="39" name="TextBox 38"/>
          <p:cNvSpPr txBox="1"/>
          <p:nvPr/>
        </p:nvSpPr>
        <p:spPr>
          <a:xfrm>
            <a:off x="10195560" y="3108960"/>
            <a:ext cx="1828800" cy="365760"/>
          </a:xfrm>
          <a:prstGeom prst="rect">
            <a:avLst/>
          </a:prstGeom>
          <a:noFill/>
        </p:spPr>
        <p:txBody>
          <a:bodyPr wrap="square" anchor="t" lIns="45720" rIns="45720" tIns="18288" bIns="18288">
            <a:spAutoFit/>
          </a:bodyPr>
          <a:lstStyle/>
          <a:p>
            <a:pPr algn="ctr"/>
            <a:r>
              <a:rPr sz="1000" b="0">
                <a:solidFill>
                  <a:srgbClr val="FFFFFF"/>
                </a:solidFill>
                <a:latin typeface="Noto Serif CJK JP"/>
                <a:ea typeface="Noto Serif CJK JP"/>
              </a:rPr>
              <a:t>自主进化</a:t>
            </a:r>
          </a:p>
        </p:txBody>
      </p:sp>
      <p:sp>
        <p:nvSpPr>
          <p:cNvPr id="40" name="TextBox 39"/>
          <p:cNvSpPr txBox="1"/>
          <p:nvPr/>
        </p:nvSpPr>
        <p:spPr>
          <a:xfrm>
            <a:off x="457200" y="3840480"/>
            <a:ext cx="5486400" cy="365760"/>
          </a:xfrm>
          <a:prstGeom prst="rect">
            <a:avLst/>
          </a:prstGeom>
          <a:noFill/>
        </p:spPr>
        <p:txBody>
          <a:bodyPr wrap="square" anchor="t" lIns="45720" rIns="45720" tIns="18288" bIns="18288">
            <a:spAutoFit/>
          </a:bodyPr>
          <a:lstStyle/>
          <a:p>
            <a:pPr algn="l"/>
            <a:r>
              <a:rPr sz="1600" b="1">
                <a:solidFill>
                  <a:srgbClr val="003366"/>
                </a:solidFill>
                <a:latin typeface="Noto Serif CJK JP"/>
                <a:ea typeface="Noto Serif CJK JP"/>
              </a:rPr>
              <a:t>2026 两大里程碑</a:t>
            </a:r>
          </a:p>
        </p:txBody>
      </p:sp>
      <p:sp>
        <p:nvSpPr>
          <p:cNvPr id="41" name="Rectangle 40"/>
          <p:cNvSpPr/>
          <p:nvPr/>
        </p:nvSpPr>
        <p:spPr>
          <a:xfrm>
            <a:off x="457200" y="4297680"/>
            <a:ext cx="5486400"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 y="4389120"/>
            <a:ext cx="5212080" cy="1005840"/>
          </a:xfrm>
          <a:prstGeom prst="rect">
            <a:avLst/>
          </a:prstGeom>
          <a:noFill/>
        </p:spPr>
        <p:txBody>
          <a:bodyPr wrap="square" lIns="45720" rIns="45720">
            <a:spAutoFit/>
          </a:bodyPr>
          <a:lstStyle/>
          <a:p>
            <a:pPr algn="l">
              <a:lnSpc>
                <a:spcPct val="130000"/>
              </a:lnSpc>
            </a:pPr>
            <a:r>
              <a:rPr sz="1200" b="0">
                <a:solidFill>
                  <a:srgbClr val="333333"/>
                </a:solidFill>
                <a:latin typeface="Noto Serif CJK JP"/>
                <a:ea typeface="Noto Serif CJK JP"/>
              </a:rPr>
              <a:t>• APQC 发布 PCF v8.0（自 1992 年来重大升级）</a:t>
            </a:r>
          </a:p>
          <a:p>
            <a:pPr algn="l">
              <a:lnSpc>
                <a:spcPct val="130000"/>
              </a:lnSpc>
            </a:pPr>
            <a:r>
              <a:rPr sz="1200" b="0">
                <a:solidFill>
                  <a:srgbClr val="333333"/>
                </a:solidFill>
                <a:latin typeface="Noto Serif CJK JP"/>
                <a:ea typeface="Noto Serif CJK JP"/>
              </a:rPr>
              <a:t>• Gartner 发布首份《流程智能魔力象限》</a:t>
            </a:r>
          </a:p>
          <a:p>
            <a:pPr algn="l">
              <a:lnSpc>
                <a:spcPct val="130000"/>
              </a:lnSpc>
            </a:pPr>
            <a:r>
              <a:rPr sz="1200" b="0">
                <a:solidFill>
                  <a:srgbClr val="333333"/>
                </a:solidFill>
                <a:latin typeface="Noto Serif CJK JP"/>
                <a:ea typeface="Noto Serif CJK JP"/>
              </a:rPr>
              <a:t>• 标准框架升级与技术品类升级同步发生</a:t>
            </a:r>
          </a:p>
        </p:txBody>
      </p:sp>
      <p:sp>
        <p:nvSpPr>
          <p:cNvPr id="43" name="TextBox 42"/>
          <p:cNvSpPr txBox="1"/>
          <p:nvPr/>
        </p:nvSpPr>
        <p:spPr>
          <a:xfrm>
            <a:off x="6400800" y="3840480"/>
            <a:ext cx="5486400" cy="365760"/>
          </a:xfrm>
          <a:prstGeom prst="rect">
            <a:avLst/>
          </a:prstGeom>
          <a:noFill/>
        </p:spPr>
        <p:txBody>
          <a:bodyPr wrap="square" anchor="t" lIns="45720" rIns="45720" tIns="18288" bIns="18288">
            <a:spAutoFit/>
          </a:bodyPr>
          <a:lstStyle/>
          <a:p>
            <a:pPr algn="l"/>
            <a:r>
              <a:rPr sz="1600" b="1">
                <a:solidFill>
                  <a:srgbClr val="003366"/>
                </a:solidFill>
                <a:latin typeface="Noto Serif CJK JP"/>
                <a:ea typeface="Noto Serif CJK JP"/>
              </a:rPr>
              <a:t>流程挖掘 vs 流程智能</a:t>
            </a:r>
          </a:p>
        </p:txBody>
      </p:sp>
      <p:sp>
        <p:nvSpPr>
          <p:cNvPr id="44" name="Rectangle 43"/>
          <p:cNvSpPr/>
          <p:nvPr/>
        </p:nvSpPr>
        <p:spPr>
          <a:xfrm>
            <a:off x="6400800" y="4297680"/>
            <a:ext cx="5486400"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583680" y="4389120"/>
            <a:ext cx="5212080" cy="1005840"/>
          </a:xfrm>
          <a:prstGeom prst="rect">
            <a:avLst/>
          </a:prstGeom>
          <a:noFill/>
        </p:spPr>
        <p:txBody>
          <a:bodyPr wrap="square" lIns="45720" rIns="45720">
            <a:spAutoFit/>
          </a:bodyPr>
          <a:lstStyle/>
          <a:p>
            <a:pPr algn="l">
              <a:lnSpc>
                <a:spcPct val="130000"/>
              </a:lnSpc>
            </a:pPr>
            <a:r>
              <a:rPr sz="1200" b="0">
                <a:solidFill>
                  <a:srgbClr val="333333"/>
                </a:solidFill>
                <a:latin typeface="Noto Serif CJK JP"/>
                <a:ea typeface="Noto Serif CJK JP"/>
              </a:rPr>
              <a:t>流程挖掘：事后还原、瓶颈识别、流程可视化</a:t>
            </a:r>
          </a:p>
          <a:p>
            <a:pPr algn="l">
              <a:lnSpc>
                <a:spcPct val="130000"/>
              </a:lnSpc>
            </a:pPr>
            <a:r>
              <a:rPr sz="1200" b="1">
                <a:solidFill>
                  <a:srgbClr val="D01F26"/>
                </a:solidFill>
                <a:latin typeface="Noto Serif CJK JP"/>
                <a:ea typeface="Noto Serif CJK JP"/>
              </a:rPr>
              <a:t>流程智能：实时分析、预测洞察、AI 决策</a:t>
            </a:r>
          </a:p>
          <a:p>
            <a:pPr algn="l">
              <a:lnSpc>
                <a:spcPct val="130000"/>
              </a:lnSpc>
            </a:pPr>
            <a:r>
              <a:rPr sz="1200" b="0">
                <a:solidFill>
                  <a:srgbClr val="333333"/>
                </a:solidFill>
                <a:latin typeface="Noto Serif CJK JP"/>
                <a:ea typeface="Noto Serif CJK JP"/>
              </a:rPr>
              <a:t>核心差异：流程智能为 AI 提供运营上下文</a:t>
            </a:r>
          </a:p>
        </p:txBody>
      </p:sp>
      <p:sp>
        <p:nvSpPr>
          <p:cNvPr id="46" name="TextBox 45"/>
          <p:cNvSpPr txBox="1"/>
          <p:nvPr/>
        </p:nvSpPr>
        <p:spPr>
          <a:xfrm>
            <a:off x="457200" y="5577840"/>
            <a:ext cx="11247120" cy="365760"/>
          </a:xfrm>
          <a:prstGeom prst="rect">
            <a:avLst/>
          </a:prstGeom>
          <a:noFill/>
        </p:spPr>
        <p:txBody>
          <a:bodyPr wrap="square" anchor="t" lIns="45720" rIns="45720" tIns="18288" bIns="18288">
            <a:spAutoFit/>
          </a:bodyPr>
          <a:lstStyle/>
          <a:p>
            <a:pPr algn="l"/>
            <a:r>
              <a:rPr sz="1400" b="1">
                <a:solidFill>
                  <a:srgbClr val="003366"/>
                </a:solidFill>
                <a:latin typeface="Noto Serif CJK JP"/>
                <a:ea typeface="Noto Serif CJK JP"/>
              </a:rPr>
              <a:t>企业现状（流程空转风险链路）</a:t>
            </a:r>
          </a:p>
        </p:txBody>
      </p:sp>
      <p:sp>
        <p:nvSpPr>
          <p:cNvPr id="47" name="TextBox 46"/>
          <p:cNvSpPr txBox="1"/>
          <p:nvPr/>
        </p:nvSpPr>
        <p:spPr>
          <a:xfrm>
            <a:off x="457200" y="5943600"/>
            <a:ext cx="1371600" cy="457200"/>
          </a:xfrm>
          <a:prstGeom prst="rect">
            <a:avLst/>
          </a:prstGeom>
          <a:noFill/>
        </p:spPr>
        <p:txBody>
          <a:bodyPr wrap="square" anchor="t" lIns="45720" rIns="45720" tIns="18288" bIns="18288">
            <a:spAutoFit/>
          </a:bodyPr>
          <a:lstStyle/>
          <a:p>
            <a:pPr algn="ctr"/>
            <a:r>
              <a:rPr sz="2200" b="1">
                <a:solidFill>
                  <a:srgbClr val="D01F26"/>
                </a:solidFill>
                <a:latin typeface="Noto Serif CJK JP"/>
                <a:ea typeface="Noto Serif CJK JP"/>
              </a:rPr>
              <a:t>70%</a:t>
            </a:r>
          </a:p>
        </p:txBody>
      </p:sp>
      <p:sp>
        <p:nvSpPr>
          <p:cNvPr id="48" name="TextBox 47"/>
          <p:cNvSpPr txBox="1"/>
          <p:nvPr/>
        </p:nvSpPr>
        <p:spPr>
          <a:xfrm>
            <a:off x="457200" y="6400800"/>
            <a:ext cx="1371600" cy="182880"/>
          </a:xfrm>
          <a:prstGeom prst="rect">
            <a:avLst/>
          </a:prstGeom>
          <a:noFill/>
        </p:spPr>
        <p:txBody>
          <a:bodyPr wrap="square" anchor="t" lIns="45720" rIns="45720" tIns="18288" bIns="18288">
            <a:spAutoFit/>
          </a:bodyPr>
          <a:lstStyle/>
          <a:p>
            <a:pPr algn="ctr"/>
            <a:r>
              <a:rPr sz="900" b="0">
                <a:solidFill>
                  <a:srgbClr val="666666"/>
                </a:solidFill>
                <a:latin typeface="Noto Serif CJK JP"/>
                <a:ea typeface="Noto Serif CJK JP"/>
              </a:rPr>
              <a:t>流程仍停留文档/制度</a:t>
            </a:r>
          </a:p>
        </p:txBody>
      </p:sp>
      <p:sp>
        <p:nvSpPr>
          <p:cNvPr id="49" name="TextBox 48"/>
          <p:cNvSpPr txBox="1"/>
          <p:nvPr/>
        </p:nvSpPr>
        <p:spPr>
          <a:xfrm>
            <a:off x="2103120" y="5943600"/>
            <a:ext cx="457200" cy="457200"/>
          </a:xfrm>
          <a:prstGeom prst="rect">
            <a:avLst/>
          </a:prstGeom>
          <a:noFill/>
        </p:spPr>
        <p:txBody>
          <a:bodyPr wrap="square" anchor="t" lIns="45720" rIns="45720" tIns="18288" bIns="18288">
            <a:spAutoFit/>
          </a:bodyPr>
          <a:lstStyle/>
          <a:p>
            <a:pPr algn="ctr"/>
            <a:r>
              <a:rPr sz="2400" b="1">
                <a:solidFill>
                  <a:srgbClr val="003366"/>
                </a:solidFill>
                <a:latin typeface="Noto Serif CJK JP"/>
                <a:ea typeface="Noto Serif CJK JP"/>
              </a:rPr>
              <a:t>→</a:t>
            </a:r>
          </a:p>
        </p:txBody>
      </p:sp>
      <p:sp>
        <p:nvSpPr>
          <p:cNvPr id="50" name="TextBox 49"/>
          <p:cNvSpPr txBox="1"/>
          <p:nvPr/>
        </p:nvSpPr>
        <p:spPr>
          <a:xfrm>
            <a:off x="2651760" y="5943600"/>
            <a:ext cx="1371600" cy="457200"/>
          </a:xfrm>
          <a:prstGeom prst="rect">
            <a:avLst/>
          </a:prstGeom>
          <a:noFill/>
        </p:spPr>
        <p:txBody>
          <a:bodyPr wrap="square" anchor="t" lIns="45720" rIns="45720" tIns="18288" bIns="18288">
            <a:spAutoFit/>
          </a:bodyPr>
          <a:lstStyle/>
          <a:p>
            <a:pPr algn="ctr"/>
            <a:r>
              <a:rPr sz="2200" b="1">
                <a:solidFill>
                  <a:srgbClr val="D01F26"/>
                </a:solidFill>
                <a:latin typeface="Noto Serif CJK JP"/>
                <a:ea typeface="Noto Serif CJK JP"/>
              </a:rPr>
              <a:t>90%</a:t>
            </a:r>
          </a:p>
        </p:txBody>
      </p:sp>
      <p:sp>
        <p:nvSpPr>
          <p:cNvPr id="51" name="TextBox 50"/>
          <p:cNvSpPr txBox="1"/>
          <p:nvPr/>
        </p:nvSpPr>
        <p:spPr>
          <a:xfrm>
            <a:off x="2651760" y="6400800"/>
            <a:ext cx="1371600" cy="182880"/>
          </a:xfrm>
          <a:prstGeom prst="rect">
            <a:avLst/>
          </a:prstGeom>
          <a:noFill/>
        </p:spPr>
        <p:txBody>
          <a:bodyPr wrap="square" anchor="t" lIns="45720" rIns="45720" tIns="18288" bIns="18288">
            <a:spAutoFit/>
          </a:bodyPr>
          <a:lstStyle/>
          <a:p>
            <a:pPr algn="ctr"/>
            <a:r>
              <a:rPr sz="900" b="0">
                <a:solidFill>
                  <a:srgbClr val="666666"/>
                </a:solidFill>
                <a:latin typeface="Noto Serif CJK JP"/>
                <a:ea typeface="Noto Serif CJK JP"/>
              </a:rPr>
              <a:t>执行数据未采集</a:t>
            </a:r>
          </a:p>
        </p:txBody>
      </p:sp>
      <p:sp>
        <p:nvSpPr>
          <p:cNvPr id="52" name="TextBox 51"/>
          <p:cNvSpPr txBox="1"/>
          <p:nvPr/>
        </p:nvSpPr>
        <p:spPr>
          <a:xfrm>
            <a:off x="4297680" y="5943600"/>
            <a:ext cx="457200" cy="457200"/>
          </a:xfrm>
          <a:prstGeom prst="rect">
            <a:avLst/>
          </a:prstGeom>
          <a:noFill/>
        </p:spPr>
        <p:txBody>
          <a:bodyPr wrap="square" anchor="t" lIns="45720" rIns="45720" tIns="18288" bIns="18288">
            <a:spAutoFit/>
          </a:bodyPr>
          <a:lstStyle/>
          <a:p>
            <a:pPr algn="ctr"/>
            <a:r>
              <a:rPr sz="2400" b="1">
                <a:solidFill>
                  <a:srgbClr val="003366"/>
                </a:solidFill>
                <a:latin typeface="Noto Serif CJK JP"/>
                <a:ea typeface="Noto Serif CJK JP"/>
              </a:rPr>
              <a:t>→</a:t>
            </a:r>
          </a:p>
        </p:txBody>
      </p:sp>
      <p:sp>
        <p:nvSpPr>
          <p:cNvPr id="53" name="TextBox 52"/>
          <p:cNvSpPr txBox="1"/>
          <p:nvPr/>
        </p:nvSpPr>
        <p:spPr>
          <a:xfrm>
            <a:off x="4846320" y="5943600"/>
            <a:ext cx="1371600" cy="457200"/>
          </a:xfrm>
          <a:prstGeom prst="rect">
            <a:avLst/>
          </a:prstGeom>
          <a:noFill/>
        </p:spPr>
        <p:txBody>
          <a:bodyPr wrap="square" anchor="t" lIns="45720" rIns="45720" tIns="18288" bIns="18288">
            <a:spAutoFit/>
          </a:bodyPr>
          <a:lstStyle/>
          <a:p>
            <a:pPr algn="ctr"/>
            <a:r>
              <a:rPr sz="2200" b="1">
                <a:solidFill>
                  <a:srgbClr val="D01F26"/>
                </a:solidFill>
                <a:latin typeface="Noto Serif CJK JP"/>
                <a:ea typeface="Noto Serif CJK JP"/>
              </a:rPr>
              <a:t>7%</a:t>
            </a:r>
          </a:p>
        </p:txBody>
      </p:sp>
      <p:sp>
        <p:nvSpPr>
          <p:cNvPr id="54" name="TextBox 53"/>
          <p:cNvSpPr txBox="1"/>
          <p:nvPr/>
        </p:nvSpPr>
        <p:spPr>
          <a:xfrm>
            <a:off x="4846320" y="6400800"/>
            <a:ext cx="1371600" cy="182880"/>
          </a:xfrm>
          <a:prstGeom prst="rect">
            <a:avLst/>
          </a:prstGeom>
          <a:noFill/>
        </p:spPr>
        <p:txBody>
          <a:bodyPr wrap="square" anchor="t" lIns="45720" rIns="45720" tIns="18288" bIns="18288">
            <a:spAutoFit/>
          </a:bodyPr>
          <a:lstStyle/>
          <a:p>
            <a:pPr algn="ctr"/>
            <a:r>
              <a:rPr sz="900" b="0">
                <a:solidFill>
                  <a:srgbClr val="666666"/>
                </a:solidFill>
                <a:latin typeface="Noto Serif CJK JP"/>
                <a:ea typeface="Noto Serif CJK JP"/>
              </a:rPr>
              <a:t>预测准确率≥90%</a:t>
            </a:r>
          </a:p>
        </p:txBody>
      </p:sp>
      <p:sp>
        <p:nvSpPr>
          <p:cNvPr id="55" name="Rectangle 54"/>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强结论：流程智能成熟度不是流程部门的内部工具，而是企业 AI 规模化成功的操作系统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3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主流流程成熟度模型对标</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华为（拆解执行）→ APQC（分类对标）→ Gartner（智能技术）→ AI 时代流程成熟度底座</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57200" y="1554480"/>
            <a:ext cx="3657600" cy="182880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1691640"/>
            <a:ext cx="3657600" cy="457200"/>
          </a:xfrm>
          <a:prstGeom prst="rect">
            <a:avLst/>
          </a:prstGeom>
          <a:noFill/>
        </p:spPr>
        <p:txBody>
          <a:bodyPr wrap="square" anchor="ctr" lIns="45720" rIns="45720" tIns="18288" bIns="18288">
            <a:spAutoFit/>
          </a:bodyPr>
          <a:lstStyle/>
          <a:p>
            <a:pPr algn="ctr"/>
            <a:r>
              <a:rPr sz="2400" b="1">
                <a:solidFill>
                  <a:srgbClr val="FFFFFF"/>
                </a:solidFill>
                <a:latin typeface="Noto Serif CJK JP"/>
                <a:ea typeface="Noto Serif CJK JP"/>
              </a:rPr>
              <a:t>华为</a:t>
            </a:r>
          </a:p>
        </p:txBody>
      </p:sp>
      <p:sp>
        <p:nvSpPr>
          <p:cNvPr id="12" name="Rectangle 11"/>
          <p:cNvSpPr/>
          <p:nvPr/>
        </p:nvSpPr>
        <p:spPr>
          <a:xfrm>
            <a:off x="457200" y="2194560"/>
            <a:ext cx="3657600" cy="18288"/>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2286000"/>
            <a:ext cx="3657600" cy="274320"/>
          </a:xfrm>
          <a:prstGeom prst="rect">
            <a:avLst/>
          </a:prstGeom>
          <a:noFill/>
        </p:spPr>
        <p:txBody>
          <a:bodyPr wrap="square" anchor="t" lIns="45720" rIns="45720" tIns="18288" bIns="18288">
            <a:spAutoFit/>
          </a:bodyPr>
          <a:lstStyle/>
          <a:p>
            <a:pPr algn="ctr"/>
            <a:r>
              <a:rPr sz="1300" b="0">
                <a:solidFill>
                  <a:srgbClr val="FFFFFF"/>
                </a:solidFill>
                <a:latin typeface="Noto Serif CJK JP"/>
                <a:ea typeface="Noto Serif CJK JP"/>
              </a:rPr>
              <a:t>L1-L6 分层</a:t>
            </a:r>
          </a:p>
        </p:txBody>
      </p:sp>
      <p:sp>
        <p:nvSpPr>
          <p:cNvPr id="14" name="TextBox 13"/>
          <p:cNvSpPr txBox="1"/>
          <p:nvPr/>
        </p:nvSpPr>
        <p:spPr>
          <a:xfrm>
            <a:off x="457200" y="2606040"/>
            <a:ext cx="3657600" cy="274320"/>
          </a:xfrm>
          <a:prstGeom prst="rect">
            <a:avLst/>
          </a:prstGeom>
          <a:noFill/>
        </p:spPr>
        <p:txBody>
          <a:bodyPr wrap="square" anchor="t" lIns="45720" rIns="45720" tIns="18288" bIns="18288">
            <a:spAutoFit/>
          </a:bodyPr>
          <a:lstStyle/>
          <a:p>
            <a:pPr algn="ctr"/>
            <a:r>
              <a:rPr sz="1200" b="0">
                <a:solidFill>
                  <a:srgbClr val="CCDDEE"/>
                </a:solidFill>
                <a:latin typeface="Noto Serif CJK JP"/>
                <a:ea typeface="Noto Serif CJK JP"/>
              </a:rPr>
              <a:t>5 维 13 因子</a:t>
            </a:r>
          </a:p>
        </p:txBody>
      </p:sp>
      <p:sp>
        <p:nvSpPr>
          <p:cNvPr id="15" name="TextBox 14"/>
          <p:cNvSpPr txBox="1"/>
          <p:nvPr/>
        </p:nvSpPr>
        <p:spPr>
          <a:xfrm>
            <a:off x="457200" y="2926080"/>
            <a:ext cx="3657600" cy="274320"/>
          </a:xfrm>
          <a:prstGeom prst="rect">
            <a:avLst/>
          </a:prstGeom>
          <a:noFill/>
        </p:spPr>
        <p:txBody>
          <a:bodyPr wrap="square" anchor="t" lIns="45720" rIns="45720" tIns="18288" bIns="18288">
            <a:spAutoFit/>
          </a:bodyPr>
          <a:lstStyle/>
          <a:p>
            <a:pPr algn="ctr"/>
            <a:r>
              <a:rPr sz="1200" b="0">
                <a:solidFill>
                  <a:srgbClr val="CCDDEE"/>
                </a:solidFill>
                <a:latin typeface="Noto Serif CJK JP"/>
                <a:ea typeface="Noto Serif CJK JP"/>
              </a:rPr>
              <a:t>分层流程地图</a:t>
            </a:r>
          </a:p>
        </p:txBody>
      </p:sp>
      <p:sp>
        <p:nvSpPr>
          <p:cNvPr id="16" name="TextBox 15"/>
          <p:cNvSpPr txBox="1"/>
          <p:nvPr/>
        </p:nvSpPr>
        <p:spPr>
          <a:xfrm>
            <a:off x="457200" y="3200400"/>
            <a:ext cx="3657600" cy="274320"/>
          </a:xfrm>
          <a:prstGeom prst="rect">
            <a:avLst/>
          </a:prstGeom>
          <a:noFill/>
        </p:spPr>
        <p:txBody>
          <a:bodyPr wrap="square" anchor="t" lIns="45720" rIns="45720" tIns="18288" bIns="18288">
            <a:spAutoFit/>
          </a:bodyPr>
          <a:lstStyle/>
          <a:p>
            <a:pPr algn="ctr"/>
            <a:r>
              <a:rPr sz="1100" b="0">
                <a:solidFill>
                  <a:srgbClr val="FFCC00"/>
                </a:solidFill>
                <a:latin typeface="Noto Serif CJK JP"/>
                <a:ea typeface="Noto Serif CJK JP"/>
              </a:rPr>
              <a:t>解决：Why+What+How</a:t>
            </a:r>
          </a:p>
        </p:txBody>
      </p:sp>
      <p:sp>
        <p:nvSpPr>
          <p:cNvPr id="17" name="Rectangle 16"/>
          <p:cNvSpPr/>
          <p:nvPr/>
        </p:nvSpPr>
        <p:spPr>
          <a:xfrm>
            <a:off x="4389120" y="1554480"/>
            <a:ext cx="3657600" cy="182880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389120" y="1691640"/>
            <a:ext cx="3657600" cy="457200"/>
          </a:xfrm>
          <a:prstGeom prst="rect">
            <a:avLst/>
          </a:prstGeom>
          <a:noFill/>
        </p:spPr>
        <p:txBody>
          <a:bodyPr wrap="square" anchor="ctr" lIns="45720" rIns="45720" tIns="18288" bIns="18288">
            <a:spAutoFit/>
          </a:bodyPr>
          <a:lstStyle/>
          <a:p>
            <a:pPr algn="ctr"/>
            <a:r>
              <a:rPr sz="2400" b="1">
                <a:solidFill>
                  <a:srgbClr val="FFFFFF"/>
                </a:solidFill>
                <a:latin typeface="Noto Serif CJK JP"/>
                <a:ea typeface="Noto Serif CJK JP"/>
              </a:rPr>
              <a:t>APQC</a:t>
            </a:r>
          </a:p>
        </p:txBody>
      </p:sp>
      <p:sp>
        <p:nvSpPr>
          <p:cNvPr id="19" name="Rectangle 18"/>
          <p:cNvSpPr/>
          <p:nvPr/>
        </p:nvSpPr>
        <p:spPr>
          <a:xfrm>
            <a:off x="4389120" y="2194560"/>
            <a:ext cx="3657600" cy="18288"/>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389120" y="2286000"/>
            <a:ext cx="3657600" cy="274320"/>
          </a:xfrm>
          <a:prstGeom prst="rect">
            <a:avLst/>
          </a:prstGeom>
          <a:noFill/>
        </p:spPr>
        <p:txBody>
          <a:bodyPr wrap="square" anchor="t" lIns="45720" rIns="45720" tIns="18288" bIns="18288">
            <a:spAutoFit/>
          </a:bodyPr>
          <a:lstStyle/>
          <a:p>
            <a:pPr algn="ctr"/>
            <a:r>
              <a:rPr sz="1300" b="0">
                <a:solidFill>
                  <a:srgbClr val="FFFFFF"/>
                </a:solidFill>
                <a:latin typeface="Noto Serif CJK JP"/>
                <a:ea typeface="Noto Serif CJK JP"/>
              </a:rPr>
              <a:t>PCF 框架</a:t>
            </a:r>
          </a:p>
        </p:txBody>
      </p:sp>
      <p:sp>
        <p:nvSpPr>
          <p:cNvPr id="21" name="TextBox 20"/>
          <p:cNvSpPr txBox="1"/>
          <p:nvPr/>
        </p:nvSpPr>
        <p:spPr>
          <a:xfrm>
            <a:off x="4389120" y="2606040"/>
            <a:ext cx="3657600" cy="274320"/>
          </a:xfrm>
          <a:prstGeom prst="rect">
            <a:avLst/>
          </a:prstGeom>
          <a:noFill/>
        </p:spPr>
        <p:txBody>
          <a:bodyPr wrap="square" anchor="t" lIns="45720" rIns="45720" tIns="18288" bIns="18288">
            <a:spAutoFit/>
          </a:bodyPr>
          <a:lstStyle/>
          <a:p>
            <a:pPr algn="ctr"/>
            <a:r>
              <a:rPr sz="1200" b="0">
                <a:solidFill>
                  <a:srgbClr val="CCDDEE"/>
                </a:solidFill>
                <a:latin typeface="Noto Serif CJK JP"/>
                <a:ea typeface="Noto Serif CJK JP"/>
              </a:rPr>
              <a:t>12 个一级流程</a:t>
            </a:r>
          </a:p>
        </p:txBody>
      </p:sp>
      <p:sp>
        <p:nvSpPr>
          <p:cNvPr id="22" name="TextBox 21"/>
          <p:cNvSpPr txBox="1"/>
          <p:nvPr/>
        </p:nvSpPr>
        <p:spPr>
          <a:xfrm>
            <a:off x="4389120" y="2926080"/>
            <a:ext cx="3657600" cy="274320"/>
          </a:xfrm>
          <a:prstGeom prst="rect">
            <a:avLst/>
          </a:prstGeom>
          <a:noFill/>
        </p:spPr>
        <p:txBody>
          <a:bodyPr wrap="square" anchor="t" lIns="45720" rIns="45720" tIns="18288" bIns="18288">
            <a:spAutoFit/>
          </a:bodyPr>
          <a:lstStyle/>
          <a:p>
            <a:pPr algn="ctr"/>
            <a:r>
              <a:rPr sz="1200" b="0">
                <a:solidFill>
                  <a:srgbClr val="CCDDEE"/>
                </a:solidFill>
                <a:latin typeface="Noto Serif CJK JP"/>
                <a:ea typeface="Noto Serif CJK JP"/>
              </a:rPr>
              <a:t>流程目录</a:t>
            </a:r>
          </a:p>
        </p:txBody>
      </p:sp>
      <p:sp>
        <p:nvSpPr>
          <p:cNvPr id="23" name="TextBox 22"/>
          <p:cNvSpPr txBox="1"/>
          <p:nvPr/>
        </p:nvSpPr>
        <p:spPr>
          <a:xfrm>
            <a:off x="4389120" y="3200400"/>
            <a:ext cx="3657600" cy="274320"/>
          </a:xfrm>
          <a:prstGeom prst="rect">
            <a:avLst/>
          </a:prstGeom>
          <a:noFill/>
        </p:spPr>
        <p:txBody>
          <a:bodyPr wrap="square" anchor="t" lIns="45720" rIns="45720" tIns="18288" bIns="18288">
            <a:spAutoFit/>
          </a:bodyPr>
          <a:lstStyle/>
          <a:p>
            <a:pPr algn="ctr"/>
            <a:r>
              <a:rPr sz="1100" b="0">
                <a:solidFill>
                  <a:srgbClr val="FFCC00"/>
                </a:solidFill>
                <a:latin typeface="Noto Serif CJK JP"/>
                <a:ea typeface="Noto Serif CJK JP"/>
              </a:rPr>
              <a:t>解决：如何分类</a:t>
            </a:r>
          </a:p>
        </p:txBody>
      </p:sp>
      <p:sp>
        <p:nvSpPr>
          <p:cNvPr id="24" name="Rectangle 23"/>
          <p:cNvSpPr/>
          <p:nvPr/>
        </p:nvSpPr>
        <p:spPr>
          <a:xfrm>
            <a:off x="8321040" y="1554480"/>
            <a:ext cx="3657600" cy="182880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21040" y="1691640"/>
            <a:ext cx="3657600" cy="457200"/>
          </a:xfrm>
          <a:prstGeom prst="rect">
            <a:avLst/>
          </a:prstGeom>
          <a:noFill/>
        </p:spPr>
        <p:txBody>
          <a:bodyPr wrap="square" anchor="ctr" lIns="45720" rIns="45720" tIns="18288" bIns="18288">
            <a:spAutoFit/>
          </a:bodyPr>
          <a:lstStyle/>
          <a:p>
            <a:pPr algn="ctr"/>
            <a:r>
              <a:rPr sz="2400" b="1">
                <a:solidFill>
                  <a:srgbClr val="FFFFFF"/>
                </a:solidFill>
                <a:latin typeface="Noto Serif CJK JP"/>
                <a:ea typeface="Noto Serif CJK JP"/>
              </a:rPr>
              <a:t>Gartner</a:t>
            </a:r>
          </a:p>
        </p:txBody>
      </p:sp>
      <p:sp>
        <p:nvSpPr>
          <p:cNvPr id="26" name="Rectangle 25"/>
          <p:cNvSpPr/>
          <p:nvPr/>
        </p:nvSpPr>
        <p:spPr>
          <a:xfrm>
            <a:off x="8321040" y="2194560"/>
            <a:ext cx="3657600" cy="18288"/>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321040" y="2286000"/>
            <a:ext cx="3657600" cy="274320"/>
          </a:xfrm>
          <a:prstGeom prst="rect">
            <a:avLst/>
          </a:prstGeom>
          <a:noFill/>
        </p:spPr>
        <p:txBody>
          <a:bodyPr wrap="square" anchor="t" lIns="45720" rIns="45720" tIns="18288" bIns="18288">
            <a:spAutoFit/>
          </a:bodyPr>
          <a:lstStyle/>
          <a:p>
            <a:pPr algn="ctr"/>
            <a:r>
              <a:rPr sz="1300" b="0">
                <a:solidFill>
                  <a:srgbClr val="FFFFFF"/>
                </a:solidFill>
                <a:latin typeface="Noto Serif CJK JP"/>
                <a:ea typeface="Noto Serif CJK JP"/>
              </a:rPr>
              <a:t>流程智能</a:t>
            </a:r>
          </a:p>
        </p:txBody>
      </p:sp>
      <p:sp>
        <p:nvSpPr>
          <p:cNvPr id="28" name="TextBox 27"/>
          <p:cNvSpPr txBox="1"/>
          <p:nvPr/>
        </p:nvSpPr>
        <p:spPr>
          <a:xfrm>
            <a:off x="8321040" y="2606040"/>
            <a:ext cx="3657600" cy="274320"/>
          </a:xfrm>
          <a:prstGeom prst="rect">
            <a:avLst/>
          </a:prstGeom>
          <a:noFill/>
        </p:spPr>
        <p:txBody>
          <a:bodyPr wrap="square" anchor="t" lIns="45720" rIns="45720" tIns="18288" bIns="18288">
            <a:spAutoFit/>
          </a:bodyPr>
          <a:lstStyle/>
          <a:p>
            <a:pPr algn="ctr"/>
            <a:r>
              <a:rPr sz="1200" b="0">
                <a:solidFill>
                  <a:srgbClr val="CCDDEE"/>
                </a:solidFill>
                <a:latin typeface="Noto Serif CJK JP"/>
                <a:ea typeface="Noto Serif CJK JP"/>
              </a:rPr>
              <a:t>挖掘/建模/预测</a:t>
            </a:r>
          </a:p>
        </p:txBody>
      </p:sp>
      <p:sp>
        <p:nvSpPr>
          <p:cNvPr id="29" name="TextBox 28"/>
          <p:cNvSpPr txBox="1"/>
          <p:nvPr/>
        </p:nvSpPr>
        <p:spPr>
          <a:xfrm>
            <a:off x="8321040" y="2926080"/>
            <a:ext cx="3657600" cy="274320"/>
          </a:xfrm>
          <a:prstGeom prst="rect">
            <a:avLst/>
          </a:prstGeom>
          <a:noFill/>
        </p:spPr>
        <p:txBody>
          <a:bodyPr wrap="square" anchor="t" lIns="45720" rIns="45720" tIns="18288" bIns="18288">
            <a:spAutoFit/>
          </a:bodyPr>
          <a:lstStyle/>
          <a:p>
            <a:pPr algn="ctr"/>
            <a:r>
              <a:rPr sz="1200" b="0">
                <a:solidFill>
                  <a:srgbClr val="CCDDEE"/>
                </a:solidFill>
                <a:latin typeface="Noto Serif CJK JP"/>
                <a:ea typeface="Noto Serif CJK JP"/>
              </a:rPr>
              <a:t>智能看板</a:t>
            </a:r>
          </a:p>
        </p:txBody>
      </p:sp>
      <p:sp>
        <p:nvSpPr>
          <p:cNvPr id="30" name="TextBox 29"/>
          <p:cNvSpPr txBox="1"/>
          <p:nvPr/>
        </p:nvSpPr>
        <p:spPr>
          <a:xfrm>
            <a:off x="8321040" y="3200400"/>
            <a:ext cx="3657600" cy="274320"/>
          </a:xfrm>
          <a:prstGeom prst="rect">
            <a:avLst/>
          </a:prstGeom>
          <a:noFill/>
        </p:spPr>
        <p:txBody>
          <a:bodyPr wrap="square" anchor="t" lIns="45720" rIns="45720" tIns="18288" bIns="18288">
            <a:spAutoFit/>
          </a:bodyPr>
          <a:lstStyle/>
          <a:p>
            <a:pPr algn="ctr"/>
            <a:r>
              <a:rPr sz="1100" b="0">
                <a:solidFill>
                  <a:srgbClr val="FFCC00"/>
                </a:solidFill>
                <a:latin typeface="Noto Serif CJK JP"/>
                <a:ea typeface="Noto Serif CJK JP"/>
              </a:rPr>
              <a:t>解决：如何智能增强</a:t>
            </a:r>
          </a:p>
        </p:txBody>
      </p:sp>
      <p:cxnSp>
        <p:nvCxnSpPr>
          <p:cNvPr id="31" name="Connector 30"/>
          <p:cNvCxnSpPr/>
          <p:nvPr/>
        </p:nvCxnSpPr>
        <p:spPr>
          <a:xfrm>
            <a:off x="4114800" y="2468880"/>
            <a:ext cx="274320"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046720" y="2468880"/>
            <a:ext cx="274320" cy="0"/>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3657600"/>
            <a:ext cx="11247120" cy="365760"/>
          </a:xfrm>
          <a:prstGeom prst="rect">
            <a:avLst/>
          </a:prstGeom>
          <a:noFill/>
        </p:spPr>
        <p:txBody>
          <a:bodyPr wrap="square" anchor="t" lIns="45720" rIns="45720" tIns="18288" bIns="18288">
            <a:spAutoFit/>
          </a:bodyPr>
          <a:lstStyle/>
          <a:p>
            <a:pPr algn="l"/>
            <a:r>
              <a:rPr sz="1500" b="1">
                <a:solidFill>
                  <a:srgbClr val="D01F26"/>
                </a:solidFill>
                <a:latin typeface="Noto Serif CJK JP"/>
                <a:ea typeface="Noto Serif CJK JP"/>
              </a:rPr>
              <a:t>核心洞察：成熟度瓶颈由最弱维度决定，非平均分决定</a:t>
            </a:r>
          </a:p>
        </p:txBody>
      </p:sp>
      <p:sp>
        <p:nvSpPr>
          <p:cNvPr id="34" name="TextBox 33"/>
          <p:cNvSpPr txBox="1"/>
          <p:nvPr/>
        </p:nvSpPr>
        <p:spPr>
          <a:xfrm>
            <a:off x="457200" y="4206240"/>
            <a:ext cx="11247120" cy="365760"/>
          </a:xfrm>
          <a:prstGeom prst="rect">
            <a:avLst/>
          </a:prstGeom>
          <a:noFill/>
        </p:spPr>
        <p:txBody>
          <a:bodyPr wrap="square" anchor="t" lIns="45720" rIns="45720" tIns="18288" bIns="18288">
            <a:spAutoFit/>
          </a:bodyPr>
          <a:lstStyle/>
          <a:p>
            <a:pPr algn="l"/>
            <a:r>
              <a:rPr sz="1400" b="1">
                <a:solidFill>
                  <a:srgbClr val="003366"/>
                </a:solidFill>
                <a:latin typeface="Noto Serif CJK JP"/>
                <a:ea typeface="Noto Serif CJK JP"/>
              </a:rPr>
              <a:t>三大模型对标</a:t>
            </a:r>
          </a:p>
        </p:txBody>
      </p:sp>
      <p:sp>
        <p:nvSpPr>
          <p:cNvPr id="35" name="Rectangle 34"/>
          <p:cNvSpPr/>
          <p:nvPr/>
        </p:nvSpPr>
        <p:spPr>
          <a:xfrm>
            <a:off x="457200" y="4663440"/>
            <a:ext cx="1371600" cy="3657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7200" y="4663440"/>
            <a:ext cx="1371600" cy="365760"/>
          </a:xfrm>
          <a:prstGeom prst="rect">
            <a:avLst/>
          </a:prstGeom>
          <a:noFill/>
        </p:spPr>
        <p:txBody>
          <a:bodyPr wrap="square" anchor="ctr" lIns="45720" rIns="45720" tIns="18288" bIns="18288">
            <a:spAutoFit/>
          </a:bodyPr>
          <a:lstStyle/>
          <a:p>
            <a:pPr algn="ctr"/>
            <a:r>
              <a:rPr sz="1200" b="1">
                <a:solidFill>
                  <a:srgbClr val="FFFFFF"/>
                </a:solidFill>
                <a:latin typeface="Noto Serif CJK JP"/>
                <a:ea typeface="Noto Serif CJK JP"/>
              </a:rPr>
              <a:t>维度</a:t>
            </a:r>
          </a:p>
        </p:txBody>
      </p:sp>
      <p:sp>
        <p:nvSpPr>
          <p:cNvPr id="37" name="Rectangle 36"/>
          <p:cNvSpPr/>
          <p:nvPr/>
        </p:nvSpPr>
        <p:spPr>
          <a:xfrm>
            <a:off x="1828800" y="4663440"/>
            <a:ext cx="3200400" cy="3657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828800" y="4663440"/>
            <a:ext cx="3200400" cy="365760"/>
          </a:xfrm>
          <a:prstGeom prst="rect">
            <a:avLst/>
          </a:prstGeom>
          <a:noFill/>
        </p:spPr>
        <p:txBody>
          <a:bodyPr wrap="square" anchor="ctr" lIns="45720" rIns="45720" tIns="18288" bIns="18288">
            <a:spAutoFit/>
          </a:bodyPr>
          <a:lstStyle/>
          <a:p>
            <a:pPr algn="ctr"/>
            <a:r>
              <a:rPr sz="1200" b="1">
                <a:solidFill>
                  <a:srgbClr val="FFFFFF"/>
                </a:solidFill>
                <a:latin typeface="Noto Serif CJK JP"/>
                <a:ea typeface="Noto Serif CJK JP"/>
              </a:rPr>
              <a:t>华为</a:t>
            </a:r>
          </a:p>
        </p:txBody>
      </p:sp>
      <p:sp>
        <p:nvSpPr>
          <p:cNvPr id="39" name="Rectangle 38"/>
          <p:cNvSpPr/>
          <p:nvPr/>
        </p:nvSpPr>
        <p:spPr>
          <a:xfrm>
            <a:off x="5029200" y="4663440"/>
            <a:ext cx="3200400" cy="3657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029200" y="4663440"/>
            <a:ext cx="3200400" cy="365760"/>
          </a:xfrm>
          <a:prstGeom prst="rect">
            <a:avLst/>
          </a:prstGeom>
          <a:noFill/>
        </p:spPr>
        <p:txBody>
          <a:bodyPr wrap="square" anchor="ctr" lIns="45720" rIns="45720" tIns="18288" bIns="18288">
            <a:spAutoFit/>
          </a:bodyPr>
          <a:lstStyle/>
          <a:p>
            <a:pPr algn="ctr"/>
            <a:r>
              <a:rPr sz="1200" b="1">
                <a:solidFill>
                  <a:srgbClr val="FFFFFF"/>
                </a:solidFill>
                <a:latin typeface="Noto Serif CJK JP"/>
                <a:ea typeface="Noto Serif CJK JP"/>
              </a:rPr>
              <a:t>APQC</a:t>
            </a:r>
          </a:p>
        </p:txBody>
      </p:sp>
      <p:sp>
        <p:nvSpPr>
          <p:cNvPr id="41" name="Rectangle 40"/>
          <p:cNvSpPr/>
          <p:nvPr/>
        </p:nvSpPr>
        <p:spPr>
          <a:xfrm>
            <a:off x="8229600" y="4663440"/>
            <a:ext cx="3474720" cy="3657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229600" y="4663440"/>
            <a:ext cx="3474720" cy="365760"/>
          </a:xfrm>
          <a:prstGeom prst="rect">
            <a:avLst/>
          </a:prstGeom>
          <a:noFill/>
        </p:spPr>
        <p:txBody>
          <a:bodyPr wrap="square" anchor="ctr" lIns="45720" rIns="45720" tIns="18288" bIns="18288">
            <a:spAutoFit/>
          </a:bodyPr>
          <a:lstStyle/>
          <a:p>
            <a:pPr algn="ctr"/>
            <a:r>
              <a:rPr sz="1200" b="1">
                <a:solidFill>
                  <a:srgbClr val="FFFFFF"/>
                </a:solidFill>
                <a:latin typeface="Noto Serif CJK JP"/>
                <a:ea typeface="Noto Serif CJK JP"/>
              </a:rPr>
              <a:t>Gartner 流程智能</a:t>
            </a:r>
          </a:p>
        </p:txBody>
      </p:sp>
      <p:sp>
        <p:nvSpPr>
          <p:cNvPr id="43" name="Rectangle 42"/>
          <p:cNvSpPr/>
          <p:nvPr/>
        </p:nvSpPr>
        <p:spPr>
          <a:xfrm>
            <a:off x="457200" y="5029200"/>
            <a:ext cx="1371600" cy="36576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57200" y="5029200"/>
            <a:ext cx="1371600" cy="365760"/>
          </a:xfrm>
          <a:prstGeom prst="rect">
            <a:avLst/>
          </a:prstGeom>
          <a:noFill/>
        </p:spPr>
        <p:txBody>
          <a:bodyPr wrap="square" anchor="ctr" lIns="45720" rIns="45720" tIns="18288" bIns="18288">
            <a:spAutoFit/>
          </a:bodyPr>
          <a:lstStyle/>
          <a:p>
            <a:pPr algn="ctr"/>
            <a:r>
              <a:rPr sz="1100" b="1">
                <a:solidFill>
                  <a:srgbClr val="003366"/>
                </a:solidFill>
                <a:latin typeface="Noto Serif CJK JP"/>
                <a:ea typeface="Noto Serif CJK JP"/>
              </a:rPr>
              <a:t>定位</a:t>
            </a:r>
          </a:p>
        </p:txBody>
      </p:sp>
      <p:sp>
        <p:nvSpPr>
          <p:cNvPr id="45" name="Rectangle 44"/>
          <p:cNvSpPr/>
          <p:nvPr/>
        </p:nvSpPr>
        <p:spPr>
          <a:xfrm>
            <a:off x="1828800" y="5029200"/>
            <a:ext cx="3200400" cy="36576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828800" y="5029200"/>
            <a:ext cx="3200400" cy="365760"/>
          </a:xfrm>
          <a:prstGeom prst="rect">
            <a:avLst/>
          </a:prstGeom>
          <a:noFill/>
        </p:spPr>
        <p:txBody>
          <a:bodyPr wrap="square" anchor="ctr" lIns="45720" rIns="45720" tIns="18288" bIns="18288">
            <a:spAutoFit/>
          </a:bodyPr>
          <a:lstStyle/>
          <a:p>
            <a:pPr algn="ctr"/>
            <a:r>
              <a:rPr sz="1100" b="0">
                <a:solidFill>
                  <a:srgbClr val="333333"/>
                </a:solidFill>
                <a:latin typeface="Noto Serif CJK JP"/>
                <a:ea typeface="Noto Serif CJK JP"/>
              </a:rPr>
              <a:t>从分层架构</a:t>
            </a:r>
          </a:p>
        </p:txBody>
      </p:sp>
      <p:sp>
        <p:nvSpPr>
          <p:cNvPr id="47" name="Rectangle 46"/>
          <p:cNvSpPr/>
          <p:nvPr/>
        </p:nvSpPr>
        <p:spPr>
          <a:xfrm>
            <a:off x="5029200" y="5029200"/>
            <a:ext cx="3200400" cy="36576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5029200" y="5029200"/>
            <a:ext cx="3200400" cy="365760"/>
          </a:xfrm>
          <a:prstGeom prst="rect">
            <a:avLst/>
          </a:prstGeom>
          <a:noFill/>
        </p:spPr>
        <p:txBody>
          <a:bodyPr wrap="square" anchor="ctr" lIns="45720" rIns="45720" tIns="18288" bIns="18288">
            <a:spAutoFit/>
          </a:bodyPr>
          <a:lstStyle/>
          <a:p>
            <a:pPr algn="ctr"/>
            <a:r>
              <a:rPr sz="1100" b="0">
                <a:solidFill>
                  <a:srgbClr val="333333"/>
                </a:solidFill>
                <a:latin typeface="Noto Serif CJK JP"/>
                <a:ea typeface="Noto Serif CJK JP"/>
              </a:rPr>
              <a:t>到全球通用框架</a:t>
            </a:r>
          </a:p>
        </p:txBody>
      </p:sp>
      <p:sp>
        <p:nvSpPr>
          <p:cNvPr id="49" name="Rectangle 48"/>
          <p:cNvSpPr/>
          <p:nvPr/>
        </p:nvSpPr>
        <p:spPr>
          <a:xfrm>
            <a:off x="8229600" y="5029200"/>
            <a:ext cx="3474720" cy="36576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229600" y="5029200"/>
            <a:ext cx="3474720" cy="365760"/>
          </a:xfrm>
          <a:prstGeom prst="rect">
            <a:avLst/>
          </a:prstGeom>
          <a:noFill/>
        </p:spPr>
        <p:txBody>
          <a:bodyPr wrap="square" anchor="ctr" lIns="45720" rIns="45720" tIns="18288" bIns="18288">
            <a:spAutoFit/>
          </a:bodyPr>
          <a:lstStyle/>
          <a:p>
            <a:pPr algn="ctr"/>
            <a:r>
              <a:rPr sz="1100" b="0">
                <a:solidFill>
                  <a:srgbClr val="333333"/>
                </a:solidFill>
                <a:latin typeface="Noto Serif CJK JP"/>
                <a:ea typeface="Noto Serif CJK JP"/>
              </a:rPr>
              <a:t>再到智能技术增强</a:t>
            </a:r>
          </a:p>
        </p:txBody>
      </p:sp>
      <p:sp>
        <p:nvSpPr>
          <p:cNvPr id="51" name="Rectangle 50"/>
          <p:cNvSpPr/>
          <p:nvPr/>
        </p:nvSpPr>
        <p:spPr>
          <a:xfrm>
            <a:off x="457200" y="5440680"/>
            <a:ext cx="13716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457200" y="5440680"/>
            <a:ext cx="1371600" cy="365760"/>
          </a:xfrm>
          <a:prstGeom prst="rect">
            <a:avLst/>
          </a:prstGeom>
          <a:noFill/>
        </p:spPr>
        <p:txBody>
          <a:bodyPr wrap="square" anchor="ctr" lIns="45720" rIns="45720" tIns="18288" bIns="18288">
            <a:spAutoFit/>
          </a:bodyPr>
          <a:lstStyle/>
          <a:p>
            <a:pPr algn="ctr"/>
            <a:r>
              <a:rPr sz="1100" b="1">
                <a:solidFill>
                  <a:srgbClr val="003366"/>
                </a:solidFill>
                <a:latin typeface="Noto Serif CJK JP"/>
                <a:ea typeface="Noto Serif CJK JP"/>
              </a:rPr>
              <a:t>核心问题</a:t>
            </a:r>
          </a:p>
        </p:txBody>
      </p:sp>
      <p:sp>
        <p:nvSpPr>
          <p:cNvPr id="53" name="Rectangle 52"/>
          <p:cNvSpPr/>
          <p:nvPr/>
        </p:nvSpPr>
        <p:spPr>
          <a:xfrm>
            <a:off x="1828800" y="5440680"/>
            <a:ext cx="32004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828800" y="5440680"/>
            <a:ext cx="3200400" cy="365760"/>
          </a:xfrm>
          <a:prstGeom prst="rect">
            <a:avLst/>
          </a:prstGeom>
          <a:noFill/>
        </p:spPr>
        <p:txBody>
          <a:bodyPr wrap="square" anchor="ctr" lIns="45720" rIns="45720" tIns="18288" bIns="18288">
            <a:spAutoFit/>
          </a:bodyPr>
          <a:lstStyle/>
          <a:p>
            <a:pPr algn="ctr"/>
            <a:r>
              <a:rPr sz="1100" b="0">
                <a:solidFill>
                  <a:srgbClr val="333333"/>
                </a:solidFill>
                <a:latin typeface="Noto Serif CJK JP"/>
                <a:ea typeface="Noto Serif CJK JP"/>
              </a:rPr>
              <a:t>流程如何分层？</a:t>
            </a:r>
          </a:p>
        </p:txBody>
      </p:sp>
      <p:sp>
        <p:nvSpPr>
          <p:cNvPr id="55" name="Rectangle 54"/>
          <p:cNvSpPr/>
          <p:nvPr/>
        </p:nvSpPr>
        <p:spPr>
          <a:xfrm>
            <a:off x="5029200" y="5440680"/>
            <a:ext cx="32004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029200" y="5440680"/>
            <a:ext cx="3200400" cy="365760"/>
          </a:xfrm>
          <a:prstGeom prst="rect">
            <a:avLst/>
          </a:prstGeom>
          <a:noFill/>
        </p:spPr>
        <p:txBody>
          <a:bodyPr wrap="square" anchor="ctr" lIns="45720" rIns="45720" tIns="18288" bIns="18288">
            <a:spAutoFit/>
          </a:bodyPr>
          <a:lstStyle/>
          <a:p>
            <a:pPr algn="ctr"/>
            <a:r>
              <a:rPr sz="1100" b="0">
                <a:solidFill>
                  <a:srgbClr val="333333"/>
                </a:solidFill>
                <a:latin typeface="Noto Serif CJK JP"/>
                <a:ea typeface="Noto Serif CJK JP"/>
              </a:rPr>
              <a:t>哪些维度不足？</a:t>
            </a:r>
          </a:p>
        </p:txBody>
      </p:sp>
      <p:sp>
        <p:nvSpPr>
          <p:cNvPr id="57" name="Rectangle 56"/>
          <p:cNvSpPr/>
          <p:nvPr/>
        </p:nvSpPr>
        <p:spPr>
          <a:xfrm>
            <a:off x="8229600" y="5440680"/>
            <a:ext cx="347472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229600" y="5440680"/>
            <a:ext cx="3474720" cy="365760"/>
          </a:xfrm>
          <a:prstGeom prst="rect">
            <a:avLst/>
          </a:prstGeom>
          <a:noFill/>
        </p:spPr>
        <p:txBody>
          <a:bodyPr wrap="square" anchor="ctr" lIns="45720" rIns="45720" tIns="18288" bIns="18288">
            <a:spAutoFit/>
          </a:bodyPr>
          <a:lstStyle/>
          <a:p>
            <a:pPr algn="ctr"/>
            <a:r>
              <a:rPr sz="1100" b="0">
                <a:solidFill>
                  <a:srgbClr val="333333"/>
                </a:solidFill>
                <a:latin typeface="Noto Serif CJK JP"/>
                <a:ea typeface="Noto Serif CJK JP"/>
              </a:rPr>
              <a:t>如何自我优化？</a:t>
            </a:r>
          </a:p>
        </p:txBody>
      </p:sp>
      <p:sp>
        <p:nvSpPr>
          <p:cNvPr id="59" name="Rectangle 58"/>
          <p:cNvSpPr/>
          <p:nvPr/>
        </p:nvSpPr>
        <p:spPr>
          <a:xfrm>
            <a:off x="457200" y="5852160"/>
            <a:ext cx="1371600" cy="36576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457200" y="5852160"/>
            <a:ext cx="1371600" cy="365760"/>
          </a:xfrm>
          <a:prstGeom prst="rect">
            <a:avLst/>
          </a:prstGeom>
          <a:noFill/>
        </p:spPr>
        <p:txBody>
          <a:bodyPr wrap="square" anchor="ctr" lIns="45720" rIns="45720" tIns="18288" bIns="18288">
            <a:spAutoFit/>
          </a:bodyPr>
          <a:lstStyle/>
          <a:p>
            <a:pPr algn="ctr"/>
            <a:r>
              <a:rPr sz="1100" b="1">
                <a:solidFill>
                  <a:srgbClr val="003366"/>
                </a:solidFill>
                <a:latin typeface="Noto Serif CJK JP"/>
                <a:ea typeface="Noto Serif CJK JP"/>
              </a:rPr>
              <a:t>AI 价值</a:t>
            </a:r>
          </a:p>
        </p:txBody>
      </p:sp>
      <p:sp>
        <p:nvSpPr>
          <p:cNvPr id="61" name="Rectangle 60"/>
          <p:cNvSpPr/>
          <p:nvPr/>
        </p:nvSpPr>
        <p:spPr>
          <a:xfrm>
            <a:off x="1828800" y="5852160"/>
            <a:ext cx="3200400" cy="36576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828800" y="5852160"/>
            <a:ext cx="3200400" cy="365760"/>
          </a:xfrm>
          <a:prstGeom prst="rect">
            <a:avLst/>
          </a:prstGeom>
          <a:noFill/>
        </p:spPr>
        <p:txBody>
          <a:bodyPr wrap="square" anchor="ctr" lIns="45720" rIns="45720" tIns="18288" bIns="18288">
            <a:spAutoFit/>
          </a:bodyPr>
          <a:lstStyle/>
          <a:p>
            <a:pPr algn="ctr"/>
            <a:r>
              <a:rPr sz="1100" b="0">
                <a:solidFill>
                  <a:srgbClr val="333333"/>
                </a:solidFill>
                <a:latin typeface="Noto Serif CJK JP"/>
                <a:ea typeface="Noto Serif CJK JP"/>
              </a:rPr>
              <a:t>提供结构化骨架</a:t>
            </a:r>
          </a:p>
        </p:txBody>
      </p:sp>
      <p:sp>
        <p:nvSpPr>
          <p:cNvPr id="63" name="Rectangle 62"/>
          <p:cNvSpPr/>
          <p:nvPr/>
        </p:nvSpPr>
        <p:spPr>
          <a:xfrm>
            <a:off x="5029200" y="5852160"/>
            <a:ext cx="3200400" cy="36576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5029200" y="5852160"/>
            <a:ext cx="3200400" cy="365760"/>
          </a:xfrm>
          <a:prstGeom prst="rect">
            <a:avLst/>
          </a:prstGeom>
          <a:noFill/>
        </p:spPr>
        <p:txBody>
          <a:bodyPr wrap="square" anchor="ctr" lIns="45720" rIns="45720" tIns="18288" bIns="18288">
            <a:spAutoFit/>
          </a:bodyPr>
          <a:lstStyle/>
          <a:p>
            <a:pPr algn="ctr"/>
            <a:r>
              <a:rPr sz="1100" b="0">
                <a:solidFill>
                  <a:srgbClr val="333333"/>
                </a:solidFill>
                <a:latin typeface="Noto Serif CJK JP"/>
                <a:ea typeface="Noto Serif CJK JP"/>
              </a:rPr>
              <a:t>识别能力短板</a:t>
            </a:r>
          </a:p>
        </p:txBody>
      </p:sp>
      <p:sp>
        <p:nvSpPr>
          <p:cNvPr id="65" name="Rectangle 64"/>
          <p:cNvSpPr/>
          <p:nvPr/>
        </p:nvSpPr>
        <p:spPr>
          <a:xfrm>
            <a:off x="8229600" y="5852160"/>
            <a:ext cx="3474720" cy="36576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8229600" y="5852160"/>
            <a:ext cx="3474720" cy="365760"/>
          </a:xfrm>
          <a:prstGeom prst="rect">
            <a:avLst/>
          </a:prstGeom>
          <a:noFill/>
        </p:spPr>
        <p:txBody>
          <a:bodyPr wrap="square" anchor="ctr" lIns="45720" rIns="45720" tIns="18288" bIns="18288">
            <a:spAutoFit/>
          </a:bodyPr>
          <a:lstStyle/>
          <a:p>
            <a:pPr algn="ctr"/>
            <a:r>
              <a:rPr sz="1100" b="0">
                <a:solidFill>
                  <a:srgbClr val="333333"/>
                </a:solidFill>
                <a:latin typeface="Noto Serif CJK JP"/>
                <a:ea typeface="Noto Serif CJK JP"/>
              </a:rPr>
              <a:t>实现闭环优化</a:t>
            </a:r>
          </a:p>
        </p:txBody>
      </p:sp>
      <p:sp>
        <p:nvSpPr>
          <p:cNvPr id="67" name="TextBox 66"/>
          <p:cNvSpPr txBox="1"/>
          <p:nvPr/>
        </p:nvSpPr>
        <p:spPr>
          <a:xfrm>
            <a:off x="457200" y="6355080"/>
            <a:ext cx="11247120" cy="274320"/>
          </a:xfrm>
          <a:prstGeom prst="rect">
            <a:avLst/>
          </a:prstGeom>
          <a:noFill/>
        </p:spPr>
        <p:txBody>
          <a:bodyPr wrap="square" anchor="t" lIns="45720" rIns="45720" tIns="18288" bIns="18288">
            <a:spAutoFit/>
          </a:bodyPr>
          <a:lstStyle/>
          <a:p>
            <a:pPr algn="ctr"/>
            <a:r>
              <a:rPr sz="1200" b="1">
                <a:solidFill>
                  <a:srgbClr val="003366"/>
                </a:solidFill>
                <a:latin typeface="Noto Serif CJK JP"/>
                <a:ea typeface="Noto Serif CJK JP"/>
              </a:rPr>
              <a:t>融合三大模型优势，构建 AI 时代端到端、可对标、可进化的成熟度体系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4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五级成熟度模型总览</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能力跃迁：文档化 → 标准化 → 线上化 → 智能化 → 自主化</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aturity.png"/>
          <p:cNvPicPr>
            <a:picLocks noChangeAspect="1"/>
          </p:cNvPicPr>
          <p:nvPr/>
        </p:nvPicPr>
        <p:blipFill>
          <a:blip r:embed="rId2"/>
          <a:stretch>
            <a:fillRect/>
          </a:stretch>
        </p:blipFill>
        <p:spPr>
          <a:xfrm>
            <a:off x="457200" y="1554480"/>
            <a:ext cx="11247120" cy="4998720"/>
          </a:xfrm>
          <a:prstGeom prst="rect">
            <a:avLst/>
          </a:prstGeom>
        </p:spPr>
      </p:pic>
      <p:sp>
        <p:nvSpPr>
          <p:cNvPr id="11" name="TextBox 10"/>
          <p:cNvSpPr txBox="1"/>
          <p:nvPr/>
        </p:nvSpPr>
        <p:spPr>
          <a:xfrm>
            <a:off x="457200" y="3840480"/>
            <a:ext cx="11247120" cy="365760"/>
          </a:xfrm>
          <a:prstGeom prst="rect">
            <a:avLst/>
          </a:prstGeom>
          <a:noFill/>
        </p:spPr>
        <p:txBody>
          <a:bodyPr wrap="square" anchor="t" lIns="45720" rIns="45720" tIns="18288" bIns="18288">
            <a:spAutoFit/>
          </a:bodyPr>
          <a:lstStyle/>
          <a:p>
            <a:pPr algn="l"/>
            <a:r>
              <a:rPr sz="1600" b="1">
                <a:solidFill>
                  <a:srgbClr val="003366"/>
                </a:solidFill>
                <a:latin typeface="Noto Serif CJK JP"/>
                <a:ea typeface="Noto Serif CJK JP"/>
              </a:rPr>
              <a:t>升级原则</a:t>
            </a:r>
          </a:p>
        </p:txBody>
      </p:sp>
      <p:sp>
        <p:nvSpPr>
          <p:cNvPr id="12" name="TextBox 11"/>
          <p:cNvSpPr txBox="1"/>
          <p:nvPr/>
        </p:nvSpPr>
        <p:spPr>
          <a:xfrm>
            <a:off x="457200" y="4251960"/>
            <a:ext cx="11247120" cy="640080"/>
          </a:xfrm>
          <a:prstGeom prst="rect">
            <a:avLst/>
          </a:prstGeom>
          <a:noFill/>
        </p:spPr>
        <p:txBody>
          <a:bodyPr wrap="square" lIns="45720" rIns="45720">
            <a:spAutoFit/>
          </a:bodyPr>
          <a:lstStyle/>
          <a:p>
            <a:pPr algn="l">
              <a:lnSpc>
                <a:spcPct val="130000"/>
              </a:lnSpc>
            </a:pPr>
            <a:r>
              <a:rPr sz="1200" b="0">
                <a:solidFill>
                  <a:srgbClr val="333333"/>
                </a:solidFill>
                <a:latin typeface="Noto Serif CJK JP"/>
                <a:ea typeface="Noto Serif CJK JP"/>
              </a:rPr>
              <a:t>① 先标准化再智能化：标准流程是 AI 的输入规范与质量基石</a:t>
            </a:r>
          </a:p>
          <a:p>
            <a:pPr algn="l">
              <a:lnSpc>
                <a:spcPct val="130000"/>
              </a:lnSpc>
            </a:pPr>
            <a:r>
              <a:rPr sz="1200" b="0">
                <a:solidFill>
                  <a:srgbClr val="333333"/>
                </a:solidFill>
                <a:latin typeface="Noto Serif CJK JP"/>
                <a:ea typeface="Noto Serif CJK JP"/>
              </a:rPr>
              <a:t>② 先打通数据再部署模型：数据不成链，模型难生效；数据成链，智能才可信</a:t>
            </a:r>
          </a:p>
          <a:p>
            <a:pPr algn="l">
              <a:lnSpc>
                <a:spcPct val="130000"/>
              </a:lnSpc>
            </a:pPr>
            <a:r>
              <a:rPr sz="1200" b="0">
                <a:solidFill>
                  <a:srgbClr val="333333"/>
                </a:solidFill>
                <a:latin typeface="Noto Serif CJK JP"/>
                <a:ea typeface="Noto Serif CJK JP"/>
              </a:rPr>
              <a:t>③ 先建立 Owner 再规模推广：明确流程 Owner，确保治理闭环与持续改进</a:t>
            </a:r>
          </a:p>
        </p:txBody>
      </p:sp>
      <p:sp>
        <p:nvSpPr>
          <p:cNvPr id="13" name="TextBox 12"/>
          <p:cNvSpPr txBox="1"/>
          <p:nvPr/>
        </p:nvSpPr>
        <p:spPr>
          <a:xfrm>
            <a:off x="457200" y="5120640"/>
            <a:ext cx="11247120" cy="365760"/>
          </a:xfrm>
          <a:prstGeom prst="rect">
            <a:avLst/>
          </a:prstGeom>
          <a:noFill/>
        </p:spPr>
        <p:txBody>
          <a:bodyPr wrap="square" anchor="t" lIns="45720" rIns="45720" tIns="18288" bIns="18288">
            <a:spAutoFit/>
          </a:bodyPr>
          <a:lstStyle/>
          <a:p>
            <a:pPr algn="l"/>
            <a:r>
              <a:rPr sz="1600" b="1">
                <a:solidFill>
                  <a:srgbClr val="D01F26"/>
                </a:solidFill>
                <a:latin typeface="Noto Serif CJK JP"/>
                <a:ea typeface="Noto Serif CJK JP"/>
              </a:rPr>
              <a:t>不可跳跃规则</a:t>
            </a:r>
          </a:p>
        </p:txBody>
      </p:sp>
      <p:sp>
        <p:nvSpPr>
          <p:cNvPr id="14" name="TextBox 13"/>
          <p:cNvSpPr txBox="1"/>
          <p:nvPr/>
        </p:nvSpPr>
        <p:spPr>
          <a:xfrm>
            <a:off x="457200" y="5532120"/>
            <a:ext cx="11247120" cy="640080"/>
          </a:xfrm>
          <a:prstGeom prst="rect">
            <a:avLst/>
          </a:prstGeom>
          <a:noFill/>
        </p:spPr>
        <p:txBody>
          <a:bodyPr wrap="square" lIns="45720" rIns="45720">
            <a:spAutoFit/>
          </a:bodyPr>
          <a:lstStyle/>
          <a:p>
            <a:pPr algn="l">
              <a:lnSpc>
                <a:spcPct val="130000"/>
              </a:lnSpc>
            </a:pPr>
            <a:r>
              <a:rPr sz="1200" b="0">
                <a:solidFill>
                  <a:srgbClr val="333333"/>
                </a:solidFill>
                <a:latin typeface="Noto Serif CJK JP"/>
                <a:ea typeface="Noto Serif CJK JP"/>
              </a:rPr>
              <a:t>✗ L1 必须过 L2  ✗ L2 必须补齐数据基础后才能迈向 L4  ✗ 不能从未标准流程直接进入 AI 原生</a:t>
            </a:r>
          </a:p>
          <a:p>
            <a:pPr algn="l">
              <a:lnSpc>
                <a:spcPct val="130000"/>
              </a:lnSpc>
            </a:pPr>
            <a:r>
              <a:rPr sz="1200" b="0">
                <a:solidFill>
                  <a:srgbClr val="333333"/>
                </a:solidFill>
                <a:latin typeface="Noto Serif CJK JP"/>
                <a:ea typeface="Noto Serif CJK JP"/>
              </a:rPr>
              <a:t>结论：成熟度升级必须按『建基础、做验证、再规模化』的节奏推进</a:t>
            </a:r>
          </a:p>
        </p:txBody>
      </p:sp>
      <p:sp>
        <p:nvSpPr>
          <p:cNvPr id="15" name="Rectangle 14"/>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强结论：成熟度由最弱维度决定，缺哪一维都会拖慢整体升级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5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四维评估框架总览</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四维18项指标，从L1初始级到L5自主级</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valuation.png"/>
          <p:cNvPicPr>
            <a:picLocks noChangeAspect="1"/>
          </p:cNvPicPr>
          <p:nvPr/>
        </p:nvPicPr>
        <p:blipFill>
          <a:blip r:embed="rId2"/>
          <a:stretch>
            <a:fillRect/>
          </a:stretch>
        </p:blipFill>
        <p:spPr>
          <a:xfrm>
            <a:off x="457200" y="1554480"/>
            <a:ext cx="7772400" cy="3837008"/>
          </a:xfrm>
          <a:prstGeom prst="rect">
            <a:avLst/>
          </a:prstGeom>
        </p:spPr>
      </p:pic>
      <p:sp>
        <p:nvSpPr>
          <p:cNvPr id="11" name="TextBox 10"/>
          <p:cNvSpPr txBox="1"/>
          <p:nvPr/>
        </p:nvSpPr>
        <p:spPr>
          <a:xfrm>
            <a:off x="8503920" y="1554480"/>
            <a:ext cx="338328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四维权重建议</a:t>
            </a:r>
          </a:p>
        </p:txBody>
      </p:sp>
      <p:sp>
        <p:nvSpPr>
          <p:cNvPr id="12" name="TextBox 11"/>
          <p:cNvSpPr txBox="1"/>
          <p:nvPr/>
        </p:nvSpPr>
        <p:spPr>
          <a:xfrm>
            <a:off x="8503920" y="2011680"/>
            <a:ext cx="3383280" cy="2743200"/>
          </a:xfrm>
          <a:prstGeom prst="rect">
            <a:avLst/>
          </a:prstGeom>
          <a:noFill/>
        </p:spPr>
        <p:txBody>
          <a:bodyPr wrap="square" lIns="45720" rIns="45720">
            <a:spAutoFit/>
          </a:bodyPr>
          <a:lstStyle/>
          <a:p>
            <a:pPr algn="l">
              <a:lnSpc>
                <a:spcPct val="130000"/>
              </a:lnSpc>
            </a:pPr>
            <a:r>
              <a:rPr sz="1400" b="1">
                <a:solidFill>
                  <a:srgbClr val="003366"/>
                </a:solidFill>
                <a:latin typeface="Noto Serif CJK JP"/>
                <a:ea typeface="Noto Serif CJK JP"/>
              </a:rPr>
              <a:t>流程标准化</a:t>
            </a:r>
          </a:p>
          <a:p>
            <a:pPr algn="l">
              <a:lnSpc>
                <a:spcPct val="130000"/>
              </a:lnSpc>
            </a:pPr>
            <a:r>
              <a:rPr sz="1100" b="0">
                <a:solidFill>
                  <a:srgbClr val="333333"/>
                </a:solidFill>
                <a:latin typeface="Noto Serif CJK JP"/>
                <a:ea typeface="Noto Serif CJK JP"/>
              </a:rPr>
              <a:t>  建议权重 30%（L1/L2 必做）</a:t>
            </a:r>
          </a:p>
          <a:p>
            <a:pPr algn="l">
              <a:lnSpc>
                <a:spcPct val="130000"/>
              </a:lnSpc>
            </a:pPr>
            <a:r>
              <a:rPr sz="1100" b="0">
                <a:solidFill>
                  <a:srgbClr val="333333"/>
                </a:solidFill>
                <a:latin typeface="Noto Serif CJK JP"/>
                <a:ea typeface="Noto Serif CJK JP"/>
              </a:rPr>
              <a:t/>
            </a:r>
          </a:p>
          <a:p>
            <a:pPr algn="l">
              <a:lnSpc>
                <a:spcPct val="130000"/>
              </a:lnSpc>
            </a:pPr>
            <a:r>
              <a:rPr sz="1400" b="1">
                <a:solidFill>
                  <a:srgbClr val="003366"/>
                </a:solidFill>
                <a:latin typeface="Noto Serif CJK JP"/>
                <a:ea typeface="Noto Serif CJK JP"/>
              </a:rPr>
              <a:t>数据贯通</a:t>
            </a:r>
          </a:p>
          <a:p>
            <a:pPr algn="l">
              <a:lnSpc>
                <a:spcPct val="130000"/>
              </a:lnSpc>
            </a:pPr>
            <a:r>
              <a:rPr sz="1100" b="0">
                <a:solidFill>
                  <a:srgbClr val="333333"/>
                </a:solidFill>
                <a:latin typeface="Noto Serif CJK JP"/>
                <a:ea typeface="Noto Serif CJK JP"/>
              </a:rPr>
              <a:t>  建议权重 25%（L2→L3 关键）</a:t>
            </a:r>
          </a:p>
          <a:p>
            <a:pPr algn="l">
              <a:lnSpc>
                <a:spcPct val="130000"/>
              </a:lnSpc>
            </a:pPr>
            <a:r>
              <a:rPr sz="1100" b="0">
                <a:solidFill>
                  <a:srgbClr val="333333"/>
                </a:solidFill>
                <a:latin typeface="Noto Serif CJK JP"/>
                <a:ea typeface="Noto Serif CJK JP"/>
              </a:rPr>
              <a:t/>
            </a:r>
          </a:p>
          <a:p>
            <a:pPr algn="l">
              <a:lnSpc>
                <a:spcPct val="130000"/>
              </a:lnSpc>
            </a:pPr>
            <a:r>
              <a:rPr sz="1400" b="1">
                <a:solidFill>
                  <a:srgbClr val="003366"/>
                </a:solidFill>
                <a:latin typeface="Noto Serif CJK JP"/>
                <a:ea typeface="Noto Serif CJK JP"/>
              </a:rPr>
              <a:t>AI 应用</a:t>
            </a:r>
          </a:p>
          <a:p>
            <a:pPr algn="l">
              <a:lnSpc>
                <a:spcPct val="130000"/>
              </a:lnSpc>
            </a:pPr>
            <a:r>
              <a:rPr sz="1100" b="0">
                <a:solidFill>
                  <a:srgbClr val="333333"/>
                </a:solidFill>
                <a:latin typeface="Noto Serif CJK JP"/>
                <a:ea typeface="Noto Serif CJK JP"/>
              </a:rPr>
              <a:t>  建议权重 25%（L4/L5 提至35%）</a:t>
            </a:r>
          </a:p>
          <a:p>
            <a:pPr algn="l">
              <a:lnSpc>
                <a:spcPct val="130000"/>
              </a:lnSpc>
            </a:pPr>
            <a:r>
              <a:rPr sz="1100" b="0">
                <a:solidFill>
                  <a:srgbClr val="333333"/>
                </a:solidFill>
                <a:latin typeface="Noto Serif CJK JP"/>
                <a:ea typeface="Noto Serif CJK JP"/>
              </a:rPr>
              <a:t/>
            </a:r>
          </a:p>
          <a:p>
            <a:pPr algn="l">
              <a:lnSpc>
                <a:spcPct val="130000"/>
              </a:lnSpc>
            </a:pPr>
            <a:r>
              <a:rPr sz="1400" b="1">
                <a:solidFill>
                  <a:srgbClr val="003366"/>
                </a:solidFill>
                <a:latin typeface="Noto Serif CJK JP"/>
                <a:ea typeface="Noto Serif CJK JP"/>
              </a:rPr>
              <a:t>治理优化</a:t>
            </a:r>
          </a:p>
          <a:p>
            <a:pPr algn="l">
              <a:lnSpc>
                <a:spcPct val="130000"/>
              </a:lnSpc>
            </a:pPr>
            <a:r>
              <a:rPr sz="1100" b="0">
                <a:solidFill>
                  <a:srgbClr val="333333"/>
                </a:solidFill>
                <a:latin typeface="Noto Serif CJK JP"/>
                <a:ea typeface="Noto Serif CJK JP"/>
              </a:rPr>
              <a:t>  建议权重 20%（改进可持续关键）</a:t>
            </a:r>
          </a:p>
        </p:txBody>
      </p:sp>
      <p:sp>
        <p:nvSpPr>
          <p:cNvPr id="13" name="TextBox 12"/>
          <p:cNvSpPr txBox="1"/>
          <p:nvPr/>
        </p:nvSpPr>
        <p:spPr>
          <a:xfrm>
            <a:off x="457200" y="521208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评估方法</a:t>
            </a:r>
          </a:p>
        </p:txBody>
      </p:sp>
      <p:sp>
        <p:nvSpPr>
          <p:cNvPr id="14" name="TextBox 13"/>
          <p:cNvSpPr txBox="1"/>
          <p:nvPr/>
        </p:nvSpPr>
        <p:spPr>
          <a:xfrm>
            <a:off x="457200" y="5577840"/>
            <a:ext cx="11247120" cy="731520"/>
          </a:xfrm>
          <a:prstGeom prst="rect">
            <a:avLst/>
          </a:prstGeom>
          <a:noFill/>
        </p:spPr>
        <p:txBody>
          <a:bodyPr wrap="square" lIns="45720" rIns="45720">
            <a:spAutoFit/>
          </a:bodyPr>
          <a:lstStyle/>
          <a:p>
            <a:pPr algn="l">
              <a:lnSpc>
                <a:spcPct val="130000"/>
              </a:lnSpc>
            </a:pPr>
            <a:r>
              <a:rPr sz="1200" b="0">
                <a:solidFill>
                  <a:srgbClr val="333333"/>
                </a:solidFill>
                <a:latin typeface="Noto Serif CJK JP"/>
                <a:ea typeface="Noto Serif CJK JP"/>
              </a:rPr>
              <a:t>1. 按18项指标分别评分（1-5分）  2. 维度得分 = 该维度内最低指标分（木桶效应）</a:t>
            </a:r>
          </a:p>
          <a:p>
            <a:pPr algn="l">
              <a:lnSpc>
                <a:spcPct val="130000"/>
              </a:lnSpc>
            </a:pPr>
            <a:r>
              <a:rPr sz="1200" b="0">
                <a:solidFill>
                  <a:srgbClr val="333333"/>
                </a:solidFill>
                <a:latin typeface="Noto Serif CJK JP"/>
                <a:ea typeface="Noto Serif CJK JP"/>
              </a:rPr>
              <a:t>3. 综合等级 = 最低短板 + 总体区间判断  4. 4 维 18 项 5 级阈值 = 完整自评框架</a:t>
            </a:r>
          </a:p>
        </p:txBody>
      </p:sp>
      <p:sp>
        <p:nvSpPr>
          <p:cNvPr id="15" name="Rectangle 14"/>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强结论：每维都达 L3 才是进入 L4 的入场券，缺任何一维都会被卡住</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6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四维评估框架（一）：流程标准化能力</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标准化能力决定流程能否从经验依赖走向系统执行，是 L1/L2 迈向 L3 的第一道门槛</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1554480"/>
            <a:ext cx="5943600" cy="365760"/>
          </a:xfrm>
          <a:prstGeom prst="rect">
            <a:avLst/>
          </a:prstGeom>
          <a:noFill/>
        </p:spPr>
        <p:txBody>
          <a:bodyPr wrap="square" anchor="t" lIns="45720" rIns="45720" tIns="18288" bIns="18288">
            <a:spAutoFit/>
          </a:bodyPr>
          <a:lstStyle/>
          <a:p>
            <a:pPr algn="l"/>
            <a:r>
              <a:rPr sz="1400" b="1">
                <a:solidFill>
                  <a:srgbClr val="003366"/>
                </a:solidFill>
                <a:latin typeface="Noto Serif CJK JP"/>
                <a:ea typeface="Noto Serif CJK JP"/>
              </a:rPr>
              <a:t>5 项评估指标（L1→L5 阈值）</a:t>
            </a:r>
          </a:p>
        </p:txBody>
      </p:sp>
      <p:sp>
        <p:nvSpPr>
          <p:cNvPr id="11" name="Rectangle 10"/>
          <p:cNvSpPr/>
          <p:nvPr/>
        </p:nvSpPr>
        <p:spPr>
          <a:xfrm>
            <a:off x="457200" y="2011680"/>
            <a:ext cx="59436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011680"/>
            <a:ext cx="1828800" cy="45720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1. 流程文档覆盖率</a:t>
            </a:r>
          </a:p>
        </p:txBody>
      </p:sp>
      <p:sp>
        <p:nvSpPr>
          <p:cNvPr id="13" name="TextBox 12"/>
          <p:cNvSpPr txBox="1"/>
          <p:nvPr/>
        </p:nvSpPr>
        <p:spPr>
          <a:xfrm>
            <a:off x="2377440" y="2011680"/>
            <a:ext cx="3931920" cy="45720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&lt;20% / 60-80% / 80-90% / 90-95% / &gt;95%</a:t>
            </a:r>
          </a:p>
        </p:txBody>
      </p:sp>
      <p:sp>
        <p:nvSpPr>
          <p:cNvPr id="14" name="Rectangle 13"/>
          <p:cNvSpPr/>
          <p:nvPr/>
        </p:nvSpPr>
        <p:spPr>
          <a:xfrm>
            <a:off x="457200" y="2514600"/>
            <a:ext cx="59436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2514600"/>
            <a:ext cx="1828800" cy="45720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2. 关键流程泳道图</a:t>
            </a:r>
          </a:p>
        </p:txBody>
      </p:sp>
      <p:sp>
        <p:nvSpPr>
          <p:cNvPr id="16" name="TextBox 15"/>
          <p:cNvSpPr txBox="1"/>
          <p:nvPr/>
        </p:nvSpPr>
        <p:spPr>
          <a:xfrm>
            <a:off x="2377440" y="2514600"/>
            <a:ext cx="3931920" cy="45720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0 / 30% / 80% / 100% / 100%</a:t>
            </a:r>
          </a:p>
        </p:txBody>
      </p:sp>
      <p:sp>
        <p:nvSpPr>
          <p:cNvPr id="17" name="Rectangle 16"/>
          <p:cNvSpPr/>
          <p:nvPr/>
        </p:nvSpPr>
        <p:spPr>
          <a:xfrm>
            <a:off x="457200" y="3017520"/>
            <a:ext cx="59436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3017520"/>
            <a:ext cx="1828800" cy="45720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3. 岗位 SOP 标准化</a:t>
            </a:r>
          </a:p>
        </p:txBody>
      </p:sp>
      <p:sp>
        <p:nvSpPr>
          <p:cNvPr id="19" name="TextBox 18"/>
          <p:cNvSpPr txBox="1"/>
          <p:nvPr/>
        </p:nvSpPr>
        <p:spPr>
          <a:xfrm>
            <a:off x="2377440" y="3017520"/>
            <a:ext cx="3931920" cy="45720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0 / 30% / 60% / 80% / 100%</a:t>
            </a:r>
          </a:p>
        </p:txBody>
      </p:sp>
      <p:sp>
        <p:nvSpPr>
          <p:cNvPr id="20" name="Rectangle 19"/>
          <p:cNvSpPr/>
          <p:nvPr/>
        </p:nvSpPr>
        <p:spPr>
          <a:xfrm>
            <a:off x="457200" y="3520440"/>
            <a:ext cx="59436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8640" y="3520440"/>
            <a:ext cx="1828800" cy="45720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4. 版本管理合规率</a:t>
            </a:r>
          </a:p>
        </p:txBody>
      </p:sp>
      <p:sp>
        <p:nvSpPr>
          <p:cNvPr id="22" name="TextBox 21"/>
          <p:cNvSpPr txBox="1"/>
          <p:nvPr/>
        </p:nvSpPr>
        <p:spPr>
          <a:xfrm>
            <a:off x="2377440" y="3520440"/>
            <a:ext cx="3931920" cy="45720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0 / 30% / 60% / 80% / 100%</a:t>
            </a:r>
          </a:p>
        </p:txBody>
      </p:sp>
      <p:sp>
        <p:nvSpPr>
          <p:cNvPr id="23" name="Rectangle 22"/>
          <p:cNvSpPr/>
          <p:nvPr/>
        </p:nvSpPr>
        <p:spPr>
          <a:xfrm>
            <a:off x="457200" y="4023360"/>
            <a:ext cx="594360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48640" y="4023360"/>
            <a:ext cx="1828800" cy="45720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5. 流程 Owner 覆盖率</a:t>
            </a:r>
          </a:p>
        </p:txBody>
      </p:sp>
      <p:sp>
        <p:nvSpPr>
          <p:cNvPr id="25" name="TextBox 24"/>
          <p:cNvSpPr txBox="1"/>
          <p:nvPr/>
        </p:nvSpPr>
        <p:spPr>
          <a:xfrm>
            <a:off x="2377440" y="4023360"/>
            <a:ext cx="3931920" cy="45720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0 / 30% / 80% / 100% / 100%</a:t>
            </a:r>
          </a:p>
        </p:txBody>
      </p:sp>
      <p:sp>
        <p:nvSpPr>
          <p:cNvPr id="26" name="TextBox 25"/>
          <p:cNvSpPr txBox="1"/>
          <p:nvPr/>
        </p:nvSpPr>
        <p:spPr>
          <a:xfrm>
            <a:off x="6858000" y="1554480"/>
            <a:ext cx="5029200" cy="365760"/>
          </a:xfrm>
          <a:prstGeom prst="rect">
            <a:avLst/>
          </a:prstGeom>
          <a:noFill/>
        </p:spPr>
        <p:txBody>
          <a:bodyPr wrap="square" anchor="t" lIns="45720" rIns="45720" tIns="18288" bIns="18288">
            <a:spAutoFit/>
          </a:bodyPr>
          <a:lstStyle/>
          <a:p>
            <a:pPr algn="l"/>
            <a:r>
              <a:rPr sz="1400" b="1">
                <a:solidFill>
                  <a:srgbClr val="003366"/>
                </a:solidFill>
                <a:latin typeface="Noto Serif CJK JP"/>
                <a:ea typeface="Noto Serif CJK JP"/>
              </a:rPr>
              <a:t>标准化链路（从文件到执行）</a:t>
            </a:r>
          </a:p>
        </p:txBody>
      </p:sp>
      <p:sp>
        <p:nvSpPr>
          <p:cNvPr id="27" name="Rectangle 26"/>
          <p:cNvSpPr/>
          <p:nvPr/>
        </p:nvSpPr>
        <p:spPr>
          <a:xfrm>
            <a:off x="6858000" y="2011680"/>
            <a:ext cx="1554480" cy="73152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58000" y="2011680"/>
            <a:ext cx="1554480" cy="73152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流程目录</a:t>
            </a:r>
          </a:p>
        </p:txBody>
      </p:sp>
      <p:cxnSp>
        <p:nvCxnSpPr>
          <p:cNvPr id="29" name="Connector 28"/>
          <p:cNvCxnSpPr/>
          <p:nvPr/>
        </p:nvCxnSpPr>
        <p:spPr>
          <a:xfrm>
            <a:off x="8412480" y="2377440"/>
            <a:ext cx="137160" cy="0"/>
          </a:xfrm>
          <a:prstGeom prst="line">
            <a:avLst/>
          </a:prstGeom>
          <a:ln w="1905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8549640" y="2011680"/>
            <a:ext cx="1554480" cy="73152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549640" y="2011680"/>
            <a:ext cx="1554480" cy="73152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泳道图</a:t>
            </a:r>
          </a:p>
        </p:txBody>
      </p:sp>
      <p:cxnSp>
        <p:nvCxnSpPr>
          <p:cNvPr id="32" name="Connector 31"/>
          <p:cNvCxnSpPr/>
          <p:nvPr/>
        </p:nvCxnSpPr>
        <p:spPr>
          <a:xfrm>
            <a:off x="10104120" y="2377440"/>
            <a:ext cx="137160" cy="0"/>
          </a:xfrm>
          <a:prstGeom prst="line">
            <a:avLst/>
          </a:prstGeom>
          <a:ln w="1905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0241280" y="2011680"/>
            <a:ext cx="1554480" cy="73152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241280" y="2011680"/>
            <a:ext cx="1554480" cy="73152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岗位 SOP</a:t>
            </a:r>
          </a:p>
        </p:txBody>
      </p:sp>
      <p:cxnSp>
        <p:nvCxnSpPr>
          <p:cNvPr id="35" name="Connector 34"/>
          <p:cNvCxnSpPr/>
          <p:nvPr/>
        </p:nvCxnSpPr>
        <p:spPr>
          <a:xfrm flipH="1">
            <a:off x="6858000" y="2377440"/>
            <a:ext cx="4937760" cy="914400"/>
          </a:xfrm>
          <a:prstGeom prst="line">
            <a:avLst/>
          </a:prstGeom>
          <a:ln w="1905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6858000" y="2926080"/>
            <a:ext cx="1554480" cy="73152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58000" y="2926080"/>
            <a:ext cx="1554480" cy="73152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系统表单</a:t>
            </a:r>
          </a:p>
        </p:txBody>
      </p:sp>
      <p:cxnSp>
        <p:nvCxnSpPr>
          <p:cNvPr id="38" name="Connector 37"/>
          <p:cNvCxnSpPr/>
          <p:nvPr/>
        </p:nvCxnSpPr>
        <p:spPr>
          <a:xfrm>
            <a:off x="8412480" y="3291840"/>
            <a:ext cx="137160" cy="0"/>
          </a:xfrm>
          <a:prstGeom prst="line">
            <a:avLst/>
          </a:prstGeom>
          <a:ln w="1905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549640" y="2926080"/>
            <a:ext cx="1554480" cy="73152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549640" y="2926080"/>
            <a:ext cx="1554480" cy="73152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版本控制</a:t>
            </a:r>
          </a:p>
        </p:txBody>
      </p:sp>
      <p:cxnSp>
        <p:nvCxnSpPr>
          <p:cNvPr id="41" name="Connector 40"/>
          <p:cNvCxnSpPr/>
          <p:nvPr/>
        </p:nvCxnSpPr>
        <p:spPr>
          <a:xfrm>
            <a:off x="10104120" y="3291840"/>
            <a:ext cx="137160" cy="0"/>
          </a:xfrm>
          <a:prstGeom prst="line">
            <a:avLst/>
          </a:prstGeom>
          <a:ln w="1905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10241280" y="2926080"/>
            <a:ext cx="1554480" cy="73152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241280" y="2926080"/>
            <a:ext cx="1554480" cy="73152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Owner 责任</a:t>
            </a:r>
          </a:p>
        </p:txBody>
      </p:sp>
      <p:sp>
        <p:nvSpPr>
          <p:cNvPr id="44" name="TextBox 43"/>
          <p:cNvSpPr txBox="1"/>
          <p:nvPr/>
        </p:nvSpPr>
        <p:spPr>
          <a:xfrm>
            <a:off x="457200" y="502920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升级判断卡</a:t>
            </a:r>
          </a:p>
        </p:txBody>
      </p:sp>
      <p:sp>
        <p:nvSpPr>
          <p:cNvPr id="45" name="TextBox 44"/>
          <p:cNvSpPr txBox="1"/>
          <p:nvPr/>
        </p:nvSpPr>
        <p:spPr>
          <a:xfrm>
            <a:off x="457200" y="5440680"/>
            <a:ext cx="11247120" cy="914400"/>
          </a:xfrm>
          <a:prstGeom prst="rect">
            <a:avLst/>
          </a:prstGeom>
          <a:noFill/>
        </p:spPr>
        <p:txBody>
          <a:bodyPr wrap="square" lIns="45720" rIns="45720">
            <a:spAutoFit/>
          </a:bodyPr>
          <a:lstStyle/>
          <a:p>
            <a:pPr algn="l">
              <a:lnSpc>
                <a:spcPct val="130000"/>
              </a:lnSpc>
            </a:pPr>
            <a:r>
              <a:rPr sz="1200" b="0">
                <a:solidFill>
                  <a:srgbClr val="333333"/>
                </a:solidFill>
                <a:latin typeface="Noto Serif CJK JP"/>
                <a:ea typeface="Noto Serif CJK JP"/>
              </a:rPr>
              <a:t>✗ 若核心流程覆盖率 &lt; 60% 且线上数据采集 &lt; 30% → 仍处于 L1-L2</a:t>
            </a:r>
          </a:p>
          <a:p>
            <a:pPr algn="l">
              <a:lnSpc>
                <a:spcPct val="130000"/>
              </a:lnSpc>
            </a:pPr>
            <a:r>
              <a:rPr sz="1200" b="0">
                <a:solidFill>
                  <a:srgbClr val="333333"/>
                </a:solidFill>
                <a:latin typeface="Noto Serif CJK JP"/>
                <a:ea typeface="Noto Serif CJK JP"/>
              </a:rPr>
              <a:t>✓ 若文档、泳道图、SOP、Owner 均达 80% 左右 → 具备向 L3 集成级升级的基础</a:t>
            </a:r>
          </a:p>
          <a:p>
            <a:pPr algn="l">
              <a:lnSpc>
                <a:spcPct val="130000"/>
              </a:lnSpc>
            </a:pPr>
            <a:r>
              <a:rPr sz="1200" b="0">
                <a:solidFill>
                  <a:srgbClr val="333333"/>
                </a:solidFill>
                <a:latin typeface="Noto Serif CJK JP"/>
                <a:ea typeface="Noto Serif CJK JP"/>
              </a:rPr>
              <a:t>· 流程标准化的目标不是统一文字，而是统一可执行的业务语言</a:t>
            </a:r>
          </a:p>
        </p:txBody>
      </p:sp>
      <p:sp>
        <p:nvSpPr>
          <p:cNvPr id="46" name="Rectangle 45"/>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强结论：标准化是 L1→L2→L3 的入场券，缺它所有 AI 投入都会空转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7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四维评估框架（二）：流程执行与数据贯通</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没有端到端执行数据，AI 只能停留在经验判断，将陷入模型空转</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1554480"/>
            <a:ext cx="11247120" cy="365760"/>
          </a:xfrm>
          <a:prstGeom prst="rect">
            <a:avLst/>
          </a:prstGeom>
          <a:noFill/>
        </p:spPr>
        <p:txBody>
          <a:bodyPr wrap="square" anchor="t" lIns="45720" rIns="45720" tIns="18288" bIns="18288">
            <a:spAutoFit/>
          </a:bodyPr>
          <a:lstStyle/>
          <a:p>
            <a:pPr algn="l"/>
            <a:r>
              <a:rPr sz="1400" b="1">
                <a:solidFill>
                  <a:srgbClr val="003366"/>
                </a:solidFill>
                <a:latin typeface="Noto Serif CJK JP"/>
                <a:ea typeface="Noto Serif CJK JP"/>
              </a:rPr>
              <a:t>5 项评估指标（数据贯通度）</a:t>
            </a:r>
          </a:p>
        </p:txBody>
      </p:sp>
      <p:sp>
        <p:nvSpPr>
          <p:cNvPr id="11" name="Rectangle 10"/>
          <p:cNvSpPr/>
          <p:nvPr/>
        </p:nvSpPr>
        <p:spPr>
          <a:xfrm>
            <a:off x="457200" y="2011680"/>
            <a:ext cx="11247120"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0116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1. 核心业务线上化率</a:t>
            </a:r>
          </a:p>
        </p:txBody>
      </p:sp>
      <p:sp>
        <p:nvSpPr>
          <p:cNvPr id="13" name="TextBox 12"/>
          <p:cNvSpPr txBox="1"/>
          <p:nvPr/>
        </p:nvSpPr>
        <p:spPr>
          <a:xfrm>
            <a:off x="3383280" y="20116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&lt;20% / 50-70% / 80-90% / 90-95% / &gt;95%</a:t>
            </a:r>
          </a:p>
        </p:txBody>
      </p:sp>
      <p:sp>
        <p:nvSpPr>
          <p:cNvPr id="14" name="Rectangle 13"/>
          <p:cNvSpPr/>
          <p:nvPr/>
        </p:nvSpPr>
        <p:spPr>
          <a:xfrm>
            <a:off x="457200" y="2468880"/>
            <a:ext cx="1124712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24688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2. 关键数据自动采集率</a:t>
            </a:r>
          </a:p>
        </p:txBody>
      </p:sp>
      <p:sp>
        <p:nvSpPr>
          <p:cNvPr id="16" name="TextBox 15"/>
          <p:cNvSpPr txBox="1"/>
          <p:nvPr/>
        </p:nvSpPr>
        <p:spPr>
          <a:xfrm>
            <a:off x="3383280" y="24688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0% / 10-30% / 50-70% / 80-90% / 100%</a:t>
            </a:r>
          </a:p>
        </p:txBody>
      </p:sp>
      <p:sp>
        <p:nvSpPr>
          <p:cNvPr id="17" name="Rectangle 16"/>
          <p:cNvSpPr/>
          <p:nvPr/>
        </p:nvSpPr>
        <p:spPr>
          <a:xfrm>
            <a:off x="457200" y="2926080"/>
            <a:ext cx="11247120"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29260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3. 跨系统数据打通率</a:t>
            </a:r>
          </a:p>
        </p:txBody>
      </p:sp>
      <p:sp>
        <p:nvSpPr>
          <p:cNvPr id="19" name="TextBox 18"/>
          <p:cNvSpPr txBox="1"/>
          <p:nvPr/>
        </p:nvSpPr>
        <p:spPr>
          <a:xfrm>
            <a:off x="3383280" y="29260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0% / 10-30% / 50-70% / 80-90% / 100%</a:t>
            </a:r>
          </a:p>
        </p:txBody>
      </p:sp>
      <p:sp>
        <p:nvSpPr>
          <p:cNvPr id="20" name="Rectangle 19"/>
          <p:cNvSpPr/>
          <p:nvPr/>
        </p:nvSpPr>
        <p:spPr>
          <a:xfrm>
            <a:off x="457200" y="3383280"/>
            <a:ext cx="1124712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8640" y="33832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4. 数据口径一致性</a:t>
            </a:r>
          </a:p>
        </p:txBody>
      </p:sp>
      <p:sp>
        <p:nvSpPr>
          <p:cNvPr id="22" name="TextBox 21"/>
          <p:cNvSpPr txBox="1"/>
          <p:nvPr/>
        </p:nvSpPr>
        <p:spPr>
          <a:xfrm>
            <a:off x="3383280" y="33832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天级 / 跨部门争议 / 基本统一 / 完全统一</a:t>
            </a:r>
          </a:p>
        </p:txBody>
      </p:sp>
      <p:sp>
        <p:nvSpPr>
          <p:cNvPr id="23" name="Rectangle 22"/>
          <p:cNvSpPr/>
          <p:nvPr/>
        </p:nvSpPr>
        <p:spPr>
          <a:xfrm>
            <a:off x="457200" y="3840480"/>
            <a:ext cx="11247120"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48640" y="38404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5. 数据时效性</a:t>
            </a:r>
          </a:p>
        </p:txBody>
      </p:sp>
      <p:sp>
        <p:nvSpPr>
          <p:cNvPr id="25" name="TextBox 24"/>
          <p:cNvSpPr txBox="1"/>
          <p:nvPr/>
        </p:nvSpPr>
        <p:spPr>
          <a:xfrm>
            <a:off x="3383280" y="38404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周级 / 天级 / 小时级 / 分钟级 / 实时</a:t>
            </a:r>
          </a:p>
        </p:txBody>
      </p:sp>
      <p:sp>
        <p:nvSpPr>
          <p:cNvPr id="26" name="TextBox 25"/>
          <p:cNvSpPr txBox="1"/>
          <p:nvPr/>
        </p:nvSpPr>
        <p:spPr>
          <a:xfrm>
            <a:off x="457200" y="448056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数据处理六步法 + 标杆数据</a:t>
            </a:r>
          </a:p>
        </p:txBody>
      </p:sp>
      <p:sp>
        <p:nvSpPr>
          <p:cNvPr id="27" name="TextBox 26"/>
          <p:cNvSpPr txBox="1"/>
          <p:nvPr/>
        </p:nvSpPr>
        <p:spPr>
          <a:xfrm>
            <a:off x="457200" y="4846320"/>
            <a:ext cx="11247120" cy="1371600"/>
          </a:xfrm>
          <a:prstGeom prst="rect">
            <a:avLst/>
          </a:prstGeom>
          <a:noFill/>
        </p:spPr>
        <p:txBody>
          <a:bodyPr wrap="square" lIns="45720" rIns="45720">
            <a:spAutoFit/>
          </a:bodyPr>
          <a:lstStyle/>
          <a:p>
            <a:pPr algn="l">
              <a:lnSpc>
                <a:spcPct val="130000"/>
              </a:lnSpc>
            </a:pPr>
            <a:r>
              <a:rPr sz="1200" b="0">
                <a:solidFill>
                  <a:srgbClr val="333333"/>
                </a:solidFill>
                <a:latin typeface="Noto Serif CJK JP"/>
                <a:ea typeface="Noto Serif CJK JP"/>
              </a:rPr>
              <a:t>① 采集（多源自动）  ② 清洗（标准化去重）  ③ 统一口径（字典+主数据）</a:t>
            </a:r>
          </a:p>
          <a:p>
            <a:pPr algn="l">
              <a:lnSpc>
                <a:spcPct val="130000"/>
              </a:lnSpc>
            </a:pPr>
            <a:r>
              <a:rPr sz="1200" b="0">
                <a:solidFill>
                  <a:srgbClr val="333333"/>
                </a:solidFill>
                <a:latin typeface="Noto Serif CJK JP"/>
                <a:ea typeface="Noto Serif CJK JP"/>
              </a:rPr>
              <a:t>④ 关联流程实例（事件链）  ⑤ 实时看板（KPI呈现）  ⑥ 异常预警（驱动预案）</a:t>
            </a:r>
          </a:p>
          <a:p>
            <a:pPr algn="l">
              <a:lnSpc>
                <a:spcPct val="130000"/>
              </a:lnSpc>
            </a:pPr>
            <a:r>
              <a:rPr sz="1200" b="0">
                <a:solidFill>
                  <a:srgbClr val="333333"/>
                </a:solidFill>
                <a:latin typeface="Noto Serif CJK JP"/>
                <a:ea typeface="Noto Serif CJK JP"/>
              </a:rPr>
              <a:t>标杆：美的 100% 业务运行数字化 / 70% 决策行为数字化 / 德勤 80% 企业用流程挖掘超 1 年</a:t>
            </a:r>
          </a:p>
        </p:txBody>
      </p:sp>
      <p:sp>
        <p:nvSpPr>
          <p:cNvPr id="28" name="Rectangle 27"/>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强结论：数据贯通不是 IT 集成项目，而是把流程运行事实转化为组织共同语言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8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四维评估框架（三）：AI 应用能力</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AI 关键不是部署多少模型，而是嵌入真实流程节点、获得运营上下文</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1554480"/>
            <a:ext cx="11247120" cy="365760"/>
          </a:xfrm>
          <a:prstGeom prst="rect">
            <a:avLst/>
          </a:prstGeom>
          <a:noFill/>
        </p:spPr>
        <p:txBody>
          <a:bodyPr wrap="square" anchor="t" lIns="45720" rIns="45720" tIns="18288" bIns="18288">
            <a:spAutoFit/>
          </a:bodyPr>
          <a:lstStyle/>
          <a:p>
            <a:pPr algn="l"/>
            <a:r>
              <a:rPr sz="1400" b="1">
                <a:solidFill>
                  <a:srgbClr val="003366"/>
                </a:solidFill>
                <a:latin typeface="Noto Serif CJK JP"/>
                <a:ea typeface="Noto Serif CJK JP"/>
              </a:rPr>
              <a:t>5 项 AI 应用指标</a:t>
            </a:r>
          </a:p>
        </p:txBody>
      </p:sp>
      <p:sp>
        <p:nvSpPr>
          <p:cNvPr id="11" name="Rectangle 10"/>
          <p:cNvSpPr/>
          <p:nvPr/>
        </p:nvSpPr>
        <p:spPr>
          <a:xfrm>
            <a:off x="457200" y="2011680"/>
            <a:ext cx="11247120"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0116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1. 流程挖掘覆盖率</a:t>
            </a:r>
          </a:p>
        </p:txBody>
      </p:sp>
      <p:sp>
        <p:nvSpPr>
          <p:cNvPr id="13" name="TextBox 12"/>
          <p:cNvSpPr txBox="1"/>
          <p:nvPr/>
        </p:nvSpPr>
        <p:spPr>
          <a:xfrm>
            <a:off x="3383280" y="20116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&lt;20% / 30-50% / 60-80% / &gt;80% / &gt;80%</a:t>
            </a:r>
          </a:p>
        </p:txBody>
      </p:sp>
      <p:sp>
        <p:nvSpPr>
          <p:cNvPr id="14" name="Rectangle 13"/>
          <p:cNvSpPr/>
          <p:nvPr/>
        </p:nvSpPr>
        <p:spPr>
          <a:xfrm>
            <a:off x="457200" y="2468880"/>
            <a:ext cx="1124712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24688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2. AI 辅助决策嵌入</a:t>
            </a:r>
          </a:p>
        </p:txBody>
      </p:sp>
      <p:sp>
        <p:nvSpPr>
          <p:cNvPr id="16" name="TextBox 15"/>
          <p:cNvSpPr txBox="1"/>
          <p:nvPr/>
        </p:nvSpPr>
        <p:spPr>
          <a:xfrm>
            <a:off x="3383280" y="24688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&lt;10% / 20-30% / 30-50% / &gt;50% / &gt;50%</a:t>
            </a:r>
          </a:p>
        </p:txBody>
      </p:sp>
      <p:sp>
        <p:nvSpPr>
          <p:cNvPr id="17" name="Rectangle 16"/>
          <p:cNvSpPr/>
          <p:nvPr/>
        </p:nvSpPr>
        <p:spPr>
          <a:xfrm>
            <a:off x="457200" y="2926080"/>
            <a:ext cx="11247120"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29260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3. 异常预警能力</a:t>
            </a:r>
          </a:p>
        </p:txBody>
      </p:sp>
      <p:sp>
        <p:nvSpPr>
          <p:cNvPr id="19" name="TextBox 18"/>
          <p:cNvSpPr txBox="1"/>
          <p:nvPr/>
        </p:nvSpPr>
        <p:spPr>
          <a:xfrm>
            <a:off x="3383280" y="29260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无 / 滞后 / 实时但窄 / 全流程 / 主动</a:t>
            </a:r>
          </a:p>
        </p:txBody>
      </p:sp>
      <p:sp>
        <p:nvSpPr>
          <p:cNvPr id="20" name="Rectangle 19"/>
          <p:cNvSpPr/>
          <p:nvPr/>
        </p:nvSpPr>
        <p:spPr>
          <a:xfrm>
            <a:off x="457200" y="3383280"/>
            <a:ext cx="1124712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8640" y="33832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4. AI 应用深度</a:t>
            </a:r>
          </a:p>
        </p:txBody>
      </p:sp>
      <p:sp>
        <p:nvSpPr>
          <p:cNvPr id="22" name="TextBox 21"/>
          <p:cNvSpPr txBox="1"/>
          <p:nvPr/>
        </p:nvSpPr>
        <p:spPr>
          <a:xfrm>
            <a:off x="3383280" y="33832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试点零散 / 节点辅助 / 流程嵌入 / 闭环优化</a:t>
            </a:r>
          </a:p>
        </p:txBody>
      </p:sp>
      <p:sp>
        <p:nvSpPr>
          <p:cNvPr id="23" name="Rectangle 22"/>
          <p:cNvSpPr/>
          <p:nvPr/>
        </p:nvSpPr>
        <p:spPr>
          <a:xfrm>
            <a:off x="457200" y="3840480"/>
            <a:ext cx="11247120"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48640" y="38404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5. 洞察时效性</a:t>
            </a:r>
          </a:p>
        </p:txBody>
      </p:sp>
      <p:sp>
        <p:nvSpPr>
          <p:cNvPr id="25" name="TextBox 24"/>
          <p:cNvSpPr txBox="1"/>
          <p:nvPr/>
        </p:nvSpPr>
        <p:spPr>
          <a:xfrm>
            <a:off x="3383280" y="38404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周报 / 日报 / 实时 / 预测预警 / 自主</a:t>
            </a:r>
          </a:p>
        </p:txBody>
      </p:sp>
      <p:sp>
        <p:nvSpPr>
          <p:cNvPr id="26" name="TextBox 25"/>
          <p:cNvSpPr txBox="1"/>
          <p:nvPr/>
        </p:nvSpPr>
        <p:spPr>
          <a:xfrm>
            <a:off x="457200" y="448056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AI 价值的关键架构洞察</a:t>
            </a:r>
          </a:p>
        </p:txBody>
      </p:sp>
      <p:sp>
        <p:nvSpPr>
          <p:cNvPr id="27" name="TextBox 26"/>
          <p:cNvSpPr txBox="1"/>
          <p:nvPr/>
        </p:nvSpPr>
        <p:spPr>
          <a:xfrm>
            <a:off x="457200" y="4846320"/>
            <a:ext cx="11247120" cy="1371600"/>
          </a:xfrm>
          <a:prstGeom prst="rect">
            <a:avLst/>
          </a:prstGeom>
          <a:noFill/>
        </p:spPr>
        <p:txBody>
          <a:bodyPr wrap="square" lIns="45720" rIns="45720">
            <a:spAutoFit/>
          </a:bodyPr>
          <a:lstStyle/>
          <a:p>
            <a:pPr algn="l">
              <a:lnSpc>
                <a:spcPct val="130000"/>
              </a:lnSpc>
            </a:pPr>
            <a:r>
              <a:rPr sz="1200" b="0">
                <a:solidFill>
                  <a:srgbClr val="333333"/>
                </a:solidFill>
                <a:latin typeface="Noto Serif CJK JP"/>
                <a:ea typeface="Noto Serif CJK JP"/>
              </a:rPr>
              <a:t>· 没有日志就没有流程事实（智能的基础是完整准确的事件日志）</a:t>
            </a:r>
          </a:p>
          <a:p>
            <a:pPr algn="l">
              <a:lnSpc>
                <a:spcPct val="130000"/>
              </a:lnSpc>
            </a:pPr>
            <a:r>
              <a:rPr sz="1200" b="0">
                <a:solidFill>
                  <a:srgbClr val="333333"/>
                </a:solidFill>
                <a:latin typeface="Noto Serif CJK JP"/>
                <a:ea typeface="Noto Serif CJK JP"/>
              </a:rPr>
              <a:t>· 没有对象中心模型就难以理解端到端业务（多跨业务语义形成统一运营上下文）</a:t>
            </a:r>
          </a:p>
          <a:p>
            <a:pPr algn="l">
              <a:lnSpc>
                <a:spcPct val="130000"/>
              </a:lnSpc>
            </a:pPr>
            <a:r>
              <a:rPr sz="1200" b="0">
                <a:solidFill>
                  <a:srgbClr val="333333"/>
                </a:solidFill>
                <a:latin typeface="Noto Serif CJK JP"/>
                <a:ea typeface="Noto Serif CJK JP"/>
              </a:rPr>
              <a:t>· 没有行动闭环，AI 只能停留建议层（洞察必须驱动执行、反馈与持续优化）</a:t>
            </a:r>
          </a:p>
          <a:p>
            <a:pPr algn="l">
              <a:lnSpc>
                <a:spcPct val="130000"/>
              </a:lnSpc>
            </a:pPr>
            <a:r>
              <a:rPr sz="1200" b="0">
                <a:solidFill>
                  <a:srgbClr val="333333"/>
                </a:solidFill>
                <a:latin typeface="Noto Serif CJK JP"/>
                <a:ea typeface="Noto Serif CJK JP"/>
              </a:rPr>
              <a:t>· AI 不是流程成熟度的捷径，而是流程数据、治理与场景成熟之后的放大器</a:t>
            </a:r>
          </a:p>
        </p:txBody>
      </p:sp>
      <p:sp>
        <p:nvSpPr>
          <p:cNvPr id="28" name="Rectangle 27"/>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强结论：先有数据 + 治理 + 场景，AI 才有放大空间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9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四维评估框架（四）：流程治理与持续优化</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治理不是归档管理，而是 Owner 责任 + KPI 牵引 + 审计约束 + 持续闭环</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1554480"/>
            <a:ext cx="11247120" cy="365760"/>
          </a:xfrm>
          <a:prstGeom prst="rect">
            <a:avLst/>
          </a:prstGeom>
          <a:noFill/>
        </p:spPr>
        <p:txBody>
          <a:bodyPr wrap="square" anchor="t" lIns="45720" rIns="45720" tIns="18288" bIns="18288">
            <a:spAutoFit/>
          </a:bodyPr>
          <a:lstStyle/>
          <a:p>
            <a:pPr algn="l"/>
            <a:r>
              <a:rPr sz="1400" b="1">
                <a:solidFill>
                  <a:srgbClr val="003366"/>
                </a:solidFill>
                <a:latin typeface="Noto Serif CJK JP"/>
                <a:ea typeface="Noto Serif CJK JP"/>
              </a:rPr>
              <a:t>5 项治理指标（L1→L5）</a:t>
            </a:r>
          </a:p>
        </p:txBody>
      </p:sp>
      <p:sp>
        <p:nvSpPr>
          <p:cNvPr id="11" name="Rectangle 10"/>
          <p:cNvSpPr/>
          <p:nvPr/>
        </p:nvSpPr>
        <p:spPr>
          <a:xfrm>
            <a:off x="457200" y="2011680"/>
            <a:ext cx="11247120"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20116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1. Owner 覆盖率</a:t>
            </a:r>
          </a:p>
        </p:txBody>
      </p:sp>
      <p:sp>
        <p:nvSpPr>
          <p:cNvPr id="13" name="TextBox 12"/>
          <p:cNvSpPr txBox="1"/>
          <p:nvPr/>
        </p:nvSpPr>
        <p:spPr>
          <a:xfrm>
            <a:off x="3383280" y="20116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0% / 30% / 80% / 100% / 100%</a:t>
            </a:r>
          </a:p>
        </p:txBody>
      </p:sp>
      <p:sp>
        <p:nvSpPr>
          <p:cNvPr id="14" name="Rectangle 13"/>
          <p:cNvSpPr/>
          <p:nvPr/>
        </p:nvSpPr>
        <p:spPr>
          <a:xfrm>
            <a:off x="457200" y="2468880"/>
            <a:ext cx="1124712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24688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2. 优化闭环周期</a:t>
            </a:r>
          </a:p>
        </p:txBody>
      </p:sp>
      <p:sp>
        <p:nvSpPr>
          <p:cNvPr id="16" name="TextBox 15"/>
          <p:cNvSpPr txBox="1"/>
          <p:nvPr/>
        </p:nvSpPr>
        <p:spPr>
          <a:xfrm>
            <a:off x="3383280" y="24688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无 / 年 / 半年 / 季度 / 月度</a:t>
            </a:r>
          </a:p>
        </p:txBody>
      </p:sp>
      <p:sp>
        <p:nvSpPr>
          <p:cNvPr id="17" name="Rectangle 16"/>
          <p:cNvSpPr/>
          <p:nvPr/>
        </p:nvSpPr>
        <p:spPr>
          <a:xfrm>
            <a:off x="457200" y="2926080"/>
            <a:ext cx="11247120"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29260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3. KPI 部门挂钩</a:t>
            </a:r>
          </a:p>
        </p:txBody>
      </p:sp>
      <p:sp>
        <p:nvSpPr>
          <p:cNvPr id="19" name="TextBox 18"/>
          <p:cNvSpPr txBox="1"/>
          <p:nvPr/>
        </p:nvSpPr>
        <p:spPr>
          <a:xfrm>
            <a:off x="3383280" y="29260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&lt;10% / 30% / 60% / 80% / &gt;90%</a:t>
            </a:r>
          </a:p>
        </p:txBody>
      </p:sp>
      <p:sp>
        <p:nvSpPr>
          <p:cNvPr id="20" name="Rectangle 19"/>
          <p:cNvSpPr/>
          <p:nvPr/>
        </p:nvSpPr>
        <p:spPr>
          <a:xfrm>
            <a:off x="457200" y="3383280"/>
            <a:ext cx="1124712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48640" y="33832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4. 评估执行率</a:t>
            </a:r>
          </a:p>
        </p:txBody>
      </p:sp>
      <p:sp>
        <p:nvSpPr>
          <p:cNvPr id="22" name="TextBox 21"/>
          <p:cNvSpPr txBox="1"/>
          <p:nvPr/>
        </p:nvSpPr>
        <p:spPr>
          <a:xfrm>
            <a:off x="3383280" y="33832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0 次/年 / 1 次 / 1 次 / 2 次 / 季度</a:t>
            </a:r>
          </a:p>
        </p:txBody>
      </p:sp>
      <p:sp>
        <p:nvSpPr>
          <p:cNvPr id="23" name="Rectangle 22"/>
          <p:cNvSpPr/>
          <p:nvPr/>
        </p:nvSpPr>
        <p:spPr>
          <a:xfrm>
            <a:off x="457200" y="3840480"/>
            <a:ext cx="11247120" cy="4114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48640" y="3840480"/>
            <a:ext cx="2743200" cy="4114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5. 审计通过率</a:t>
            </a:r>
          </a:p>
        </p:txBody>
      </p:sp>
      <p:sp>
        <p:nvSpPr>
          <p:cNvPr id="25" name="TextBox 24"/>
          <p:cNvSpPr txBox="1"/>
          <p:nvPr/>
        </p:nvSpPr>
        <p:spPr>
          <a:xfrm>
            <a:off x="3383280" y="3840480"/>
            <a:ext cx="8229600" cy="41148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&lt;60% / 70% / 85% / 95% / &gt;99%</a:t>
            </a:r>
          </a:p>
        </p:txBody>
      </p:sp>
      <p:sp>
        <p:nvSpPr>
          <p:cNvPr id="26" name="TextBox 25"/>
          <p:cNvSpPr txBox="1"/>
          <p:nvPr/>
        </p:nvSpPr>
        <p:spPr>
          <a:xfrm>
            <a:off x="457200" y="448056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治理飞轮（持续闭环）</a:t>
            </a:r>
          </a:p>
        </p:txBody>
      </p:sp>
      <p:sp>
        <p:nvSpPr>
          <p:cNvPr id="27" name="Rectangle 26"/>
          <p:cNvSpPr/>
          <p:nvPr/>
        </p:nvSpPr>
        <p:spPr>
          <a:xfrm>
            <a:off x="457200" y="4846320"/>
            <a:ext cx="1828800" cy="54864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57200" y="4846320"/>
            <a:ext cx="1828800" cy="54864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1. 定义 Owner</a:t>
            </a:r>
          </a:p>
        </p:txBody>
      </p:sp>
      <p:cxnSp>
        <p:nvCxnSpPr>
          <p:cNvPr id="29" name="Connector 28"/>
          <p:cNvCxnSpPr/>
          <p:nvPr/>
        </p:nvCxnSpPr>
        <p:spPr>
          <a:xfrm>
            <a:off x="2286000" y="5120640"/>
            <a:ext cx="137160" cy="0"/>
          </a:xfrm>
          <a:prstGeom prst="line">
            <a:avLst/>
          </a:prstGeom>
          <a:ln w="1905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2423160" y="4846320"/>
            <a:ext cx="1828800" cy="54864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423160" y="4846320"/>
            <a:ext cx="1828800" cy="54864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2. 设定 KPI</a:t>
            </a:r>
          </a:p>
        </p:txBody>
      </p:sp>
      <p:cxnSp>
        <p:nvCxnSpPr>
          <p:cNvPr id="32" name="Connector 31"/>
          <p:cNvCxnSpPr/>
          <p:nvPr/>
        </p:nvCxnSpPr>
        <p:spPr>
          <a:xfrm>
            <a:off x="4251960" y="5120640"/>
            <a:ext cx="137160" cy="0"/>
          </a:xfrm>
          <a:prstGeom prst="line">
            <a:avLst/>
          </a:prstGeom>
          <a:ln w="1905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389120" y="4846320"/>
            <a:ext cx="1828800" cy="54864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389120" y="4846320"/>
            <a:ext cx="1828800" cy="54864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3. 采集数据</a:t>
            </a:r>
          </a:p>
        </p:txBody>
      </p:sp>
      <p:cxnSp>
        <p:nvCxnSpPr>
          <p:cNvPr id="35" name="Connector 34"/>
          <p:cNvCxnSpPr/>
          <p:nvPr/>
        </p:nvCxnSpPr>
        <p:spPr>
          <a:xfrm>
            <a:off x="6217920" y="5120640"/>
            <a:ext cx="137160" cy="0"/>
          </a:xfrm>
          <a:prstGeom prst="line">
            <a:avLst/>
          </a:prstGeom>
          <a:ln w="1905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6355079" y="4846320"/>
            <a:ext cx="1828800" cy="54864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355079" y="4846320"/>
            <a:ext cx="1828800" cy="54864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4. 发现偏差</a:t>
            </a:r>
          </a:p>
        </p:txBody>
      </p:sp>
      <p:cxnSp>
        <p:nvCxnSpPr>
          <p:cNvPr id="38" name="Connector 37"/>
          <p:cNvCxnSpPr/>
          <p:nvPr/>
        </p:nvCxnSpPr>
        <p:spPr>
          <a:xfrm>
            <a:off x="8183879" y="5120640"/>
            <a:ext cx="137160" cy="0"/>
          </a:xfrm>
          <a:prstGeom prst="line">
            <a:avLst/>
          </a:prstGeom>
          <a:ln w="1905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321040" y="4846320"/>
            <a:ext cx="1828800" cy="54864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321040" y="4846320"/>
            <a:ext cx="1828800" cy="54864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5. 发起优化</a:t>
            </a:r>
          </a:p>
        </p:txBody>
      </p:sp>
      <p:cxnSp>
        <p:nvCxnSpPr>
          <p:cNvPr id="41" name="Connector 40"/>
          <p:cNvCxnSpPr/>
          <p:nvPr/>
        </p:nvCxnSpPr>
        <p:spPr>
          <a:xfrm>
            <a:off x="10149840" y="5120640"/>
            <a:ext cx="137160" cy="0"/>
          </a:xfrm>
          <a:prstGeom prst="line">
            <a:avLst/>
          </a:prstGeom>
          <a:ln w="1905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10287000" y="4846320"/>
            <a:ext cx="1828800" cy="54864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287000" y="4846320"/>
            <a:ext cx="1828800" cy="54864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6. 复盘更新</a:t>
            </a:r>
          </a:p>
        </p:txBody>
      </p:sp>
      <p:sp>
        <p:nvSpPr>
          <p:cNvPr id="44" name="TextBox 43"/>
          <p:cNvSpPr txBox="1"/>
          <p:nvPr/>
        </p:nvSpPr>
        <p:spPr>
          <a:xfrm>
            <a:off x="457200" y="5577840"/>
            <a:ext cx="11247120" cy="365760"/>
          </a:xfrm>
          <a:prstGeom prst="rect">
            <a:avLst/>
          </a:prstGeom>
          <a:noFill/>
        </p:spPr>
        <p:txBody>
          <a:bodyPr wrap="square" anchor="t" lIns="45720" rIns="45720" tIns="18288" bIns="18288">
            <a:spAutoFit/>
          </a:bodyPr>
          <a:lstStyle/>
          <a:p>
            <a:pPr algn="l"/>
            <a:r>
              <a:rPr sz="1400" b="1">
                <a:solidFill>
                  <a:srgbClr val="003366"/>
                </a:solidFill>
                <a:latin typeface="Noto Serif CJK JP"/>
                <a:ea typeface="Noto Serif CJK JP"/>
              </a:rPr>
              <a:t>治理机制清单</a:t>
            </a:r>
          </a:p>
        </p:txBody>
      </p:sp>
      <p:sp>
        <p:nvSpPr>
          <p:cNvPr id="45" name="TextBox 44"/>
          <p:cNvSpPr txBox="1"/>
          <p:nvPr/>
        </p:nvSpPr>
        <p:spPr>
          <a:xfrm>
            <a:off x="457200" y="5943600"/>
            <a:ext cx="11247120" cy="365760"/>
          </a:xfrm>
          <a:prstGeom prst="rect">
            <a:avLst/>
          </a:prstGeom>
          <a:noFill/>
        </p:spPr>
        <p:txBody>
          <a:bodyPr wrap="square" lIns="45720" rIns="45720">
            <a:spAutoFit/>
          </a:bodyPr>
          <a:lstStyle/>
          <a:p>
            <a:pPr algn="l">
              <a:lnSpc>
                <a:spcPct val="130000"/>
              </a:lnSpc>
            </a:pPr>
            <a:r>
              <a:rPr sz="1100" b="0">
                <a:solidFill>
                  <a:srgbClr val="333333"/>
                </a:solidFill>
                <a:latin typeface="Noto Serif CJK JP"/>
                <a:ea typeface="Noto Serif CJK JP"/>
              </a:rPr>
              <a:t>权责（Owner/GPO） → 指标（流程KPI/部门绩效） → 会议（月度/季度） → 审计（CT/PR/内控） → 版本（变更/发布）</a:t>
            </a:r>
          </a:p>
        </p:txBody>
      </p:sp>
      <p:sp>
        <p:nvSpPr>
          <p:cNvPr id="46" name="Rectangle 45"/>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强结论：流程治理的核心不是增加审批，而是让每次偏差都能被发现、归因、纠正、沉淀</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10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标杆案例：华为流程成熟度实践</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端到端流程重构 + 全球流程 Owner 治理 + 三位一体评估 + 数字化执行闭环</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uawei.png"/>
          <p:cNvPicPr>
            <a:picLocks noChangeAspect="1"/>
          </p:cNvPicPr>
          <p:nvPr/>
        </p:nvPicPr>
        <p:blipFill>
          <a:blip r:embed="rId2"/>
          <a:stretch>
            <a:fillRect/>
          </a:stretch>
        </p:blipFill>
        <p:spPr>
          <a:xfrm>
            <a:off x="457200" y="1554480"/>
            <a:ext cx="6858000" cy="2286000"/>
          </a:xfrm>
          <a:prstGeom prst="rect">
            <a:avLst/>
          </a:prstGeom>
        </p:spPr>
      </p:pic>
      <p:sp>
        <p:nvSpPr>
          <p:cNvPr id="11" name="TextBox 10"/>
          <p:cNvSpPr txBox="1"/>
          <p:nvPr/>
        </p:nvSpPr>
        <p:spPr>
          <a:xfrm>
            <a:off x="7589520" y="1554480"/>
            <a:ext cx="4297680" cy="365760"/>
          </a:xfrm>
          <a:prstGeom prst="rect">
            <a:avLst/>
          </a:prstGeom>
          <a:noFill/>
        </p:spPr>
        <p:txBody>
          <a:bodyPr wrap="square" anchor="t" lIns="45720" rIns="45720" tIns="18288" bIns="18288">
            <a:spAutoFit/>
          </a:bodyPr>
          <a:lstStyle/>
          <a:p>
            <a:pPr algn="l"/>
            <a:r>
              <a:rPr sz="1400" b="1">
                <a:solidFill>
                  <a:srgbClr val="003366"/>
                </a:solidFill>
                <a:latin typeface="Noto Serif CJK JP"/>
                <a:ea typeface="Noto Serif CJK JP"/>
              </a:rPr>
              <a:t>华为 L1-L6 流程分层</a:t>
            </a:r>
          </a:p>
        </p:txBody>
      </p:sp>
      <p:sp>
        <p:nvSpPr>
          <p:cNvPr id="12" name="Rectangle 11"/>
          <p:cNvSpPr/>
          <p:nvPr/>
        </p:nvSpPr>
        <p:spPr>
          <a:xfrm>
            <a:off x="7589520" y="1965960"/>
            <a:ext cx="4297680" cy="3657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680960" y="1965960"/>
            <a:ext cx="1097280" cy="365760"/>
          </a:xfrm>
          <a:prstGeom prst="rect">
            <a:avLst/>
          </a:prstGeom>
          <a:noFill/>
        </p:spPr>
        <p:txBody>
          <a:bodyPr wrap="square" anchor="ctr" lIns="45720" rIns="45720" tIns="18288" bIns="18288">
            <a:spAutoFit/>
          </a:bodyPr>
          <a:lstStyle/>
          <a:p>
            <a:pPr algn="l"/>
            <a:r>
              <a:rPr sz="1100" b="1">
                <a:solidFill>
                  <a:srgbClr val="FFFFFF"/>
                </a:solidFill>
                <a:latin typeface="Noto Serif CJK JP"/>
                <a:ea typeface="Noto Serif CJK JP"/>
              </a:rPr>
              <a:t>L1 战略价值链</a:t>
            </a:r>
          </a:p>
        </p:txBody>
      </p:sp>
      <p:sp>
        <p:nvSpPr>
          <p:cNvPr id="14" name="TextBox 13"/>
          <p:cNvSpPr txBox="1"/>
          <p:nvPr/>
        </p:nvSpPr>
        <p:spPr>
          <a:xfrm>
            <a:off x="8778240" y="1965960"/>
            <a:ext cx="3108960" cy="365760"/>
          </a:xfrm>
          <a:prstGeom prst="rect">
            <a:avLst/>
          </a:prstGeom>
          <a:noFill/>
        </p:spPr>
        <p:txBody>
          <a:bodyPr wrap="square" anchor="ctr" lIns="45720" rIns="45720" tIns="18288" bIns="18288">
            <a:spAutoFit/>
          </a:bodyPr>
          <a:lstStyle/>
          <a:p>
            <a:pPr algn="l"/>
            <a:r>
              <a:rPr sz="1000" b="0">
                <a:solidFill>
                  <a:srgbClr val="FFFFFF"/>
                </a:solidFill>
                <a:latin typeface="Noto Serif CJK JP"/>
                <a:ea typeface="Noto Serif CJK JP"/>
              </a:rPr>
              <a:t>Why to Do / 战略解码</a:t>
            </a:r>
          </a:p>
        </p:txBody>
      </p:sp>
      <p:sp>
        <p:nvSpPr>
          <p:cNvPr id="15" name="Rectangle 14"/>
          <p:cNvSpPr/>
          <p:nvPr/>
        </p:nvSpPr>
        <p:spPr>
          <a:xfrm>
            <a:off x="7589520" y="2377440"/>
            <a:ext cx="4297680" cy="3657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680960" y="2377440"/>
            <a:ext cx="1097280" cy="365760"/>
          </a:xfrm>
          <a:prstGeom prst="rect">
            <a:avLst/>
          </a:prstGeom>
          <a:noFill/>
        </p:spPr>
        <p:txBody>
          <a:bodyPr wrap="square" anchor="ctr" lIns="45720" rIns="45720" tIns="18288" bIns="18288">
            <a:spAutoFit/>
          </a:bodyPr>
          <a:lstStyle/>
          <a:p>
            <a:pPr algn="l"/>
            <a:r>
              <a:rPr sz="1100" b="1">
                <a:solidFill>
                  <a:srgbClr val="FFFFFF"/>
                </a:solidFill>
                <a:latin typeface="Noto Serif CJK JP"/>
                <a:ea typeface="Noto Serif CJK JP"/>
              </a:rPr>
              <a:t>L2 业务领域</a:t>
            </a:r>
          </a:p>
        </p:txBody>
      </p:sp>
      <p:sp>
        <p:nvSpPr>
          <p:cNvPr id="17" name="TextBox 16"/>
          <p:cNvSpPr txBox="1"/>
          <p:nvPr/>
        </p:nvSpPr>
        <p:spPr>
          <a:xfrm>
            <a:off x="8778240" y="2377440"/>
            <a:ext cx="3108960" cy="365760"/>
          </a:xfrm>
          <a:prstGeom prst="rect">
            <a:avLst/>
          </a:prstGeom>
          <a:noFill/>
        </p:spPr>
        <p:txBody>
          <a:bodyPr wrap="square" anchor="ctr" lIns="45720" rIns="45720" tIns="18288" bIns="18288">
            <a:spAutoFit/>
          </a:bodyPr>
          <a:lstStyle/>
          <a:p>
            <a:pPr algn="l"/>
            <a:r>
              <a:rPr sz="1000" b="0">
                <a:solidFill>
                  <a:srgbClr val="FFFFFF"/>
                </a:solidFill>
                <a:latin typeface="Noto Serif CJK JP"/>
                <a:ea typeface="Noto Serif CJK JP"/>
              </a:rPr>
              <a:t>What to Do / 流程主干</a:t>
            </a:r>
          </a:p>
        </p:txBody>
      </p:sp>
      <p:sp>
        <p:nvSpPr>
          <p:cNvPr id="18" name="Rectangle 17"/>
          <p:cNvSpPr/>
          <p:nvPr/>
        </p:nvSpPr>
        <p:spPr>
          <a:xfrm>
            <a:off x="7589520" y="2788920"/>
            <a:ext cx="4297680" cy="3657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80960" y="2788920"/>
            <a:ext cx="1097280" cy="365760"/>
          </a:xfrm>
          <a:prstGeom prst="rect">
            <a:avLst/>
          </a:prstGeom>
          <a:noFill/>
        </p:spPr>
        <p:txBody>
          <a:bodyPr wrap="square" anchor="ctr" lIns="45720" rIns="45720" tIns="18288" bIns="18288">
            <a:spAutoFit/>
          </a:bodyPr>
          <a:lstStyle/>
          <a:p>
            <a:pPr algn="l"/>
            <a:r>
              <a:rPr sz="1100" b="1">
                <a:solidFill>
                  <a:srgbClr val="FFFFFF"/>
                </a:solidFill>
                <a:latin typeface="Noto Serif CJK JP"/>
                <a:ea typeface="Noto Serif CJK JP"/>
              </a:rPr>
              <a:t>L3 业务管控</a:t>
            </a:r>
          </a:p>
        </p:txBody>
      </p:sp>
      <p:sp>
        <p:nvSpPr>
          <p:cNvPr id="20" name="TextBox 19"/>
          <p:cNvSpPr txBox="1"/>
          <p:nvPr/>
        </p:nvSpPr>
        <p:spPr>
          <a:xfrm>
            <a:off x="8778240" y="2788920"/>
            <a:ext cx="3108960" cy="365760"/>
          </a:xfrm>
          <a:prstGeom prst="rect">
            <a:avLst/>
          </a:prstGeom>
          <a:noFill/>
        </p:spPr>
        <p:txBody>
          <a:bodyPr wrap="square" anchor="ctr" lIns="45720" rIns="45720" tIns="18288" bIns="18288">
            <a:spAutoFit/>
          </a:bodyPr>
          <a:lstStyle/>
          <a:p>
            <a:pPr algn="l"/>
            <a:r>
              <a:rPr sz="1000" b="0">
                <a:solidFill>
                  <a:srgbClr val="FFFFFF"/>
                </a:solidFill>
                <a:latin typeface="Noto Serif CJK JP"/>
                <a:ea typeface="Noto Serif CJK JP"/>
              </a:rPr>
              <a:t>What to Do / 管控规则</a:t>
            </a:r>
          </a:p>
        </p:txBody>
      </p:sp>
      <p:sp>
        <p:nvSpPr>
          <p:cNvPr id="21" name="Rectangle 20"/>
          <p:cNvSpPr/>
          <p:nvPr/>
        </p:nvSpPr>
        <p:spPr>
          <a:xfrm>
            <a:off x="7589520" y="3200400"/>
            <a:ext cx="4297680" cy="36576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680960" y="3200400"/>
            <a:ext cx="1097280" cy="365760"/>
          </a:xfrm>
          <a:prstGeom prst="rect">
            <a:avLst/>
          </a:prstGeom>
          <a:noFill/>
        </p:spPr>
        <p:txBody>
          <a:bodyPr wrap="square" anchor="ctr" lIns="45720" rIns="45720" tIns="18288" bIns="18288">
            <a:spAutoFit/>
          </a:bodyPr>
          <a:lstStyle/>
          <a:p>
            <a:pPr algn="l"/>
            <a:r>
              <a:rPr sz="1100" b="1">
                <a:solidFill>
                  <a:srgbClr val="FFFFFF"/>
                </a:solidFill>
                <a:latin typeface="Noto Serif CJK JP"/>
                <a:ea typeface="Noto Serif CJK JP"/>
              </a:rPr>
              <a:t>L4 端到端流程</a:t>
            </a:r>
          </a:p>
        </p:txBody>
      </p:sp>
      <p:sp>
        <p:nvSpPr>
          <p:cNvPr id="23" name="TextBox 22"/>
          <p:cNvSpPr txBox="1"/>
          <p:nvPr/>
        </p:nvSpPr>
        <p:spPr>
          <a:xfrm>
            <a:off x="8778240" y="3200400"/>
            <a:ext cx="3108960" cy="365760"/>
          </a:xfrm>
          <a:prstGeom prst="rect">
            <a:avLst/>
          </a:prstGeom>
          <a:noFill/>
        </p:spPr>
        <p:txBody>
          <a:bodyPr wrap="square" anchor="ctr" lIns="45720" rIns="45720" tIns="18288" bIns="18288">
            <a:spAutoFit/>
          </a:bodyPr>
          <a:lstStyle/>
          <a:p>
            <a:pPr algn="l"/>
            <a:r>
              <a:rPr sz="1000" b="0">
                <a:solidFill>
                  <a:srgbClr val="FFFFFF"/>
                </a:solidFill>
                <a:latin typeface="Noto Serif CJK JP"/>
                <a:ea typeface="Noto Serif CJK JP"/>
              </a:rPr>
              <a:t>How to Do / 业务场景</a:t>
            </a:r>
          </a:p>
        </p:txBody>
      </p:sp>
      <p:sp>
        <p:nvSpPr>
          <p:cNvPr id="24" name="Rectangle 23"/>
          <p:cNvSpPr/>
          <p:nvPr/>
        </p:nvSpPr>
        <p:spPr>
          <a:xfrm>
            <a:off x="7589520" y="3611880"/>
            <a:ext cx="4297680" cy="36576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80960" y="3611880"/>
            <a:ext cx="1097280" cy="365760"/>
          </a:xfrm>
          <a:prstGeom prst="rect">
            <a:avLst/>
          </a:prstGeom>
          <a:noFill/>
        </p:spPr>
        <p:txBody>
          <a:bodyPr wrap="square" anchor="ctr" lIns="45720" rIns="45720" tIns="18288" bIns="18288">
            <a:spAutoFit/>
          </a:bodyPr>
          <a:lstStyle/>
          <a:p>
            <a:pPr algn="l"/>
            <a:r>
              <a:rPr sz="1100" b="1">
                <a:solidFill>
                  <a:srgbClr val="FFFFFF"/>
                </a:solidFill>
                <a:latin typeface="Noto Serif CJK JP"/>
                <a:ea typeface="Noto Serif CJK JP"/>
              </a:rPr>
              <a:t>L5 操作流程</a:t>
            </a:r>
          </a:p>
        </p:txBody>
      </p:sp>
      <p:sp>
        <p:nvSpPr>
          <p:cNvPr id="26" name="TextBox 25"/>
          <p:cNvSpPr txBox="1"/>
          <p:nvPr/>
        </p:nvSpPr>
        <p:spPr>
          <a:xfrm>
            <a:off x="8778240" y="3611880"/>
            <a:ext cx="3108960" cy="365760"/>
          </a:xfrm>
          <a:prstGeom prst="rect">
            <a:avLst/>
          </a:prstGeom>
          <a:noFill/>
        </p:spPr>
        <p:txBody>
          <a:bodyPr wrap="square" anchor="ctr" lIns="45720" rIns="45720" tIns="18288" bIns="18288">
            <a:spAutoFit/>
          </a:bodyPr>
          <a:lstStyle/>
          <a:p>
            <a:pPr algn="l"/>
            <a:r>
              <a:rPr sz="1000" b="0">
                <a:solidFill>
                  <a:srgbClr val="FFFFFF"/>
                </a:solidFill>
                <a:latin typeface="Noto Serif CJK JP"/>
                <a:ea typeface="Noto Serif CJK JP"/>
              </a:rPr>
              <a:t>How to Do / 岗位动作</a:t>
            </a:r>
          </a:p>
        </p:txBody>
      </p:sp>
      <p:sp>
        <p:nvSpPr>
          <p:cNvPr id="27" name="Rectangle 26"/>
          <p:cNvSpPr/>
          <p:nvPr/>
        </p:nvSpPr>
        <p:spPr>
          <a:xfrm>
            <a:off x="7589520" y="4023360"/>
            <a:ext cx="4297680" cy="36576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680960" y="4023360"/>
            <a:ext cx="1097280" cy="365760"/>
          </a:xfrm>
          <a:prstGeom prst="rect">
            <a:avLst/>
          </a:prstGeom>
          <a:noFill/>
        </p:spPr>
        <p:txBody>
          <a:bodyPr wrap="square" anchor="ctr" lIns="45720" rIns="45720" tIns="18288" bIns="18288">
            <a:spAutoFit/>
          </a:bodyPr>
          <a:lstStyle/>
          <a:p>
            <a:pPr algn="l"/>
            <a:r>
              <a:rPr sz="1100" b="1">
                <a:solidFill>
                  <a:srgbClr val="FFFFFF"/>
                </a:solidFill>
                <a:latin typeface="Noto Serif CJK JP"/>
                <a:ea typeface="Noto Serif CJK JP"/>
              </a:rPr>
              <a:t>L6 系统任务</a:t>
            </a:r>
          </a:p>
        </p:txBody>
      </p:sp>
      <p:sp>
        <p:nvSpPr>
          <p:cNvPr id="29" name="TextBox 28"/>
          <p:cNvSpPr txBox="1"/>
          <p:nvPr/>
        </p:nvSpPr>
        <p:spPr>
          <a:xfrm>
            <a:off x="8778240" y="4023360"/>
            <a:ext cx="3108960" cy="365760"/>
          </a:xfrm>
          <a:prstGeom prst="rect">
            <a:avLst/>
          </a:prstGeom>
          <a:noFill/>
        </p:spPr>
        <p:txBody>
          <a:bodyPr wrap="square" anchor="ctr" lIns="45720" rIns="45720" tIns="18288" bIns="18288">
            <a:spAutoFit/>
          </a:bodyPr>
          <a:lstStyle/>
          <a:p>
            <a:pPr algn="l"/>
            <a:r>
              <a:rPr sz="1000" b="0">
                <a:solidFill>
                  <a:srgbClr val="FFFFFF"/>
                </a:solidFill>
                <a:latin typeface="Noto Serif CJK JP"/>
                <a:ea typeface="Noto Serif CJK JP"/>
              </a:rPr>
              <a:t>How to Do / 系统表单</a:t>
            </a:r>
          </a:p>
        </p:txBody>
      </p:sp>
      <p:sp>
        <p:nvSpPr>
          <p:cNvPr id="30" name="TextBox 29"/>
          <p:cNvSpPr txBox="1"/>
          <p:nvPr/>
        </p:nvSpPr>
        <p:spPr>
          <a:xfrm>
            <a:off x="457200" y="502920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关键启示：5 步可复制路径</a:t>
            </a:r>
          </a:p>
        </p:txBody>
      </p:sp>
      <p:sp>
        <p:nvSpPr>
          <p:cNvPr id="31" name="TextBox 30"/>
          <p:cNvSpPr txBox="1"/>
          <p:nvPr/>
        </p:nvSpPr>
        <p:spPr>
          <a:xfrm>
            <a:off x="457200" y="5440680"/>
            <a:ext cx="11247120" cy="914400"/>
          </a:xfrm>
          <a:prstGeom prst="rect">
            <a:avLst/>
          </a:prstGeom>
          <a:noFill/>
        </p:spPr>
        <p:txBody>
          <a:bodyPr wrap="square" lIns="45720" rIns="45720">
            <a:spAutoFit/>
          </a:bodyPr>
          <a:lstStyle/>
          <a:p>
            <a:pPr algn="l">
              <a:lnSpc>
                <a:spcPct val="130000"/>
              </a:lnSpc>
            </a:pPr>
            <a:r>
              <a:rPr sz="1100" b="0">
                <a:solidFill>
                  <a:srgbClr val="333333"/>
                </a:solidFill>
                <a:latin typeface="Noto Serif CJK JP"/>
                <a:ea typeface="Noto Serif CJK JP"/>
              </a:rPr>
              <a:t>1. 先建端到端流程架构（架构先行，六级分层落地）</a:t>
            </a:r>
          </a:p>
          <a:p>
            <a:pPr algn="l">
              <a:lnSpc>
                <a:spcPct val="130000"/>
              </a:lnSpc>
            </a:pPr>
            <a:r>
              <a:rPr sz="1100" b="0">
                <a:solidFill>
                  <a:srgbClr val="333333"/>
                </a:solidFill>
                <a:latin typeface="Noto Serif CJK JP"/>
                <a:ea typeface="Noto Serif CJK JP"/>
              </a:rPr>
              <a:t>2. 再建立 GPO 权责（权责到位，打通跨部门协同）</a:t>
            </a:r>
          </a:p>
          <a:p>
            <a:pPr algn="l">
              <a:lnSpc>
                <a:spcPct val="130000"/>
              </a:lnSpc>
            </a:pPr>
            <a:r>
              <a:rPr sz="1100" b="0">
                <a:solidFill>
                  <a:srgbClr val="333333"/>
                </a:solidFill>
                <a:latin typeface="Noto Serif CJK JP"/>
                <a:ea typeface="Noto Serif CJK JP"/>
              </a:rPr>
              <a:t>3. 用三位一体评估形成证据链（CT + PR + 内控）</a:t>
            </a:r>
          </a:p>
          <a:p>
            <a:pPr algn="l">
              <a:lnSpc>
                <a:spcPct val="130000"/>
              </a:lnSpc>
            </a:pPr>
            <a:r>
              <a:rPr sz="1100" b="0">
                <a:solidFill>
                  <a:srgbClr val="333333"/>
                </a:solidFill>
                <a:latin typeface="Noto Serif CJK JP"/>
                <a:ea typeface="Noto Serif CJK JP"/>
              </a:rPr>
              <a:t>4. 把流程 KPI 挂接经营指标（结果牵引，驱动改进）</a:t>
            </a:r>
          </a:p>
          <a:p>
            <a:pPr algn="l">
              <a:lnSpc>
                <a:spcPct val="130000"/>
              </a:lnSpc>
            </a:pPr>
            <a:r>
              <a:rPr sz="1100" b="0">
                <a:solidFill>
                  <a:srgbClr val="333333"/>
                </a:solidFill>
                <a:latin typeface="Noto Serif CJK JP"/>
                <a:ea typeface="Noto Serif CJK JP"/>
              </a:rPr>
              <a:t>5. 最后嵌入 AI 与数据闭环（智能放大，数据驱动）</a:t>
            </a:r>
          </a:p>
        </p:txBody>
      </p:sp>
      <p:sp>
        <p:nvSpPr>
          <p:cNvPr id="32" name="Rectangle 31"/>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强结论：华为的本质是把流程从管理规范升级为企业级运营操作系统</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11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标杆案例：Celonis 流程智能实践</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从流程挖掘到流程智能，代表了从事后还原走向实时诊断、预测洞察与行动编排</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155448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流程挖掘能力演进 5 步</a:t>
            </a:r>
          </a:p>
        </p:txBody>
      </p:sp>
      <p:sp>
        <p:nvSpPr>
          <p:cNvPr id="11" name="Rectangle 10"/>
          <p:cNvSpPr/>
          <p:nvPr/>
        </p:nvSpPr>
        <p:spPr>
          <a:xfrm>
            <a:off x="457200" y="2011680"/>
            <a:ext cx="2194560" cy="8229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7200" y="2057400"/>
            <a:ext cx="2194560" cy="365760"/>
          </a:xfrm>
          <a:prstGeom prst="rect">
            <a:avLst/>
          </a:prstGeom>
          <a:noFill/>
        </p:spPr>
        <p:txBody>
          <a:bodyPr wrap="square" anchor="t" lIns="45720" rIns="45720" tIns="18288" bIns="18288">
            <a:spAutoFit/>
          </a:bodyPr>
          <a:lstStyle/>
          <a:p>
            <a:pPr algn="ctr"/>
            <a:r>
              <a:rPr sz="1800" b="1">
                <a:solidFill>
                  <a:srgbClr val="FFCC00"/>
                </a:solidFill>
                <a:latin typeface="Noto Serif CJK JP"/>
                <a:ea typeface="Noto Serif CJK JP"/>
              </a:rPr>
              <a:t>01</a:t>
            </a:r>
          </a:p>
        </p:txBody>
      </p:sp>
      <p:sp>
        <p:nvSpPr>
          <p:cNvPr id="13" name="TextBox 12"/>
          <p:cNvSpPr txBox="1"/>
          <p:nvPr/>
        </p:nvSpPr>
        <p:spPr>
          <a:xfrm>
            <a:off x="457200" y="2331720"/>
            <a:ext cx="2194560" cy="365760"/>
          </a:xfrm>
          <a:prstGeom prst="rect">
            <a:avLst/>
          </a:prstGeom>
          <a:noFill/>
        </p:spPr>
        <p:txBody>
          <a:bodyPr wrap="square" anchor="t" lIns="45720" rIns="45720" tIns="18288" bIns="18288">
            <a:spAutoFit/>
          </a:bodyPr>
          <a:lstStyle/>
          <a:p>
            <a:pPr algn="ctr"/>
            <a:r>
              <a:rPr sz="1300" b="1">
                <a:solidFill>
                  <a:srgbClr val="FFFFFF"/>
                </a:solidFill>
                <a:latin typeface="Noto Serif CJK JP"/>
                <a:ea typeface="Noto Serif CJK JP"/>
              </a:rPr>
              <a:t>事件日志</a:t>
            </a:r>
          </a:p>
        </p:txBody>
      </p:sp>
      <p:sp>
        <p:nvSpPr>
          <p:cNvPr id="14" name="TextBox 13"/>
          <p:cNvSpPr txBox="1"/>
          <p:nvPr/>
        </p:nvSpPr>
        <p:spPr>
          <a:xfrm>
            <a:off x="457200" y="2606040"/>
            <a:ext cx="2194560" cy="274320"/>
          </a:xfrm>
          <a:prstGeom prst="rect">
            <a:avLst/>
          </a:prstGeom>
          <a:noFill/>
        </p:spPr>
        <p:txBody>
          <a:bodyPr wrap="square" anchor="t" lIns="45720" rIns="45720" tIns="18288" bIns="18288">
            <a:spAutoFit/>
          </a:bodyPr>
          <a:lstStyle/>
          <a:p>
            <a:pPr algn="ctr"/>
            <a:r>
              <a:rPr sz="1000" b="0">
                <a:solidFill>
                  <a:srgbClr val="CCDDEE"/>
                </a:solidFill>
                <a:latin typeface="Noto Serif CJK JP"/>
                <a:ea typeface="Noto Serif CJK JP"/>
              </a:rPr>
              <a:t>日志还原事实</a:t>
            </a:r>
          </a:p>
        </p:txBody>
      </p:sp>
      <p:cxnSp>
        <p:nvCxnSpPr>
          <p:cNvPr id="15" name="Connector 14"/>
          <p:cNvCxnSpPr/>
          <p:nvPr/>
        </p:nvCxnSpPr>
        <p:spPr>
          <a:xfrm>
            <a:off x="2651760" y="2423160"/>
            <a:ext cx="137160" cy="0"/>
          </a:xfrm>
          <a:prstGeom prst="line">
            <a:avLst/>
          </a:prstGeom>
          <a:ln w="25400">
            <a:solidFill>
              <a:srgbClr val="D01F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788920" y="2011680"/>
            <a:ext cx="2194560" cy="8229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788920" y="2057400"/>
            <a:ext cx="2194560" cy="365760"/>
          </a:xfrm>
          <a:prstGeom prst="rect">
            <a:avLst/>
          </a:prstGeom>
          <a:noFill/>
        </p:spPr>
        <p:txBody>
          <a:bodyPr wrap="square" anchor="t" lIns="45720" rIns="45720" tIns="18288" bIns="18288">
            <a:spAutoFit/>
          </a:bodyPr>
          <a:lstStyle/>
          <a:p>
            <a:pPr algn="ctr"/>
            <a:r>
              <a:rPr sz="1800" b="1">
                <a:solidFill>
                  <a:srgbClr val="FFCC00"/>
                </a:solidFill>
                <a:latin typeface="Noto Serif CJK JP"/>
                <a:ea typeface="Noto Serif CJK JP"/>
              </a:rPr>
              <a:t>02</a:t>
            </a:r>
          </a:p>
        </p:txBody>
      </p:sp>
      <p:sp>
        <p:nvSpPr>
          <p:cNvPr id="18" name="TextBox 17"/>
          <p:cNvSpPr txBox="1"/>
          <p:nvPr/>
        </p:nvSpPr>
        <p:spPr>
          <a:xfrm>
            <a:off x="2788920" y="2331720"/>
            <a:ext cx="2194560" cy="365760"/>
          </a:xfrm>
          <a:prstGeom prst="rect">
            <a:avLst/>
          </a:prstGeom>
          <a:noFill/>
        </p:spPr>
        <p:txBody>
          <a:bodyPr wrap="square" anchor="t" lIns="45720" rIns="45720" tIns="18288" bIns="18288">
            <a:spAutoFit/>
          </a:bodyPr>
          <a:lstStyle/>
          <a:p>
            <a:pPr algn="ctr"/>
            <a:r>
              <a:rPr sz="1300" b="1">
                <a:solidFill>
                  <a:srgbClr val="FFFFFF"/>
                </a:solidFill>
                <a:latin typeface="Noto Serif CJK JP"/>
                <a:ea typeface="Noto Serif CJK JP"/>
              </a:rPr>
              <a:t>流程发现</a:t>
            </a:r>
          </a:p>
        </p:txBody>
      </p:sp>
      <p:sp>
        <p:nvSpPr>
          <p:cNvPr id="19" name="TextBox 18"/>
          <p:cNvSpPr txBox="1"/>
          <p:nvPr/>
        </p:nvSpPr>
        <p:spPr>
          <a:xfrm>
            <a:off x="2788920" y="2606040"/>
            <a:ext cx="2194560" cy="274320"/>
          </a:xfrm>
          <a:prstGeom prst="rect">
            <a:avLst/>
          </a:prstGeom>
          <a:noFill/>
        </p:spPr>
        <p:txBody>
          <a:bodyPr wrap="square" anchor="t" lIns="45720" rIns="45720" tIns="18288" bIns="18288">
            <a:spAutoFit/>
          </a:bodyPr>
          <a:lstStyle/>
          <a:p>
            <a:pPr algn="ctr"/>
            <a:r>
              <a:rPr sz="1000" b="0">
                <a:solidFill>
                  <a:srgbClr val="CCDDEE"/>
                </a:solidFill>
                <a:latin typeface="Noto Serif CJK JP"/>
                <a:ea typeface="Noto Serif CJK JP"/>
              </a:rPr>
              <a:t>流程图识别主路径</a:t>
            </a:r>
          </a:p>
        </p:txBody>
      </p:sp>
      <p:cxnSp>
        <p:nvCxnSpPr>
          <p:cNvPr id="20" name="Connector 19"/>
          <p:cNvCxnSpPr/>
          <p:nvPr/>
        </p:nvCxnSpPr>
        <p:spPr>
          <a:xfrm>
            <a:off x="4983480" y="2423160"/>
            <a:ext cx="137160" cy="0"/>
          </a:xfrm>
          <a:prstGeom prst="line">
            <a:avLst/>
          </a:prstGeom>
          <a:ln w="25400">
            <a:solidFill>
              <a:srgbClr val="D01F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120640" y="2011680"/>
            <a:ext cx="2194560" cy="8229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120640" y="2057400"/>
            <a:ext cx="2194560" cy="365760"/>
          </a:xfrm>
          <a:prstGeom prst="rect">
            <a:avLst/>
          </a:prstGeom>
          <a:noFill/>
        </p:spPr>
        <p:txBody>
          <a:bodyPr wrap="square" anchor="t" lIns="45720" rIns="45720" tIns="18288" bIns="18288">
            <a:spAutoFit/>
          </a:bodyPr>
          <a:lstStyle/>
          <a:p>
            <a:pPr algn="ctr"/>
            <a:r>
              <a:rPr sz="1800" b="1">
                <a:solidFill>
                  <a:srgbClr val="FFCC00"/>
                </a:solidFill>
                <a:latin typeface="Noto Serif CJK JP"/>
                <a:ea typeface="Noto Serif CJK JP"/>
              </a:rPr>
              <a:t>03</a:t>
            </a:r>
          </a:p>
        </p:txBody>
      </p:sp>
      <p:sp>
        <p:nvSpPr>
          <p:cNvPr id="23" name="TextBox 22"/>
          <p:cNvSpPr txBox="1"/>
          <p:nvPr/>
        </p:nvSpPr>
        <p:spPr>
          <a:xfrm>
            <a:off x="5120640" y="2331720"/>
            <a:ext cx="2194560" cy="365760"/>
          </a:xfrm>
          <a:prstGeom prst="rect">
            <a:avLst/>
          </a:prstGeom>
          <a:noFill/>
        </p:spPr>
        <p:txBody>
          <a:bodyPr wrap="square" anchor="t" lIns="45720" rIns="45720" tIns="18288" bIns="18288">
            <a:spAutoFit/>
          </a:bodyPr>
          <a:lstStyle/>
          <a:p>
            <a:pPr algn="ctr"/>
            <a:r>
              <a:rPr sz="1300" b="1">
                <a:solidFill>
                  <a:srgbClr val="FFFFFF"/>
                </a:solidFill>
                <a:latin typeface="Noto Serif CJK JP"/>
                <a:ea typeface="Noto Serif CJK JP"/>
              </a:rPr>
              <a:t>偏差分析</a:t>
            </a:r>
          </a:p>
        </p:txBody>
      </p:sp>
      <p:sp>
        <p:nvSpPr>
          <p:cNvPr id="24" name="TextBox 23"/>
          <p:cNvSpPr txBox="1"/>
          <p:nvPr/>
        </p:nvSpPr>
        <p:spPr>
          <a:xfrm>
            <a:off x="5120640" y="2606040"/>
            <a:ext cx="2194560" cy="274320"/>
          </a:xfrm>
          <a:prstGeom prst="rect">
            <a:avLst/>
          </a:prstGeom>
          <a:noFill/>
        </p:spPr>
        <p:txBody>
          <a:bodyPr wrap="square" anchor="t" lIns="45720" rIns="45720" tIns="18288" bIns="18288">
            <a:spAutoFit/>
          </a:bodyPr>
          <a:lstStyle/>
          <a:p>
            <a:pPr algn="ctr"/>
            <a:r>
              <a:rPr sz="1000" b="0">
                <a:solidFill>
                  <a:srgbClr val="CCDDEE"/>
                </a:solidFill>
                <a:latin typeface="Noto Serif CJK JP"/>
                <a:ea typeface="Noto Serif CJK JP"/>
              </a:rPr>
              <a:t>偏差定位低效节点</a:t>
            </a:r>
          </a:p>
        </p:txBody>
      </p:sp>
      <p:cxnSp>
        <p:nvCxnSpPr>
          <p:cNvPr id="25" name="Connector 24"/>
          <p:cNvCxnSpPr/>
          <p:nvPr/>
        </p:nvCxnSpPr>
        <p:spPr>
          <a:xfrm>
            <a:off x="7315200" y="2423160"/>
            <a:ext cx="137160" cy="0"/>
          </a:xfrm>
          <a:prstGeom prst="line">
            <a:avLst/>
          </a:prstGeom>
          <a:ln w="25400">
            <a:solidFill>
              <a:srgbClr val="D01F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452359" y="2011680"/>
            <a:ext cx="2194560" cy="8229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52359" y="2057400"/>
            <a:ext cx="2194560" cy="365760"/>
          </a:xfrm>
          <a:prstGeom prst="rect">
            <a:avLst/>
          </a:prstGeom>
          <a:noFill/>
        </p:spPr>
        <p:txBody>
          <a:bodyPr wrap="square" anchor="t" lIns="45720" rIns="45720" tIns="18288" bIns="18288">
            <a:spAutoFit/>
          </a:bodyPr>
          <a:lstStyle/>
          <a:p>
            <a:pPr algn="ctr"/>
            <a:r>
              <a:rPr sz="1800" b="1">
                <a:solidFill>
                  <a:srgbClr val="FFCC00"/>
                </a:solidFill>
                <a:latin typeface="Noto Serif CJK JP"/>
                <a:ea typeface="Noto Serif CJK JP"/>
              </a:rPr>
              <a:t>04</a:t>
            </a:r>
          </a:p>
        </p:txBody>
      </p:sp>
      <p:sp>
        <p:nvSpPr>
          <p:cNvPr id="28" name="TextBox 27"/>
          <p:cNvSpPr txBox="1"/>
          <p:nvPr/>
        </p:nvSpPr>
        <p:spPr>
          <a:xfrm>
            <a:off x="7452359" y="2331720"/>
            <a:ext cx="2194560" cy="365760"/>
          </a:xfrm>
          <a:prstGeom prst="rect">
            <a:avLst/>
          </a:prstGeom>
          <a:noFill/>
        </p:spPr>
        <p:txBody>
          <a:bodyPr wrap="square" anchor="t" lIns="45720" rIns="45720" tIns="18288" bIns="18288">
            <a:spAutoFit/>
          </a:bodyPr>
          <a:lstStyle/>
          <a:p>
            <a:pPr algn="ctr"/>
            <a:r>
              <a:rPr sz="1300" b="1">
                <a:solidFill>
                  <a:srgbClr val="FFFFFF"/>
                </a:solidFill>
                <a:latin typeface="Noto Serif CJK JP"/>
                <a:ea typeface="Noto Serif CJK JP"/>
              </a:rPr>
              <a:t>预测预警</a:t>
            </a:r>
          </a:p>
        </p:txBody>
      </p:sp>
      <p:sp>
        <p:nvSpPr>
          <p:cNvPr id="29" name="TextBox 28"/>
          <p:cNvSpPr txBox="1"/>
          <p:nvPr/>
        </p:nvSpPr>
        <p:spPr>
          <a:xfrm>
            <a:off x="7452359" y="2606040"/>
            <a:ext cx="2194560" cy="274320"/>
          </a:xfrm>
          <a:prstGeom prst="rect">
            <a:avLst/>
          </a:prstGeom>
          <a:noFill/>
        </p:spPr>
        <p:txBody>
          <a:bodyPr wrap="square" anchor="t" lIns="45720" rIns="45720" tIns="18288" bIns="18288">
            <a:spAutoFit/>
          </a:bodyPr>
          <a:lstStyle/>
          <a:p>
            <a:pPr algn="ctr"/>
            <a:r>
              <a:rPr sz="1000" b="0">
                <a:solidFill>
                  <a:srgbClr val="CCDDEE"/>
                </a:solidFill>
                <a:latin typeface="Noto Serif CJK JP"/>
                <a:ea typeface="Noto Serif CJK JP"/>
              </a:rPr>
              <a:t>预测提前发现风险</a:t>
            </a:r>
          </a:p>
        </p:txBody>
      </p:sp>
      <p:cxnSp>
        <p:nvCxnSpPr>
          <p:cNvPr id="30" name="Connector 29"/>
          <p:cNvCxnSpPr/>
          <p:nvPr/>
        </p:nvCxnSpPr>
        <p:spPr>
          <a:xfrm>
            <a:off x="9646919" y="2423160"/>
            <a:ext cx="137160" cy="0"/>
          </a:xfrm>
          <a:prstGeom prst="line">
            <a:avLst/>
          </a:prstGeom>
          <a:ln w="25400">
            <a:solidFill>
              <a:srgbClr val="D01F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9784080" y="2011680"/>
            <a:ext cx="2194560" cy="8229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784080" y="2057400"/>
            <a:ext cx="2194560" cy="365760"/>
          </a:xfrm>
          <a:prstGeom prst="rect">
            <a:avLst/>
          </a:prstGeom>
          <a:noFill/>
        </p:spPr>
        <p:txBody>
          <a:bodyPr wrap="square" anchor="t" lIns="45720" rIns="45720" tIns="18288" bIns="18288">
            <a:spAutoFit/>
          </a:bodyPr>
          <a:lstStyle/>
          <a:p>
            <a:pPr algn="ctr"/>
            <a:r>
              <a:rPr sz="1800" b="1">
                <a:solidFill>
                  <a:srgbClr val="FFCC00"/>
                </a:solidFill>
                <a:latin typeface="Noto Serif CJK JP"/>
                <a:ea typeface="Noto Serif CJK JP"/>
              </a:rPr>
              <a:t>05</a:t>
            </a:r>
          </a:p>
        </p:txBody>
      </p:sp>
      <p:sp>
        <p:nvSpPr>
          <p:cNvPr id="33" name="TextBox 32"/>
          <p:cNvSpPr txBox="1"/>
          <p:nvPr/>
        </p:nvSpPr>
        <p:spPr>
          <a:xfrm>
            <a:off x="9784080" y="2331720"/>
            <a:ext cx="2194560" cy="365760"/>
          </a:xfrm>
          <a:prstGeom prst="rect">
            <a:avLst/>
          </a:prstGeom>
          <a:noFill/>
        </p:spPr>
        <p:txBody>
          <a:bodyPr wrap="square" anchor="t" lIns="45720" rIns="45720" tIns="18288" bIns="18288">
            <a:spAutoFit/>
          </a:bodyPr>
          <a:lstStyle/>
          <a:p>
            <a:pPr algn="ctr"/>
            <a:r>
              <a:rPr sz="1300" b="1">
                <a:solidFill>
                  <a:srgbClr val="FFFFFF"/>
                </a:solidFill>
                <a:latin typeface="Noto Serif CJK JP"/>
                <a:ea typeface="Noto Serif CJK JP"/>
              </a:rPr>
              <a:t>行动编排</a:t>
            </a:r>
          </a:p>
        </p:txBody>
      </p:sp>
      <p:sp>
        <p:nvSpPr>
          <p:cNvPr id="34" name="TextBox 33"/>
          <p:cNvSpPr txBox="1"/>
          <p:nvPr/>
        </p:nvSpPr>
        <p:spPr>
          <a:xfrm>
            <a:off x="9784080" y="2606040"/>
            <a:ext cx="2194560" cy="274320"/>
          </a:xfrm>
          <a:prstGeom prst="rect">
            <a:avLst/>
          </a:prstGeom>
          <a:noFill/>
        </p:spPr>
        <p:txBody>
          <a:bodyPr wrap="square" anchor="t" lIns="45720" rIns="45720" tIns="18288" bIns="18288">
            <a:spAutoFit/>
          </a:bodyPr>
          <a:lstStyle/>
          <a:p>
            <a:pPr algn="ctr"/>
            <a:r>
              <a:rPr sz="1000" b="0">
                <a:solidFill>
                  <a:srgbClr val="CCDDEE"/>
                </a:solidFill>
                <a:latin typeface="Noto Serif CJK JP"/>
                <a:ea typeface="Noto Serif CJK JP"/>
              </a:rPr>
              <a:t>闭环改进</a:t>
            </a:r>
          </a:p>
        </p:txBody>
      </p:sp>
      <p:sp>
        <p:nvSpPr>
          <p:cNvPr id="35" name="TextBox 34"/>
          <p:cNvSpPr txBox="1"/>
          <p:nvPr/>
        </p:nvSpPr>
        <p:spPr>
          <a:xfrm>
            <a:off x="457200" y="320040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关键数据</a:t>
            </a:r>
          </a:p>
        </p:txBody>
      </p:sp>
      <p:sp>
        <p:nvSpPr>
          <p:cNvPr id="36" name="Rectangle 35"/>
          <p:cNvSpPr/>
          <p:nvPr/>
        </p:nvSpPr>
        <p:spPr>
          <a:xfrm>
            <a:off x="457200" y="3657600"/>
            <a:ext cx="548640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3749039"/>
            <a:ext cx="5120640" cy="365760"/>
          </a:xfrm>
          <a:prstGeom prst="rect">
            <a:avLst/>
          </a:prstGeom>
          <a:noFill/>
        </p:spPr>
        <p:txBody>
          <a:bodyPr wrap="square" anchor="t" lIns="45720" rIns="45720" tIns="18288" bIns="18288">
            <a:spAutoFit/>
          </a:bodyPr>
          <a:lstStyle/>
          <a:p>
            <a:pPr algn="l"/>
            <a:r>
              <a:rPr sz="3600" b="1">
                <a:solidFill>
                  <a:srgbClr val="D01F26"/>
                </a:solidFill>
                <a:latin typeface="Noto Serif CJK JP"/>
                <a:ea typeface="Noto Serif CJK JP"/>
              </a:rPr>
              <a:t>80%</a:t>
            </a:r>
          </a:p>
        </p:txBody>
      </p:sp>
      <p:sp>
        <p:nvSpPr>
          <p:cNvPr id="38" name="TextBox 37"/>
          <p:cNvSpPr txBox="1"/>
          <p:nvPr/>
        </p:nvSpPr>
        <p:spPr>
          <a:xfrm>
            <a:off x="2286000" y="3840480"/>
            <a:ext cx="3474720" cy="365760"/>
          </a:xfrm>
          <a:prstGeom prst="rect">
            <a:avLst/>
          </a:prstGeom>
          <a:noFill/>
        </p:spPr>
        <p:txBody>
          <a:bodyPr wrap="square" anchor="t" lIns="45720" rIns="45720" tIns="18288" bIns="18288">
            <a:spAutoFit/>
          </a:bodyPr>
          <a:lstStyle/>
          <a:p>
            <a:pPr algn="l"/>
            <a:r>
              <a:rPr sz="1200" b="1">
                <a:solidFill>
                  <a:srgbClr val="003366"/>
                </a:solidFill>
                <a:latin typeface="Noto Serif CJK JP"/>
                <a:ea typeface="Noto Serif CJK JP"/>
              </a:rPr>
              <a:t>企业使用流程挖掘</a:t>
            </a:r>
          </a:p>
        </p:txBody>
      </p:sp>
      <p:sp>
        <p:nvSpPr>
          <p:cNvPr id="39" name="TextBox 38"/>
          <p:cNvSpPr txBox="1"/>
          <p:nvPr/>
        </p:nvSpPr>
        <p:spPr>
          <a:xfrm>
            <a:off x="2286000" y="4160520"/>
            <a:ext cx="3474720" cy="365760"/>
          </a:xfrm>
          <a:prstGeom prst="rect">
            <a:avLst/>
          </a:prstGeom>
          <a:noFill/>
        </p:spPr>
        <p:txBody>
          <a:bodyPr wrap="square" anchor="t" lIns="45720" rIns="45720" tIns="18288" bIns="18288">
            <a:spAutoFit/>
          </a:bodyPr>
          <a:lstStyle/>
          <a:p>
            <a:pPr algn="l"/>
            <a:r>
              <a:rPr sz="1200" b="0">
                <a:solidFill>
                  <a:srgbClr val="333333"/>
                </a:solidFill>
                <a:latin typeface="Noto Serif CJK JP"/>
                <a:ea typeface="Noto Serif CJK JP"/>
              </a:rPr>
              <a:t>超过一年</a:t>
            </a:r>
          </a:p>
        </p:txBody>
      </p:sp>
      <p:sp>
        <p:nvSpPr>
          <p:cNvPr id="40" name="TextBox 39"/>
          <p:cNvSpPr txBox="1"/>
          <p:nvPr/>
        </p:nvSpPr>
        <p:spPr>
          <a:xfrm>
            <a:off x="640080" y="4572000"/>
            <a:ext cx="5120640" cy="365760"/>
          </a:xfrm>
          <a:prstGeom prst="rect">
            <a:avLst/>
          </a:prstGeom>
          <a:noFill/>
        </p:spPr>
        <p:txBody>
          <a:bodyPr wrap="square" anchor="t" lIns="45720" rIns="45720" tIns="18288" bIns="18288">
            <a:spAutoFit/>
          </a:bodyPr>
          <a:lstStyle/>
          <a:p>
            <a:pPr algn="l"/>
            <a:r>
              <a:rPr sz="1000" b="0">
                <a:solidFill>
                  <a:srgbClr val="666666"/>
                </a:solidFill>
                <a:latin typeface="Noto Serif CJK JP"/>
                <a:ea typeface="Noto Serif CJK JP"/>
              </a:rPr>
              <a:t>(行业已度过试点期)</a:t>
            </a:r>
          </a:p>
        </p:txBody>
      </p:sp>
      <p:sp>
        <p:nvSpPr>
          <p:cNvPr id="41" name="Rectangle 40"/>
          <p:cNvSpPr/>
          <p:nvPr/>
        </p:nvSpPr>
        <p:spPr>
          <a:xfrm>
            <a:off x="6217920" y="3657600"/>
            <a:ext cx="548640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00800" y="3749039"/>
            <a:ext cx="5120640" cy="365760"/>
          </a:xfrm>
          <a:prstGeom prst="rect">
            <a:avLst/>
          </a:prstGeom>
          <a:noFill/>
        </p:spPr>
        <p:txBody>
          <a:bodyPr wrap="square" anchor="t" lIns="45720" rIns="45720" tIns="18288" bIns="18288">
            <a:spAutoFit/>
          </a:bodyPr>
          <a:lstStyle/>
          <a:p>
            <a:pPr algn="l"/>
            <a:r>
              <a:rPr sz="3600" b="1">
                <a:solidFill>
                  <a:srgbClr val="D01F26"/>
                </a:solidFill>
                <a:latin typeface="Noto Serif CJK JP"/>
                <a:ea typeface="Noto Serif CJK JP"/>
              </a:rPr>
              <a:t>48%</a:t>
            </a:r>
          </a:p>
        </p:txBody>
      </p:sp>
      <p:sp>
        <p:nvSpPr>
          <p:cNvPr id="43" name="TextBox 42"/>
          <p:cNvSpPr txBox="1"/>
          <p:nvPr/>
        </p:nvSpPr>
        <p:spPr>
          <a:xfrm>
            <a:off x="8046720" y="3840480"/>
            <a:ext cx="3474720" cy="365760"/>
          </a:xfrm>
          <a:prstGeom prst="rect">
            <a:avLst/>
          </a:prstGeom>
          <a:noFill/>
        </p:spPr>
        <p:txBody>
          <a:bodyPr wrap="square" anchor="t" lIns="45720" rIns="45720" tIns="18288" bIns="18288">
            <a:spAutoFit/>
          </a:bodyPr>
          <a:lstStyle/>
          <a:p>
            <a:pPr algn="l"/>
            <a:r>
              <a:rPr sz="1200" b="1">
                <a:solidFill>
                  <a:srgbClr val="003366"/>
                </a:solidFill>
                <a:latin typeface="Noto Serif CJK JP"/>
                <a:ea typeface="Noto Serif CJK JP"/>
              </a:rPr>
              <a:t>企业实现</a:t>
            </a:r>
          </a:p>
        </p:txBody>
      </p:sp>
      <p:sp>
        <p:nvSpPr>
          <p:cNvPr id="44" name="TextBox 43"/>
          <p:cNvSpPr txBox="1"/>
          <p:nvPr/>
        </p:nvSpPr>
        <p:spPr>
          <a:xfrm>
            <a:off x="8046720" y="4160520"/>
            <a:ext cx="3474720" cy="365760"/>
          </a:xfrm>
          <a:prstGeom prst="rect">
            <a:avLst/>
          </a:prstGeom>
          <a:noFill/>
        </p:spPr>
        <p:txBody>
          <a:bodyPr wrap="square" anchor="t" lIns="45720" rIns="45720" tIns="18288" bIns="18288">
            <a:spAutoFit/>
          </a:bodyPr>
          <a:lstStyle/>
          <a:p>
            <a:pPr algn="l"/>
            <a:r>
              <a:rPr sz="1200" b="0">
                <a:solidFill>
                  <a:srgbClr val="333333"/>
                </a:solidFill>
                <a:latin typeface="Noto Serif CJK JP"/>
                <a:ea typeface="Noto Serif CJK JP"/>
              </a:rPr>
              <a:t>公司级部署</a:t>
            </a:r>
          </a:p>
        </p:txBody>
      </p:sp>
      <p:sp>
        <p:nvSpPr>
          <p:cNvPr id="45" name="TextBox 44"/>
          <p:cNvSpPr txBox="1"/>
          <p:nvPr/>
        </p:nvSpPr>
        <p:spPr>
          <a:xfrm>
            <a:off x="6400800" y="4572000"/>
            <a:ext cx="5120640" cy="365760"/>
          </a:xfrm>
          <a:prstGeom prst="rect">
            <a:avLst/>
          </a:prstGeom>
          <a:noFill/>
        </p:spPr>
        <p:txBody>
          <a:bodyPr wrap="square" anchor="t" lIns="45720" rIns="45720" tIns="18288" bIns="18288">
            <a:spAutoFit/>
          </a:bodyPr>
          <a:lstStyle/>
          <a:p>
            <a:pPr algn="l"/>
            <a:r>
              <a:rPr sz="1000" b="0">
                <a:solidFill>
                  <a:srgbClr val="666666"/>
                </a:solidFill>
                <a:latin typeface="Noto Serif CJK JP"/>
                <a:ea typeface="Noto Serif CJK JP"/>
              </a:rPr>
              <a:t>(但工具到运营仍有距离)</a:t>
            </a:r>
          </a:p>
        </p:txBody>
      </p:sp>
      <p:sp>
        <p:nvSpPr>
          <p:cNvPr id="46" name="TextBox 45"/>
          <p:cNvSpPr txBox="1"/>
          <p:nvPr/>
        </p:nvSpPr>
        <p:spPr>
          <a:xfrm>
            <a:off x="457200" y="530352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从发现到行动 6 步闭环</a:t>
            </a:r>
          </a:p>
        </p:txBody>
      </p:sp>
      <p:sp>
        <p:nvSpPr>
          <p:cNvPr id="47" name="TextBox 46"/>
          <p:cNvSpPr txBox="1"/>
          <p:nvPr/>
        </p:nvSpPr>
        <p:spPr>
          <a:xfrm>
            <a:off x="457200" y="5669280"/>
            <a:ext cx="11247120" cy="548640"/>
          </a:xfrm>
          <a:prstGeom prst="rect">
            <a:avLst/>
          </a:prstGeom>
          <a:noFill/>
        </p:spPr>
        <p:txBody>
          <a:bodyPr wrap="square" lIns="45720" rIns="45720">
            <a:spAutoFit/>
          </a:bodyPr>
          <a:lstStyle/>
          <a:p>
            <a:pPr algn="l">
              <a:lnSpc>
                <a:spcPct val="130000"/>
              </a:lnSpc>
            </a:pPr>
            <a:r>
              <a:rPr sz="1100" b="0">
                <a:solidFill>
                  <a:srgbClr val="333333"/>
                </a:solidFill>
                <a:latin typeface="Noto Serif CJK JP"/>
                <a:ea typeface="Noto Serif CJK JP"/>
              </a:rPr>
              <a:t>连接系统 → 还原流程 → 识别变体 → 量化影响 → 推荐行动 → 跟踪成效</a:t>
            </a:r>
          </a:p>
          <a:p>
            <a:pPr algn="l">
              <a:lnSpc>
                <a:spcPct val="130000"/>
              </a:lnSpc>
            </a:pPr>
            <a:r>
              <a:rPr sz="1100" b="0">
                <a:solidFill>
                  <a:srgbClr val="333333"/>
                </a:solidFill>
                <a:latin typeface="Noto Serif CJK JP"/>
                <a:ea typeface="Noto Serif CJK JP"/>
              </a:rPr>
              <a:t>(先接入事实，再看清路径，再找差异，再算影响，再派任务，再复盘闭环)</a:t>
            </a:r>
          </a:p>
        </p:txBody>
      </p:sp>
      <p:sp>
        <p:nvSpPr>
          <p:cNvPr id="48" name="Rectangle 47"/>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强结论：流程智能平台本质是把跨系统事件数据变成企业可自我学习的运营操作系统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12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行业基准速查表</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用同行位置定差距、选目标等级、校准投资优先级</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industry.png"/>
          <p:cNvPicPr>
            <a:picLocks noChangeAspect="1"/>
          </p:cNvPicPr>
          <p:nvPr/>
        </p:nvPicPr>
        <p:blipFill>
          <a:blip r:embed="rId2"/>
          <a:stretch>
            <a:fillRect/>
          </a:stretch>
        </p:blipFill>
        <p:spPr>
          <a:xfrm>
            <a:off x="457200" y="1554480"/>
            <a:ext cx="6858000" cy="3388454"/>
          </a:xfrm>
          <a:prstGeom prst="rect">
            <a:avLst/>
          </a:prstGeom>
        </p:spPr>
      </p:pic>
      <p:sp>
        <p:nvSpPr>
          <p:cNvPr id="11" name="TextBox 10"/>
          <p:cNvSpPr txBox="1"/>
          <p:nvPr/>
        </p:nvSpPr>
        <p:spPr>
          <a:xfrm>
            <a:off x="7589520" y="1554480"/>
            <a:ext cx="4297680" cy="365760"/>
          </a:xfrm>
          <a:prstGeom prst="rect">
            <a:avLst/>
          </a:prstGeom>
          <a:noFill/>
        </p:spPr>
        <p:txBody>
          <a:bodyPr wrap="square" anchor="t" lIns="45720" rIns="45720" tIns="18288" bIns="18288">
            <a:spAutoFit/>
          </a:bodyPr>
          <a:lstStyle/>
          <a:p>
            <a:pPr algn="l"/>
            <a:r>
              <a:rPr sz="1400" b="1">
                <a:solidFill>
                  <a:srgbClr val="003366"/>
                </a:solidFill>
                <a:latin typeface="Noto Serif CJK JP"/>
                <a:ea typeface="Noto Serif CJK JP"/>
              </a:rPr>
              <a:t>行业成熟度速查</a:t>
            </a:r>
          </a:p>
        </p:txBody>
      </p:sp>
      <p:sp>
        <p:nvSpPr>
          <p:cNvPr id="12" name="Rectangle 11"/>
          <p:cNvSpPr/>
          <p:nvPr/>
        </p:nvSpPr>
        <p:spPr>
          <a:xfrm>
            <a:off x="7589520" y="1965960"/>
            <a:ext cx="429768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680960" y="1965960"/>
            <a:ext cx="1280160" cy="457200"/>
          </a:xfrm>
          <a:prstGeom prst="rect">
            <a:avLst/>
          </a:prstGeom>
          <a:noFill/>
        </p:spPr>
        <p:txBody>
          <a:bodyPr wrap="square" anchor="ctr" lIns="45720" rIns="45720" tIns="18288" bIns="18288">
            <a:spAutoFit/>
          </a:bodyPr>
          <a:lstStyle/>
          <a:p>
            <a:pPr algn="l"/>
            <a:r>
              <a:rPr sz="1100" b="1">
                <a:solidFill>
                  <a:srgbClr val="003366"/>
                </a:solidFill>
                <a:latin typeface="Noto Serif CJK JP"/>
                <a:ea typeface="Noto Serif CJK JP"/>
              </a:rPr>
              <a:t>互联网科技</a:t>
            </a:r>
          </a:p>
        </p:txBody>
      </p:sp>
      <p:sp>
        <p:nvSpPr>
          <p:cNvPr id="14" name="TextBox 13"/>
          <p:cNvSpPr txBox="1"/>
          <p:nvPr/>
        </p:nvSpPr>
        <p:spPr>
          <a:xfrm>
            <a:off x="8869680" y="1965960"/>
            <a:ext cx="914400" cy="457200"/>
          </a:xfrm>
          <a:prstGeom prst="rect">
            <a:avLst/>
          </a:prstGeom>
          <a:noFill/>
        </p:spPr>
        <p:txBody>
          <a:bodyPr wrap="square" anchor="ctr" lIns="45720" rIns="45720" tIns="18288" bIns="18288">
            <a:spAutoFit/>
          </a:bodyPr>
          <a:lstStyle/>
          <a:p>
            <a:pPr algn="l"/>
            <a:r>
              <a:rPr sz="1000" b="1">
                <a:solidFill>
                  <a:srgbClr val="D01F26"/>
                </a:solidFill>
                <a:latin typeface="Noto Serif CJK JP"/>
                <a:ea typeface="Noto Serif CJK JP"/>
              </a:rPr>
              <a:t>L3-L4 领先</a:t>
            </a:r>
          </a:p>
        </p:txBody>
      </p:sp>
      <p:sp>
        <p:nvSpPr>
          <p:cNvPr id="15" name="TextBox 14"/>
          <p:cNvSpPr txBox="1"/>
          <p:nvPr/>
        </p:nvSpPr>
        <p:spPr>
          <a:xfrm>
            <a:off x="9784080" y="1965960"/>
            <a:ext cx="2103120" cy="457200"/>
          </a:xfrm>
          <a:prstGeom prst="rect">
            <a:avLst/>
          </a:prstGeom>
          <a:noFill/>
        </p:spPr>
        <p:txBody>
          <a:bodyPr wrap="square" anchor="ctr" lIns="45720" rIns="45720" tIns="18288" bIns="18288">
            <a:spAutoFit/>
          </a:bodyPr>
          <a:lstStyle/>
          <a:p>
            <a:pPr algn="l"/>
            <a:r>
              <a:rPr sz="900" b="0">
                <a:solidFill>
                  <a:srgbClr val="333333"/>
                </a:solidFill>
                <a:latin typeface="Noto Serif CJK JP"/>
                <a:ea typeface="Noto Serif CJK JP"/>
              </a:rPr>
              <a:t>数据贯通 + AI 应用</a:t>
            </a:r>
          </a:p>
        </p:txBody>
      </p:sp>
      <p:sp>
        <p:nvSpPr>
          <p:cNvPr id="16" name="Rectangle 15"/>
          <p:cNvSpPr/>
          <p:nvPr/>
        </p:nvSpPr>
        <p:spPr>
          <a:xfrm>
            <a:off x="7589520" y="2468880"/>
            <a:ext cx="429768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680960" y="2468880"/>
            <a:ext cx="1280160" cy="457200"/>
          </a:xfrm>
          <a:prstGeom prst="rect">
            <a:avLst/>
          </a:prstGeom>
          <a:noFill/>
        </p:spPr>
        <p:txBody>
          <a:bodyPr wrap="square" anchor="ctr" lIns="45720" rIns="45720" tIns="18288" bIns="18288">
            <a:spAutoFit/>
          </a:bodyPr>
          <a:lstStyle/>
          <a:p>
            <a:pPr algn="l"/>
            <a:r>
              <a:rPr sz="1100" b="1">
                <a:solidFill>
                  <a:srgbClr val="003366"/>
                </a:solidFill>
                <a:latin typeface="Noto Serif CJK JP"/>
                <a:ea typeface="Noto Serif CJK JP"/>
              </a:rPr>
              <a:t>物流行业</a:t>
            </a:r>
          </a:p>
        </p:txBody>
      </p:sp>
      <p:sp>
        <p:nvSpPr>
          <p:cNvPr id="18" name="TextBox 17"/>
          <p:cNvSpPr txBox="1"/>
          <p:nvPr/>
        </p:nvSpPr>
        <p:spPr>
          <a:xfrm>
            <a:off x="8869680" y="2468880"/>
            <a:ext cx="914400" cy="457200"/>
          </a:xfrm>
          <a:prstGeom prst="rect">
            <a:avLst/>
          </a:prstGeom>
          <a:noFill/>
        </p:spPr>
        <p:txBody>
          <a:bodyPr wrap="square" anchor="ctr" lIns="45720" rIns="45720" tIns="18288" bIns="18288">
            <a:spAutoFit/>
          </a:bodyPr>
          <a:lstStyle/>
          <a:p>
            <a:pPr algn="l"/>
            <a:r>
              <a:rPr sz="1000" b="1">
                <a:solidFill>
                  <a:srgbClr val="D01F26"/>
                </a:solidFill>
                <a:latin typeface="Noto Serif CJK JP"/>
                <a:ea typeface="Noto Serif CJK JP"/>
              </a:rPr>
              <a:t>L3-L4 领先</a:t>
            </a:r>
          </a:p>
        </p:txBody>
      </p:sp>
      <p:sp>
        <p:nvSpPr>
          <p:cNvPr id="19" name="TextBox 18"/>
          <p:cNvSpPr txBox="1"/>
          <p:nvPr/>
        </p:nvSpPr>
        <p:spPr>
          <a:xfrm>
            <a:off x="9784080" y="2468880"/>
            <a:ext cx="2103120" cy="457200"/>
          </a:xfrm>
          <a:prstGeom prst="rect">
            <a:avLst/>
          </a:prstGeom>
          <a:noFill/>
        </p:spPr>
        <p:txBody>
          <a:bodyPr wrap="square" anchor="ctr" lIns="45720" rIns="45720" tIns="18288" bIns="18288">
            <a:spAutoFit/>
          </a:bodyPr>
          <a:lstStyle/>
          <a:p>
            <a:pPr algn="l"/>
            <a:r>
              <a:rPr sz="900" b="0">
                <a:solidFill>
                  <a:srgbClr val="333333"/>
                </a:solidFill>
                <a:latin typeface="Noto Serif CJK JP"/>
                <a:ea typeface="Noto Serif CJK JP"/>
              </a:rPr>
              <a:t>实时调度 + 自主修复</a:t>
            </a:r>
          </a:p>
        </p:txBody>
      </p:sp>
      <p:sp>
        <p:nvSpPr>
          <p:cNvPr id="20" name="Rectangle 19"/>
          <p:cNvSpPr/>
          <p:nvPr/>
        </p:nvSpPr>
        <p:spPr>
          <a:xfrm>
            <a:off x="7589520" y="2971800"/>
            <a:ext cx="429768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680960" y="2971800"/>
            <a:ext cx="1280160" cy="457200"/>
          </a:xfrm>
          <a:prstGeom prst="rect">
            <a:avLst/>
          </a:prstGeom>
          <a:noFill/>
        </p:spPr>
        <p:txBody>
          <a:bodyPr wrap="square" anchor="ctr" lIns="45720" rIns="45720" tIns="18288" bIns="18288">
            <a:spAutoFit/>
          </a:bodyPr>
          <a:lstStyle/>
          <a:p>
            <a:pPr algn="l"/>
            <a:r>
              <a:rPr sz="1100" b="1">
                <a:solidFill>
                  <a:srgbClr val="003366"/>
                </a:solidFill>
                <a:latin typeface="Noto Serif CJK JP"/>
                <a:ea typeface="Noto Serif CJK JP"/>
              </a:rPr>
              <a:t>金融业</a:t>
            </a:r>
          </a:p>
        </p:txBody>
      </p:sp>
      <p:sp>
        <p:nvSpPr>
          <p:cNvPr id="22" name="TextBox 21"/>
          <p:cNvSpPr txBox="1"/>
          <p:nvPr/>
        </p:nvSpPr>
        <p:spPr>
          <a:xfrm>
            <a:off x="8869680" y="2971800"/>
            <a:ext cx="914400" cy="457200"/>
          </a:xfrm>
          <a:prstGeom prst="rect">
            <a:avLst/>
          </a:prstGeom>
          <a:noFill/>
        </p:spPr>
        <p:txBody>
          <a:bodyPr wrap="square" anchor="ctr" lIns="45720" rIns="45720" tIns="18288" bIns="18288">
            <a:spAutoFit/>
          </a:bodyPr>
          <a:lstStyle/>
          <a:p>
            <a:pPr algn="l"/>
            <a:r>
              <a:rPr sz="1000" b="1">
                <a:solidFill>
                  <a:srgbClr val="D01F26"/>
                </a:solidFill>
                <a:latin typeface="Noto Serif CJK JP"/>
                <a:ea typeface="Noto Serif CJK JP"/>
              </a:rPr>
              <a:t>L3 中等</a:t>
            </a:r>
          </a:p>
        </p:txBody>
      </p:sp>
      <p:sp>
        <p:nvSpPr>
          <p:cNvPr id="23" name="TextBox 22"/>
          <p:cNvSpPr txBox="1"/>
          <p:nvPr/>
        </p:nvSpPr>
        <p:spPr>
          <a:xfrm>
            <a:off x="9784080" y="2971800"/>
            <a:ext cx="2103120" cy="457200"/>
          </a:xfrm>
          <a:prstGeom prst="rect">
            <a:avLst/>
          </a:prstGeom>
          <a:noFill/>
        </p:spPr>
        <p:txBody>
          <a:bodyPr wrap="square" anchor="ctr" lIns="45720" rIns="45720" tIns="18288" bIns="18288">
            <a:spAutoFit/>
          </a:bodyPr>
          <a:lstStyle/>
          <a:p>
            <a:pPr algn="l"/>
            <a:r>
              <a:rPr sz="900" b="0">
                <a:solidFill>
                  <a:srgbClr val="333333"/>
                </a:solidFill>
                <a:latin typeface="Noto Serif CJK JP"/>
                <a:ea typeface="Noto Serif CJK JP"/>
              </a:rPr>
              <a:t>合规 AI + 可解释</a:t>
            </a:r>
          </a:p>
        </p:txBody>
      </p:sp>
      <p:sp>
        <p:nvSpPr>
          <p:cNvPr id="24" name="Rectangle 23"/>
          <p:cNvSpPr/>
          <p:nvPr/>
        </p:nvSpPr>
        <p:spPr>
          <a:xfrm>
            <a:off x="7589520" y="3474720"/>
            <a:ext cx="429768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680960" y="3474720"/>
            <a:ext cx="1280160" cy="457200"/>
          </a:xfrm>
          <a:prstGeom prst="rect">
            <a:avLst/>
          </a:prstGeom>
          <a:noFill/>
        </p:spPr>
        <p:txBody>
          <a:bodyPr wrap="square" anchor="ctr" lIns="45720" rIns="45720" tIns="18288" bIns="18288">
            <a:spAutoFit/>
          </a:bodyPr>
          <a:lstStyle/>
          <a:p>
            <a:pPr algn="l"/>
            <a:r>
              <a:rPr sz="1100" b="1">
                <a:solidFill>
                  <a:srgbClr val="003366"/>
                </a:solidFill>
                <a:latin typeface="Noto Serif CJK JP"/>
                <a:ea typeface="Noto Serif CJK JP"/>
              </a:rPr>
              <a:t>制造业</a:t>
            </a:r>
          </a:p>
        </p:txBody>
      </p:sp>
      <p:sp>
        <p:nvSpPr>
          <p:cNvPr id="26" name="TextBox 25"/>
          <p:cNvSpPr txBox="1"/>
          <p:nvPr/>
        </p:nvSpPr>
        <p:spPr>
          <a:xfrm>
            <a:off x="8869680" y="3474720"/>
            <a:ext cx="914400" cy="457200"/>
          </a:xfrm>
          <a:prstGeom prst="rect">
            <a:avLst/>
          </a:prstGeom>
          <a:noFill/>
        </p:spPr>
        <p:txBody>
          <a:bodyPr wrap="square" anchor="ctr" lIns="45720" rIns="45720" tIns="18288" bIns="18288">
            <a:spAutoFit/>
          </a:bodyPr>
          <a:lstStyle/>
          <a:p>
            <a:pPr algn="l"/>
            <a:r>
              <a:rPr sz="1000" b="1">
                <a:solidFill>
                  <a:srgbClr val="D01F26"/>
                </a:solidFill>
                <a:latin typeface="Noto Serif CJK JP"/>
                <a:ea typeface="Noto Serif CJK JP"/>
              </a:rPr>
              <a:t>L2-L3 中等</a:t>
            </a:r>
          </a:p>
        </p:txBody>
      </p:sp>
      <p:sp>
        <p:nvSpPr>
          <p:cNvPr id="27" name="TextBox 26"/>
          <p:cNvSpPr txBox="1"/>
          <p:nvPr/>
        </p:nvSpPr>
        <p:spPr>
          <a:xfrm>
            <a:off x="9784080" y="3474720"/>
            <a:ext cx="2103120" cy="457200"/>
          </a:xfrm>
          <a:prstGeom prst="rect">
            <a:avLst/>
          </a:prstGeom>
          <a:noFill/>
        </p:spPr>
        <p:txBody>
          <a:bodyPr wrap="square" anchor="ctr" lIns="45720" rIns="45720" tIns="18288" bIns="18288">
            <a:spAutoFit/>
          </a:bodyPr>
          <a:lstStyle/>
          <a:p>
            <a:pPr algn="l"/>
            <a:r>
              <a:rPr sz="900" b="0">
                <a:solidFill>
                  <a:srgbClr val="333333"/>
                </a:solidFill>
                <a:latin typeface="Noto Serif CJK JP"/>
                <a:ea typeface="Noto Serif CJK JP"/>
              </a:rPr>
              <a:t>数据贯通 + AI 排产</a:t>
            </a:r>
          </a:p>
        </p:txBody>
      </p:sp>
      <p:sp>
        <p:nvSpPr>
          <p:cNvPr id="28" name="Rectangle 27"/>
          <p:cNvSpPr/>
          <p:nvPr/>
        </p:nvSpPr>
        <p:spPr>
          <a:xfrm>
            <a:off x="7589520" y="3977639"/>
            <a:ext cx="4297680"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680960" y="3977639"/>
            <a:ext cx="1280160" cy="457200"/>
          </a:xfrm>
          <a:prstGeom prst="rect">
            <a:avLst/>
          </a:prstGeom>
          <a:noFill/>
        </p:spPr>
        <p:txBody>
          <a:bodyPr wrap="square" anchor="ctr" lIns="45720" rIns="45720" tIns="18288" bIns="18288">
            <a:spAutoFit/>
          </a:bodyPr>
          <a:lstStyle/>
          <a:p>
            <a:pPr algn="l"/>
            <a:r>
              <a:rPr sz="1100" b="1">
                <a:solidFill>
                  <a:srgbClr val="003366"/>
                </a:solidFill>
                <a:latin typeface="Noto Serif CJK JP"/>
                <a:ea typeface="Noto Serif CJK JP"/>
              </a:rPr>
              <a:t>零售业</a:t>
            </a:r>
          </a:p>
        </p:txBody>
      </p:sp>
      <p:sp>
        <p:nvSpPr>
          <p:cNvPr id="30" name="TextBox 29"/>
          <p:cNvSpPr txBox="1"/>
          <p:nvPr/>
        </p:nvSpPr>
        <p:spPr>
          <a:xfrm>
            <a:off x="8869680" y="3977639"/>
            <a:ext cx="914400" cy="457200"/>
          </a:xfrm>
          <a:prstGeom prst="rect">
            <a:avLst/>
          </a:prstGeom>
          <a:noFill/>
        </p:spPr>
        <p:txBody>
          <a:bodyPr wrap="square" anchor="ctr" lIns="45720" rIns="45720" tIns="18288" bIns="18288">
            <a:spAutoFit/>
          </a:bodyPr>
          <a:lstStyle/>
          <a:p>
            <a:pPr algn="l"/>
            <a:r>
              <a:rPr sz="1000" b="1">
                <a:solidFill>
                  <a:srgbClr val="D01F26"/>
                </a:solidFill>
                <a:latin typeface="Noto Serif CJK JP"/>
                <a:ea typeface="Noto Serif CJK JP"/>
              </a:rPr>
              <a:t>L2-L3 中等</a:t>
            </a:r>
          </a:p>
        </p:txBody>
      </p:sp>
      <p:sp>
        <p:nvSpPr>
          <p:cNvPr id="31" name="TextBox 30"/>
          <p:cNvSpPr txBox="1"/>
          <p:nvPr/>
        </p:nvSpPr>
        <p:spPr>
          <a:xfrm>
            <a:off x="9784080" y="3977639"/>
            <a:ext cx="2103120" cy="457200"/>
          </a:xfrm>
          <a:prstGeom prst="rect">
            <a:avLst/>
          </a:prstGeom>
          <a:noFill/>
        </p:spPr>
        <p:txBody>
          <a:bodyPr wrap="square" anchor="ctr" lIns="45720" rIns="45720" tIns="18288" bIns="18288">
            <a:spAutoFit/>
          </a:bodyPr>
          <a:lstStyle/>
          <a:p>
            <a:pPr algn="l"/>
            <a:r>
              <a:rPr sz="900" b="0">
                <a:solidFill>
                  <a:srgbClr val="333333"/>
                </a:solidFill>
                <a:latin typeface="Noto Serif CJK JP"/>
                <a:ea typeface="Noto Serif CJK JP"/>
              </a:rPr>
              <a:t>门店线上化 + 协同</a:t>
            </a:r>
          </a:p>
        </p:txBody>
      </p:sp>
      <p:sp>
        <p:nvSpPr>
          <p:cNvPr id="32" name="Rectangle 31"/>
          <p:cNvSpPr/>
          <p:nvPr/>
        </p:nvSpPr>
        <p:spPr>
          <a:xfrm>
            <a:off x="7589520" y="4480560"/>
            <a:ext cx="429768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680960" y="4480560"/>
            <a:ext cx="1280160" cy="457200"/>
          </a:xfrm>
          <a:prstGeom prst="rect">
            <a:avLst/>
          </a:prstGeom>
          <a:noFill/>
        </p:spPr>
        <p:txBody>
          <a:bodyPr wrap="square" anchor="ctr" lIns="45720" rIns="45720" tIns="18288" bIns="18288">
            <a:spAutoFit/>
          </a:bodyPr>
          <a:lstStyle/>
          <a:p>
            <a:pPr algn="l"/>
            <a:r>
              <a:rPr sz="1100" b="1">
                <a:solidFill>
                  <a:srgbClr val="003366"/>
                </a:solidFill>
                <a:latin typeface="Noto Serif CJK JP"/>
                <a:ea typeface="Noto Serif CJK JP"/>
              </a:rPr>
              <a:t>医疗行业</a:t>
            </a:r>
          </a:p>
        </p:txBody>
      </p:sp>
      <p:sp>
        <p:nvSpPr>
          <p:cNvPr id="34" name="TextBox 33"/>
          <p:cNvSpPr txBox="1"/>
          <p:nvPr/>
        </p:nvSpPr>
        <p:spPr>
          <a:xfrm>
            <a:off x="8869680" y="4480560"/>
            <a:ext cx="914400" cy="457200"/>
          </a:xfrm>
          <a:prstGeom prst="rect">
            <a:avLst/>
          </a:prstGeom>
          <a:noFill/>
        </p:spPr>
        <p:txBody>
          <a:bodyPr wrap="square" anchor="ctr" lIns="45720" rIns="45720" tIns="18288" bIns="18288">
            <a:spAutoFit/>
          </a:bodyPr>
          <a:lstStyle/>
          <a:p>
            <a:pPr algn="l"/>
            <a:r>
              <a:rPr sz="1000" b="1">
                <a:solidFill>
                  <a:srgbClr val="D01F26"/>
                </a:solidFill>
                <a:latin typeface="Noto Serif CJK JP"/>
                <a:ea typeface="Noto Serif CJK JP"/>
              </a:rPr>
              <a:t>L2 落后</a:t>
            </a:r>
          </a:p>
        </p:txBody>
      </p:sp>
      <p:sp>
        <p:nvSpPr>
          <p:cNvPr id="35" name="TextBox 34"/>
          <p:cNvSpPr txBox="1"/>
          <p:nvPr/>
        </p:nvSpPr>
        <p:spPr>
          <a:xfrm>
            <a:off x="9784080" y="4480560"/>
            <a:ext cx="2103120" cy="457200"/>
          </a:xfrm>
          <a:prstGeom prst="rect">
            <a:avLst/>
          </a:prstGeom>
          <a:noFill/>
        </p:spPr>
        <p:txBody>
          <a:bodyPr wrap="square" anchor="ctr" lIns="45720" rIns="45720" tIns="18288" bIns="18288">
            <a:spAutoFit/>
          </a:bodyPr>
          <a:lstStyle/>
          <a:p>
            <a:pPr algn="l"/>
            <a:r>
              <a:rPr sz="900" b="0">
                <a:solidFill>
                  <a:srgbClr val="333333"/>
                </a:solidFill>
                <a:latin typeface="Noto Serif CJK JP"/>
                <a:ea typeface="Noto Serif CJK JP"/>
              </a:rPr>
              <a:t>标准化 + 低风险试点</a:t>
            </a:r>
          </a:p>
        </p:txBody>
      </p:sp>
      <p:sp>
        <p:nvSpPr>
          <p:cNvPr id="36" name="TextBox 35"/>
          <p:cNvSpPr txBox="1"/>
          <p:nvPr/>
        </p:nvSpPr>
        <p:spPr>
          <a:xfrm>
            <a:off x="457200" y="521208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L4-L5 企业共同特征</a:t>
            </a:r>
          </a:p>
        </p:txBody>
      </p:sp>
      <p:sp>
        <p:nvSpPr>
          <p:cNvPr id="37" name="TextBox 36"/>
          <p:cNvSpPr txBox="1"/>
          <p:nvPr/>
        </p:nvSpPr>
        <p:spPr>
          <a:xfrm>
            <a:off x="457200" y="5577840"/>
            <a:ext cx="11247120" cy="731520"/>
          </a:xfrm>
          <a:prstGeom prst="rect">
            <a:avLst/>
          </a:prstGeom>
          <a:noFill/>
        </p:spPr>
        <p:txBody>
          <a:bodyPr wrap="square" lIns="45720" rIns="45720">
            <a:spAutoFit/>
          </a:bodyPr>
          <a:lstStyle/>
          <a:p>
            <a:pPr algn="l">
              <a:lnSpc>
                <a:spcPct val="130000"/>
              </a:lnSpc>
            </a:pPr>
            <a:r>
              <a:rPr sz="1100" b="0">
                <a:solidFill>
                  <a:srgbClr val="333333"/>
                </a:solidFill>
                <a:latin typeface="Noto Serif CJK JP"/>
                <a:ea typeface="Noto Serif CJK JP"/>
              </a:rPr>
              <a:t>✓ 流程 Owner 制度健全  ✓ 跨系统数据贯通率高  ✓ 流程挖掘覆盖关键链路  ✓ AI 应用嵌入流程节点  ✓ KPI 与部门绩效挂钩</a:t>
            </a:r>
          </a:p>
        </p:txBody>
      </p:sp>
      <p:sp>
        <p:nvSpPr>
          <p:cNvPr id="38" name="Rectangle 37"/>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强结论：行业基准不是终点，而是帮企业选择下一阶段最短路径的导航仪</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13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自评工具与模板</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工具包 = 5 类模板 + 30 题问卷 + 18 项指标 + 12 个月路线图</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155448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5 大工具模板</a:t>
            </a:r>
          </a:p>
        </p:txBody>
      </p:sp>
      <p:sp>
        <p:nvSpPr>
          <p:cNvPr id="11" name="Rectangle 10"/>
          <p:cNvSpPr/>
          <p:nvPr/>
        </p:nvSpPr>
        <p:spPr>
          <a:xfrm>
            <a:off x="457200" y="2011680"/>
            <a:ext cx="2194560" cy="128016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7200" y="2103120"/>
            <a:ext cx="2194560" cy="640080"/>
          </a:xfrm>
          <a:prstGeom prst="rect">
            <a:avLst/>
          </a:prstGeom>
          <a:noFill/>
        </p:spPr>
        <p:txBody>
          <a:bodyPr wrap="square" anchor="ctr" lIns="45720" rIns="45720" tIns="18288" bIns="18288">
            <a:spAutoFit/>
          </a:bodyPr>
          <a:lstStyle/>
          <a:p>
            <a:pPr algn="ctr"/>
            <a:r>
              <a:rPr sz="1200" b="1">
                <a:solidFill>
                  <a:srgbClr val="FFFFFF"/>
                </a:solidFill>
                <a:latin typeface="Noto Serif CJK JP"/>
                <a:ea typeface="Noto Serif CJK JP"/>
              </a:rPr>
              <a:t>四维 18 指标
打分表</a:t>
            </a:r>
          </a:p>
        </p:txBody>
      </p:sp>
      <p:sp>
        <p:nvSpPr>
          <p:cNvPr id="13" name="TextBox 12"/>
          <p:cNvSpPr txBox="1"/>
          <p:nvPr/>
        </p:nvSpPr>
        <p:spPr>
          <a:xfrm>
            <a:off x="457200" y="2788920"/>
            <a:ext cx="2194560" cy="457200"/>
          </a:xfrm>
          <a:prstGeom prst="rect">
            <a:avLst/>
          </a:prstGeom>
          <a:noFill/>
        </p:spPr>
        <p:txBody>
          <a:bodyPr wrap="square" anchor="ctr" lIns="45720" rIns="45720" tIns="18288" bIns="18288">
            <a:spAutoFit/>
          </a:bodyPr>
          <a:lstStyle/>
          <a:p>
            <a:pPr algn="ctr"/>
            <a:r>
              <a:rPr sz="1000" b="0">
                <a:solidFill>
                  <a:srgbClr val="FFCC00"/>
                </a:solidFill>
                <a:latin typeface="Noto Serif CJK JP"/>
                <a:ea typeface="Noto Serif CJK JP"/>
              </a:rPr>
              <a:t>统一评分口径</a:t>
            </a:r>
          </a:p>
        </p:txBody>
      </p:sp>
      <p:sp>
        <p:nvSpPr>
          <p:cNvPr id="14" name="Rectangle 13"/>
          <p:cNvSpPr/>
          <p:nvPr/>
        </p:nvSpPr>
        <p:spPr>
          <a:xfrm>
            <a:off x="2788920" y="2011680"/>
            <a:ext cx="2194560" cy="128016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788920" y="2103120"/>
            <a:ext cx="2194560" cy="640080"/>
          </a:xfrm>
          <a:prstGeom prst="rect">
            <a:avLst/>
          </a:prstGeom>
          <a:noFill/>
        </p:spPr>
        <p:txBody>
          <a:bodyPr wrap="square" anchor="ctr" lIns="45720" rIns="45720" tIns="18288" bIns="18288">
            <a:spAutoFit/>
          </a:bodyPr>
          <a:lstStyle/>
          <a:p>
            <a:pPr algn="ctr"/>
            <a:r>
              <a:rPr sz="1200" b="1">
                <a:solidFill>
                  <a:srgbClr val="FFFFFF"/>
                </a:solidFill>
                <a:latin typeface="Noto Serif CJK JP"/>
                <a:ea typeface="Noto Serif CJK JP"/>
              </a:rPr>
              <a:t>雷达图
自动生成</a:t>
            </a:r>
          </a:p>
        </p:txBody>
      </p:sp>
      <p:sp>
        <p:nvSpPr>
          <p:cNvPr id="16" name="TextBox 15"/>
          <p:cNvSpPr txBox="1"/>
          <p:nvPr/>
        </p:nvSpPr>
        <p:spPr>
          <a:xfrm>
            <a:off x="2788920" y="2788920"/>
            <a:ext cx="2194560" cy="457200"/>
          </a:xfrm>
          <a:prstGeom prst="rect">
            <a:avLst/>
          </a:prstGeom>
          <a:noFill/>
        </p:spPr>
        <p:txBody>
          <a:bodyPr wrap="square" anchor="ctr" lIns="45720" rIns="45720" tIns="18288" bIns="18288">
            <a:spAutoFit/>
          </a:bodyPr>
          <a:lstStyle/>
          <a:p>
            <a:pPr algn="ctr"/>
            <a:r>
              <a:rPr sz="1000" b="0">
                <a:solidFill>
                  <a:srgbClr val="FFCC00"/>
                </a:solidFill>
                <a:latin typeface="Noto Serif CJK JP"/>
                <a:ea typeface="Noto Serif CJK JP"/>
              </a:rPr>
              <a:t>一眼定位最低维度</a:t>
            </a:r>
          </a:p>
        </p:txBody>
      </p:sp>
      <p:sp>
        <p:nvSpPr>
          <p:cNvPr id="17" name="Rectangle 16"/>
          <p:cNvSpPr/>
          <p:nvPr/>
        </p:nvSpPr>
        <p:spPr>
          <a:xfrm>
            <a:off x="5120640" y="2011680"/>
            <a:ext cx="2194560" cy="128016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20640" y="2103120"/>
            <a:ext cx="2194560" cy="640080"/>
          </a:xfrm>
          <a:prstGeom prst="rect">
            <a:avLst/>
          </a:prstGeom>
          <a:noFill/>
        </p:spPr>
        <p:txBody>
          <a:bodyPr wrap="square" anchor="ctr" lIns="45720" rIns="45720" tIns="18288" bIns="18288">
            <a:spAutoFit/>
          </a:bodyPr>
          <a:lstStyle/>
          <a:p>
            <a:pPr algn="ctr"/>
            <a:r>
              <a:rPr sz="1200" b="1">
                <a:solidFill>
                  <a:srgbClr val="FFFFFF"/>
                </a:solidFill>
                <a:latin typeface="Noto Serif CJK JP"/>
                <a:ea typeface="Noto Serif CJK JP"/>
              </a:rPr>
              <a:t>流程成熟度
自评问卷</a:t>
            </a:r>
          </a:p>
        </p:txBody>
      </p:sp>
      <p:sp>
        <p:nvSpPr>
          <p:cNvPr id="19" name="TextBox 18"/>
          <p:cNvSpPr txBox="1"/>
          <p:nvPr/>
        </p:nvSpPr>
        <p:spPr>
          <a:xfrm>
            <a:off x="5120640" y="2788920"/>
            <a:ext cx="2194560" cy="457200"/>
          </a:xfrm>
          <a:prstGeom prst="rect">
            <a:avLst/>
          </a:prstGeom>
          <a:noFill/>
        </p:spPr>
        <p:txBody>
          <a:bodyPr wrap="square" anchor="ctr" lIns="45720" rIns="45720" tIns="18288" bIns="18288">
            <a:spAutoFit/>
          </a:bodyPr>
          <a:lstStyle/>
          <a:p>
            <a:pPr algn="ctr"/>
            <a:r>
              <a:rPr sz="1000" b="0">
                <a:solidFill>
                  <a:srgbClr val="FFCC00"/>
                </a:solidFill>
                <a:latin typeface="Noto Serif CJK JP"/>
                <a:ea typeface="Noto Serif CJK JP"/>
              </a:rPr>
              <a:t>快速收集多角色</a:t>
            </a:r>
          </a:p>
        </p:txBody>
      </p:sp>
      <p:sp>
        <p:nvSpPr>
          <p:cNvPr id="20" name="Rectangle 19"/>
          <p:cNvSpPr/>
          <p:nvPr/>
        </p:nvSpPr>
        <p:spPr>
          <a:xfrm>
            <a:off x="7452359" y="2011680"/>
            <a:ext cx="2194560" cy="128016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52359" y="2103120"/>
            <a:ext cx="2194560" cy="640080"/>
          </a:xfrm>
          <a:prstGeom prst="rect">
            <a:avLst/>
          </a:prstGeom>
          <a:noFill/>
        </p:spPr>
        <p:txBody>
          <a:bodyPr wrap="square" anchor="ctr" lIns="45720" rIns="45720" tIns="18288" bIns="18288">
            <a:spAutoFit/>
          </a:bodyPr>
          <a:lstStyle/>
          <a:p>
            <a:pPr algn="ctr"/>
            <a:r>
              <a:rPr sz="1200" b="1">
                <a:solidFill>
                  <a:srgbClr val="FFFFFF"/>
                </a:solidFill>
                <a:latin typeface="Noto Serif CJK JP"/>
                <a:ea typeface="Noto Serif CJK JP"/>
              </a:rPr>
              <a:t>短板诊断
报告模板</a:t>
            </a:r>
          </a:p>
        </p:txBody>
      </p:sp>
      <p:sp>
        <p:nvSpPr>
          <p:cNvPr id="22" name="TextBox 21"/>
          <p:cNvSpPr txBox="1"/>
          <p:nvPr/>
        </p:nvSpPr>
        <p:spPr>
          <a:xfrm>
            <a:off x="7452359" y="2788920"/>
            <a:ext cx="2194560" cy="457200"/>
          </a:xfrm>
          <a:prstGeom prst="rect">
            <a:avLst/>
          </a:prstGeom>
          <a:noFill/>
        </p:spPr>
        <p:txBody>
          <a:bodyPr wrap="square" anchor="ctr" lIns="45720" rIns="45720" tIns="18288" bIns="18288">
            <a:spAutoFit/>
          </a:bodyPr>
          <a:lstStyle/>
          <a:p>
            <a:pPr algn="ctr"/>
            <a:r>
              <a:rPr sz="1000" b="0">
                <a:solidFill>
                  <a:srgbClr val="FFCC00"/>
                </a:solidFill>
                <a:latin typeface="Noto Serif CJK JP"/>
                <a:ea typeface="Noto Serif CJK JP"/>
              </a:rPr>
              <a:t>分数转任务</a:t>
            </a:r>
          </a:p>
        </p:txBody>
      </p:sp>
      <p:sp>
        <p:nvSpPr>
          <p:cNvPr id="23" name="Rectangle 22"/>
          <p:cNvSpPr/>
          <p:nvPr/>
        </p:nvSpPr>
        <p:spPr>
          <a:xfrm>
            <a:off x="9784080" y="2011680"/>
            <a:ext cx="2194560" cy="128016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784080" y="2103120"/>
            <a:ext cx="2194560" cy="640080"/>
          </a:xfrm>
          <a:prstGeom prst="rect">
            <a:avLst/>
          </a:prstGeom>
          <a:noFill/>
        </p:spPr>
        <p:txBody>
          <a:bodyPr wrap="square" anchor="ctr" lIns="45720" rIns="45720" tIns="18288" bIns="18288">
            <a:spAutoFit/>
          </a:bodyPr>
          <a:lstStyle/>
          <a:p>
            <a:pPr algn="ctr"/>
            <a:r>
              <a:rPr sz="1200" b="1">
                <a:solidFill>
                  <a:srgbClr val="FFFFFF"/>
                </a:solidFill>
                <a:latin typeface="Noto Serif CJK JP"/>
                <a:ea typeface="Noto Serif CJK JP"/>
              </a:rPr>
              <a:t>12 个月
路线图模板</a:t>
            </a:r>
          </a:p>
        </p:txBody>
      </p:sp>
      <p:sp>
        <p:nvSpPr>
          <p:cNvPr id="25" name="TextBox 24"/>
          <p:cNvSpPr txBox="1"/>
          <p:nvPr/>
        </p:nvSpPr>
        <p:spPr>
          <a:xfrm>
            <a:off x="9784080" y="2788920"/>
            <a:ext cx="2194560" cy="457200"/>
          </a:xfrm>
          <a:prstGeom prst="rect">
            <a:avLst/>
          </a:prstGeom>
          <a:noFill/>
        </p:spPr>
        <p:txBody>
          <a:bodyPr wrap="square" anchor="ctr" lIns="45720" rIns="45720" tIns="18288" bIns="18288">
            <a:spAutoFit/>
          </a:bodyPr>
          <a:lstStyle/>
          <a:p>
            <a:pPr algn="ctr"/>
            <a:r>
              <a:rPr sz="1000" b="0">
                <a:solidFill>
                  <a:srgbClr val="FFCC00"/>
                </a:solidFill>
                <a:latin typeface="Noto Serif CJK JP"/>
                <a:ea typeface="Noto Serif CJK JP"/>
              </a:rPr>
              <a:t>节奏可管理</a:t>
            </a:r>
          </a:p>
        </p:txBody>
      </p:sp>
      <p:sp>
        <p:nvSpPr>
          <p:cNvPr id="26" name="TextBox 25"/>
          <p:cNvSpPr txBox="1"/>
          <p:nvPr/>
        </p:nvSpPr>
        <p:spPr>
          <a:xfrm>
            <a:off x="457200" y="356616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自评工具包 6 步闭环</a:t>
            </a:r>
          </a:p>
        </p:txBody>
      </p:sp>
      <p:sp>
        <p:nvSpPr>
          <p:cNvPr id="27" name="Rectangle 26"/>
          <p:cNvSpPr/>
          <p:nvPr/>
        </p:nvSpPr>
        <p:spPr>
          <a:xfrm>
            <a:off x="457200" y="4023360"/>
            <a:ext cx="1828800" cy="6400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57200" y="4023360"/>
            <a:ext cx="1828800" cy="64008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1. 下载模板</a:t>
            </a:r>
          </a:p>
        </p:txBody>
      </p:sp>
      <p:cxnSp>
        <p:nvCxnSpPr>
          <p:cNvPr id="29" name="Connector 28"/>
          <p:cNvCxnSpPr/>
          <p:nvPr/>
        </p:nvCxnSpPr>
        <p:spPr>
          <a:xfrm>
            <a:off x="2286000" y="4343400"/>
            <a:ext cx="137160" cy="0"/>
          </a:xfrm>
          <a:prstGeom prst="line">
            <a:avLst/>
          </a:prstGeom>
          <a:ln w="19050">
            <a:solidFill>
              <a:srgbClr val="D01F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2423160" y="4023360"/>
            <a:ext cx="1828800" cy="6400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423160" y="4023360"/>
            <a:ext cx="1828800" cy="64008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2. 组建小组</a:t>
            </a:r>
          </a:p>
        </p:txBody>
      </p:sp>
      <p:cxnSp>
        <p:nvCxnSpPr>
          <p:cNvPr id="32" name="Connector 31"/>
          <p:cNvCxnSpPr/>
          <p:nvPr/>
        </p:nvCxnSpPr>
        <p:spPr>
          <a:xfrm>
            <a:off x="4251960" y="4343400"/>
            <a:ext cx="137160" cy="0"/>
          </a:xfrm>
          <a:prstGeom prst="line">
            <a:avLst/>
          </a:prstGeom>
          <a:ln w="19050">
            <a:solidFill>
              <a:srgbClr val="D01F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389120" y="4023360"/>
            <a:ext cx="1828800" cy="6400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4389120" y="4023360"/>
            <a:ext cx="1828800" cy="64008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3. 录入得分</a:t>
            </a:r>
          </a:p>
        </p:txBody>
      </p:sp>
      <p:cxnSp>
        <p:nvCxnSpPr>
          <p:cNvPr id="35" name="Connector 34"/>
          <p:cNvCxnSpPr/>
          <p:nvPr/>
        </p:nvCxnSpPr>
        <p:spPr>
          <a:xfrm>
            <a:off x="6217920" y="4343400"/>
            <a:ext cx="137160" cy="0"/>
          </a:xfrm>
          <a:prstGeom prst="line">
            <a:avLst/>
          </a:prstGeom>
          <a:ln w="19050">
            <a:solidFill>
              <a:srgbClr val="D01F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6355079" y="4023360"/>
            <a:ext cx="1828800" cy="6400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355079" y="4023360"/>
            <a:ext cx="1828800" cy="64008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4. 生成雷达</a:t>
            </a:r>
          </a:p>
        </p:txBody>
      </p:sp>
      <p:cxnSp>
        <p:nvCxnSpPr>
          <p:cNvPr id="38" name="Connector 37"/>
          <p:cNvCxnSpPr/>
          <p:nvPr/>
        </p:nvCxnSpPr>
        <p:spPr>
          <a:xfrm>
            <a:off x="8183879" y="4343400"/>
            <a:ext cx="137160" cy="0"/>
          </a:xfrm>
          <a:prstGeom prst="line">
            <a:avLst/>
          </a:prstGeom>
          <a:ln w="19050">
            <a:solidFill>
              <a:srgbClr val="D01F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321040" y="4023360"/>
            <a:ext cx="1828800" cy="6400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321040" y="4023360"/>
            <a:ext cx="1828800" cy="64008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5. 诊断报告</a:t>
            </a:r>
          </a:p>
        </p:txBody>
      </p:sp>
      <p:cxnSp>
        <p:nvCxnSpPr>
          <p:cNvPr id="41" name="Connector 40"/>
          <p:cNvCxnSpPr/>
          <p:nvPr/>
        </p:nvCxnSpPr>
        <p:spPr>
          <a:xfrm>
            <a:off x="10149840" y="4343400"/>
            <a:ext cx="137160" cy="0"/>
          </a:xfrm>
          <a:prstGeom prst="line">
            <a:avLst/>
          </a:prstGeom>
          <a:ln w="19050">
            <a:solidFill>
              <a:srgbClr val="D01F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10287000" y="4023360"/>
            <a:ext cx="1828800" cy="6400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0287000" y="4023360"/>
            <a:ext cx="1828800" cy="64008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6. 改进路线</a:t>
            </a:r>
          </a:p>
        </p:txBody>
      </p:sp>
      <p:sp>
        <p:nvSpPr>
          <p:cNvPr id="44" name="TextBox 43"/>
          <p:cNvSpPr txBox="1"/>
          <p:nvPr/>
        </p:nvSpPr>
        <p:spPr>
          <a:xfrm>
            <a:off x="457200" y="4937760"/>
            <a:ext cx="5486400" cy="365760"/>
          </a:xfrm>
          <a:prstGeom prst="rect">
            <a:avLst/>
          </a:prstGeom>
          <a:noFill/>
        </p:spPr>
        <p:txBody>
          <a:bodyPr wrap="square" anchor="t" lIns="45720" rIns="45720" tIns="18288" bIns="18288">
            <a:spAutoFit/>
          </a:bodyPr>
          <a:lstStyle/>
          <a:p>
            <a:pPr algn="l"/>
            <a:r>
              <a:rPr sz="1400" b="1">
                <a:solidFill>
                  <a:srgbClr val="003366"/>
                </a:solidFill>
                <a:latin typeface="Noto Serif CJK JP"/>
                <a:ea typeface="Noto Serif CJK JP"/>
              </a:rPr>
              <a:t>数据采集建议</a:t>
            </a:r>
          </a:p>
        </p:txBody>
      </p:sp>
      <p:sp>
        <p:nvSpPr>
          <p:cNvPr id="45" name="TextBox 44"/>
          <p:cNvSpPr txBox="1"/>
          <p:nvPr/>
        </p:nvSpPr>
        <p:spPr>
          <a:xfrm>
            <a:off x="457200" y="5303520"/>
            <a:ext cx="5486400" cy="914400"/>
          </a:xfrm>
          <a:prstGeom prst="rect">
            <a:avLst/>
          </a:prstGeom>
          <a:noFill/>
        </p:spPr>
        <p:txBody>
          <a:bodyPr wrap="square" lIns="45720" rIns="45720">
            <a:spAutoFit/>
          </a:bodyPr>
          <a:lstStyle/>
          <a:p>
            <a:pPr algn="l">
              <a:lnSpc>
                <a:spcPct val="130000"/>
              </a:lnSpc>
            </a:pPr>
            <a:r>
              <a:rPr sz="1100" b="0">
                <a:solidFill>
                  <a:srgbClr val="333333"/>
                </a:solidFill>
                <a:latin typeface="Noto Serif CJK JP"/>
                <a:ea typeface="Noto Serif CJK JP"/>
              </a:rPr>
              <a:t>• 问卷调查（管理认知）</a:t>
            </a:r>
          </a:p>
          <a:p>
            <a:pPr algn="l">
              <a:lnSpc>
                <a:spcPct val="130000"/>
              </a:lnSpc>
            </a:pPr>
            <a:r>
              <a:rPr sz="1100" b="0">
                <a:solidFill>
                  <a:srgbClr val="333333"/>
                </a:solidFill>
                <a:latin typeface="Noto Serif CJK JP"/>
                <a:ea typeface="Noto Serif CJK JP"/>
              </a:rPr>
              <a:t>• 系统日志（真实执行）</a:t>
            </a:r>
          </a:p>
          <a:p>
            <a:pPr algn="l">
              <a:lnSpc>
                <a:spcPct val="130000"/>
              </a:lnSpc>
            </a:pPr>
            <a:r>
              <a:rPr sz="1100" b="0">
                <a:solidFill>
                  <a:srgbClr val="333333"/>
                </a:solidFill>
                <a:latin typeface="Noto Serif CJK JP"/>
                <a:ea typeface="Noto Serif CJK JP"/>
              </a:rPr>
              <a:t>• 流程挖掘工具（验证执行）</a:t>
            </a:r>
          </a:p>
        </p:txBody>
      </p:sp>
      <p:sp>
        <p:nvSpPr>
          <p:cNvPr id="46" name="TextBox 45"/>
          <p:cNvSpPr txBox="1"/>
          <p:nvPr/>
        </p:nvSpPr>
        <p:spPr>
          <a:xfrm>
            <a:off x="6400800" y="4937760"/>
            <a:ext cx="5486400" cy="365760"/>
          </a:xfrm>
          <a:prstGeom prst="rect">
            <a:avLst/>
          </a:prstGeom>
          <a:noFill/>
        </p:spPr>
        <p:txBody>
          <a:bodyPr wrap="square" anchor="t" lIns="45720" rIns="45720" tIns="18288" bIns="18288">
            <a:spAutoFit/>
          </a:bodyPr>
          <a:lstStyle/>
          <a:p>
            <a:pPr algn="l"/>
            <a:r>
              <a:rPr sz="1400" b="1">
                <a:solidFill>
                  <a:srgbClr val="003366"/>
                </a:solidFill>
                <a:latin typeface="Noto Serif CJK JP"/>
                <a:ea typeface="Noto Serif CJK JP"/>
              </a:rPr>
              <a:t>评估频率</a:t>
            </a:r>
          </a:p>
        </p:txBody>
      </p:sp>
      <p:sp>
        <p:nvSpPr>
          <p:cNvPr id="47" name="TextBox 46"/>
          <p:cNvSpPr txBox="1"/>
          <p:nvPr/>
        </p:nvSpPr>
        <p:spPr>
          <a:xfrm>
            <a:off x="6400800" y="5303520"/>
            <a:ext cx="5486400" cy="914400"/>
          </a:xfrm>
          <a:prstGeom prst="rect">
            <a:avLst/>
          </a:prstGeom>
          <a:noFill/>
        </p:spPr>
        <p:txBody>
          <a:bodyPr wrap="square" lIns="45720" rIns="45720">
            <a:spAutoFit/>
          </a:bodyPr>
          <a:lstStyle/>
          <a:p>
            <a:pPr algn="l">
              <a:lnSpc>
                <a:spcPct val="130000"/>
              </a:lnSpc>
            </a:pPr>
            <a:r>
              <a:rPr sz="1100" b="0">
                <a:solidFill>
                  <a:srgbClr val="333333"/>
                </a:solidFill>
                <a:latin typeface="Noto Serif CJK JP"/>
                <a:ea typeface="Noto Serif CJK JP"/>
              </a:rPr>
              <a:t>• 年度全面评估（4 维 18 项全量）</a:t>
            </a:r>
          </a:p>
          <a:p>
            <a:pPr algn="l">
              <a:lnSpc>
                <a:spcPct val="130000"/>
              </a:lnSpc>
            </a:pPr>
            <a:r>
              <a:rPr sz="1100" b="0">
                <a:solidFill>
                  <a:srgbClr val="333333"/>
                </a:solidFill>
                <a:latin typeface="Noto Serif CJK JP"/>
                <a:ea typeface="Noto Serif CJK JP"/>
              </a:rPr>
              <a:t>• 季度快速复评（关键短板）</a:t>
            </a:r>
          </a:p>
          <a:p>
            <a:pPr algn="l">
              <a:lnSpc>
                <a:spcPct val="130000"/>
              </a:lnSpc>
            </a:pPr>
            <a:r>
              <a:rPr sz="1100" b="0">
                <a:solidFill>
                  <a:srgbClr val="333333"/>
                </a:solidFill>
                <a:latin typeface="Noto Serif CJK JP"/>
                <a:ea typeface="Noto Serif CJK JP"/>
              </a:rPr>
              <a:t>• 专项复盘（AI/数据贯通）</a:t>
            </a:r>
          </a:p>
        </p:txBody>
      </p:sp>
      <p:sp>
        <p:nvSpPr>
          <p:cNvPr id="48" name="Rectangle 47"/>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强结论：工具包的终点不是生成报告，而是让每个短板都有责任人、里程碑和复评机制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14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自评分方法与得分计算</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自评的关键不是打出一个分数，而是用证据链识别最弱维度</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1554480"/>
            <a:ext cx="548640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5 步评估流程</a:t>
            </a:r>
          </a:p>
        </p:txBody>
      </p:sp>
      <p:sp>
        <p:nvSpPr>
          <p:cNvPr id="11" name="Rectangle 10"/>
          <p:cNvSpPr/>
          <p:nvPr/>
        </p:nvSpPr>
        <p:spPr>
          <a:xfrm>
            <a:off x="457200" y="1965960"/>
            <a:ext cx="5486400" cy="54864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 y="1965960"/>
            <a:ext cx="365760" cy="548640"/>
          </a:xfrm>
          <a:prstGeom prst="rect">
            <a:avLst/>
          </a:prstGeom>
          <a:noFill/>
        </p:spPr>
        <p:txBody>
          <a:bodyPr wrap="square" anchor="ctr" lIns="45720" rIns="45720" tIns="18288" bIns="18288">
            <a:spAutoFit/>
          </a:bodyPr>
          <a:lstStyle/>
          <a:p>
            <a:pPr algn="l"/>
            <a:r>
              <a:rPr sz="1800" b="1">
                <a:solidFill>
                  <a:srgbClr val="FFCC00"/>
                </a:solidFill>
                <a:latin typeface="Noto Serif CJK JP"/>
                <a:ea typeface="Noto Serif CJK JP"/>
              </a:rPr>
              <a:t>1</a:t>
            </a:r>
          </a:p>
        </p:txBody>
      </p:sp>
      <p:sp>
        <p:nvSpPr>
          <p:cNvPr id="13" name="TextBox 12"/>
          <p:cNvSpPr txBox="1"/>
          <p:nvPr/>
        </p:nvSpPr>
        <p:spPr>
          <a:xfrm>
            <a:off x="1371600" y="1965960"/>
            <a:ext cx="2194560" cy="548640"/>
          </a:xfrm>
          <a:prstGeom prst="rect">
            <a:avLst/>
          </a:prstGeom>
          <a:noFill/>
        </p:spPr>
        <p:txBody>
          <a:bodyPr wrap="square" anchor="ctr" lIns="45720" rIns="45720" tIns="18288" bIns="18288">
            <a:spAutoFit/>
          </a:bodyPr>
          <a:lstStyle/>
          <a:p>
            <a:pPr algn="l"/>
            <a:r>
              <a:rPr sz="1200" b="1">
                <a:solidFill>
                  <a:srgbClr val="FFFFFF"/>
                </a:solidFill>
                <a:latin typeface="Noto Serif CJK JP"/>
                <a:ea typeface="Noto Serif CJK JP"/>
              </a:rPr>
              <a:t>组建评估小组</a:t>
            </a:r>
          </a:p>
        </p:txBody>
      </p:sp>
      <p:sp>
        <p:nvSpPr>
          <p:cNvPr id="14" name="TextBox 13"/>
          <p:cNvSpPr txBox="1"/>
          <p:nvPr/>
        </p:nvSpPr>
        <p:spPr>
          <a:xfrm>
            <a:off x="3566160" y="1965960"/>
            <a:ext cx="2286000" cy="548640"/>
          </a:xfrm>
          <a:prstGeom prst="rect">
            <a:avLst/>
          </a:prstGeom>
          <a:noFill/>
        </p:spPr>
        <p:txBody>
          <a:bodyPr wrap="square" anchor="ctr" lIns="45720" rIns="45720" tIns="18288" bIns="18288">
            <a:spAutoFit/>
          </a:bodyPr>
          <a:lstStyle/>
          <a:p>
            <a:pPr algn="l"/>
            <a:r>
              <a:rPr sz="1000" b="0">
                <a:solidFill>
                  <a:srgbClr val="CCDDEE"/>
                </a:solidFill>
                <a:latin typeface="Noto Serif CJK JP"/>
                <a:ea typeface="Noto Serif CJK JP"/>
              </a:rPr>
              <a:t>5-7 人多角色</a:t>
            </a:r>
          </a:p>
        </p:txBody>
      </p:sp>
      <p:sp>
        <p:nvSpPr>
          <p:cNvPr id="15" name="Rectangle 14"/>
          <p:cNvSpPr/>
          <p:nvPr/>
        </p:nvSpPr>
        <p:spPr>
          <a:xfrm>
            <a:off x="457200" y="2606039"/>
            <a:ext cx="5486400" cy="54864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0080" y="2606039"/>
            <a:ext cx="365760" cy="548640"/>
          </a:xfrm>
          <a:prstGeom prst="rect">
            <a:avLst/>
          </a:prstGeom>
          <a:noFill/>
        </p:spPr>
        <p:txBody>
          <a:bodyPr wrap="square" anchor="ctr" lIns="45720" rIns="45720" tIns="18288" bIns="18288">
            <a:spAutoFit/>
          </a:bodyPr>
          <a:lstStyle/>
          <a:p>
            <a:pPr algn="l"/>
            <a:r>
              <a:rPr sz="1800" b="1">
                <a:solidFill>
                  <a:srgbClr val="FFCC00"/>
                </a:solidFill>
                <a:latin typeface="Noto Serif CJK JP"/>
                <a:ea typeface="Noto Serif CJK JP"/>
              </a:rPr>
              <a:t>2</a:t>
            </a:r>
          </a:p>
        </p:txBody>
      </p:sp>
      <p:sp>
        <p:nvSpPr>
          <p:cNvPr id="17" name="TextBox 16"/>
          <p:cNvSpPr txBox="1"/>
          <p:nvPr/>
        </p:nvSpPr>
        <p:spPr>
          <a:xfrm>
            <a:off x="1371600" y="2606039"/>
            <a:ext cx="2194560" cy="548640"/>
          </a:xfrm>
          <a:prstGeom prst="rect">
            <a:avLst/>
          </a:prstGeom>
          <a:noFill/>
        </p:spPr>
        <p:txBody>
          <a:bodyPr wrap="square" anchor="ctr" lIns="45720" rIns="45720" tIns="18288" bIns="18288">
            <a:spAutoFit/>
          </a:bodyPr>
          <a:lstStyle/>
          <a:p>
            <a:pPr algn="l"/>
            <a:r>
              <a:rPr sz="1200" b="1">
                <a:solidFill>
                  <a:srgbClr val="FFFFFF"/>
                </a:solidFill>
                <a:latin typeface="Noto Serif CJK JP"/>
                <a:ea typeface="Noto Serif CJK JP"/>
              </a:rPr>
              <a:t>数据采集</a:t>
            </a:r>
          </a:p>
        </p:txBody>
      </p:sp>
      <p:sp>
        <p:nvSpPr>
          <p:cNvPr id="18" name="TextBox 17"/>
          <p:cNvSpPr txBox="1"/>
          <p:nvPr/>
        </p:nvSpPr>
        <p:spPr>
          <a:xfrm>
            <a:off x="3566160" y="2606039"/>
            <a:ext cx="2286000" cy="548640"/>
          </a:xfrm>
          <a:prstGeom prst="rect">
            <a:avLst/>
          </a:prstGeom>
          <a:noFill/>
        </p:spPr>
        <p:txBody>
          <a:bodyPr wrap="square" anchor="ctr" lIns="45720" rIns="45720" tIns="18288" bIns="18288">
            <a:spAutoFit/>
          </a:bodyPr>
          <a:lstStyle/>
          <a:p>
            <a:pPr algn="l"/>
            <a:r>
              <a:rPr sz="1000" b="0">
                <a:solidFill>
                  <a:srgbClr val="CCDDEE"/>
                </a:solidFill>
                <a:latin typeface="Noto Serif CJK JP"/>
                <a:ea typeface="Noto Serif CJK JP"/>
              </a:rPr>
              <a:t>问卷+日志+访谈</a:t>
            </a:r>
          </a:p>
        </p:txBody>
      </p:sp>
      <p:sp>
        <p:nvSpPr>
          <p:cNvPr id="19" name="Rectangle 18"/>
          <p:cNvSpPr/>
          <p:nvPr/>
        </p:nvSpPr>
        <p:spPr>
          <a:xfrm>
            <a:off x="457200" y="3246120"/>
            <a:ext cx="5486400" cy="54864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3246120"/>
            <a:ext cx="365760" cy="548640"/>
          </a:xfrm>
          <a:prstGeom prst="rect">
            <a:avLst/>
          </a:prstGeom>
          <a:noFill/>
        </p:spPr>
        <p:txBody>
          <a:bodyPr wrap="square" anchor="ctr" lIns="45720" rIns="45720" tIns="18288" bIns="18288">
            <a:spAutoFit/>
          </a:bodyPr>
          <a:lstStyle/>
          <a:p>
            <a:pPr algn="l"/>
            <a:r>
              <a:rPr sz="1800" b="1">
                <a:solidFill>
                  <a:srgbClr val="FFCC00"/>
                </a:solidFill>
                <a:latin typeface="Noto Serif CJK JP"/>
                <a:ea typeface="Noto Serif CJK JP"/>
              </a:rPr>
              <a:t>3</a:t>
            </a:r>
          </a:p>
        </p:txBody>
      </p:sp>
      <p:sp>
        <p:nvSpPr>
          <p:cNvPr id="21" name="TextBox 20"/>
          <p:cNvSpPr txBox="1"/>
          <p:nvPr/>
        </p:nvSpPr>
        <p:spPr>
          <a:xfrm>
            <a:off x="1371600" y="3246120"/>
            <a:ext cx="2194560" cy="548640"/>
          </a:xfrm>
          <a:prstGeom prst="rect">
            <a:avLst/>
          </a:prstGeom>
          <a:noFill/>
        </p:spPr>
        <p:txBody>
          <a:bodyPr wrap="square" anchor="ctr" lIns="45720" rIns="45720" tIns="18288" bIns="18288">
            <a:spAutoFit/>
          </a:bodyPr>
          <a:lstStyle/>
          <a:p>
            <a:pPr algn="l"/>
            <a:r>
              <a:rPr sz="1200" b="1">
                <a:solidFill>
                  <a:srgbClr val="FFFFFF"/>
                </a:solidFill>
                <a:latin typeface="Noto Serif CJK JP"/>
                <a:ea typeface="Noto Serif CJK JP"/>
              </a:rPr>
              <a:t>分维度打分</a:t>
            </a:r>
          </a:p>
        </p:txBody>
      </p:sp>
      <p:sp>
        <p:nvSpPr>
          <p:cNvPr id="22" name="TextBox 21"/>
          <p:cNvSpPr txBox="1"/>
          <p:nvPr/>
        </p:nvSpPr>
        <p:spPr>
          <a:xfrm>
            <a:off x="3566160" y="3246120"/>
            <a:ext cx="2286000" cy="548640"/>
          </a:xfrm>
          <a:prstGeom prst="rect">
            <a:avLst/>
          </a:prstGeom>
          <a:noFill/>
        </p:spPr>
        <p:txBody>
          <a:bodyPr wrap="square" anchor="ctr" lIns="45720" rIns="45720" tIns="18288" bIns="18288">
            <a:spAutoFit/>
          </a:bodyPr>
          <a:lstStyle/>
          <a:p>
            <a:pPr algn="l"/>
            <a:r>
              <a:rPr sz="1000" b="0">
                <a:solidFill>
                  <a:srgbClr val="CCDDEE"/>
                </a:solidFill>
                <a:latin typeface="Noto Serif CJK JP"/>
                <a:ea typeface="Noto Serif CJK JP"/>
              </a:rPr>
              <a:t>四维 18 项 1-5 分</a:t>
            </a:r>
          </a:p>
        </p:txBody>
      </p:sp>
      <p:sp>
        <p:nvSpPr>
          <p:cNvPr id="23" name="Rectangle 22"/>
          <p:cNvSpPr/>
          <p:nvPr/>
        </p:nvSpPr>
        <p:spPr>
          <a:xfrm>
            <a:off x="457200" y="3886200"/>
            <a:ext cx="5486400" cy="54864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3886200"/>
            <a:ext cx="365760" cy="548640"/>
          </a:xfrm>
          <a:prstGeom prst="rect">
            <a:avLst/>
          </a:prstGeom>
          <a:noFill/>
        </p:spPr>
        <p:txBody>
          <a:bodyPr wrap="square" anchor="ctr" lIns="45720" rIns="45720" tIns="18288" bIns="18288">
            <a:spAutoFit/>
          </a:bodyPr>
          <a:lstStyle/>
          <a:p>
            <a:pPr algn="l"/>
            <a:r>
              <a:rPr sz="1800" b="1">
                <a:solidFill>
                  <a:srgbClr val="FFCC00"/>
                </a:solidFill>
                <a:latin typeface="Noto Serif CJK JP"/>
                <a:ea typeface="Noto Serif CJK JP"/>
              </a:rPr>
              <a:t>4</a:t>
            </a:r>
          </a:p>
        </p:txBody>
      </p:sp>
      <p:sp>
        <p:nvSpPr>
          <p:cNvPr id="25" name="TextBox 24"/>
          <p:cNvSpPr txBox="1"/>
          <p:nvPr/>
        </p:nvSpPr>
        <p:spPr>
          <a:xfrm>
            <a:off x="1371600" y="3886200"/>
            <a:ext cx="2194560" cy="548640"/>
          </a:xfrm>
          <a:prstGeom prst="rect">
            <a:avLst/>
          </a:prstGeom>
          <a:noFill/>
        </p:spPr>
        <p:txBody>
          <a:bodyPr wrap="square" anchor="ctr" lIns="45720" rIns="45720" tIns="18288" bIns="18288">
            <a:spAutoFit/>
          </a:bodyPr>
          <a:lstStyle/>
          <a:p>
            <a:pPr algn="l"/>
            <a:r>
              <a:rPr sz="1200" b="1">
                <a:solidFill>
                  <a:srgbClr val="FFFFFF"/>
                </a:solidFill>
                <a:latin typeface="Noto Serif CJK JP"/>
                <a:ea typeface="Noto Serif CJK JP"/>
              </a:rPr>
              <a:t>差距分析</a:t>
            </a:r>
          </a:p>
        </p:txBody>
      </p:sp>
      <p:sp>
        <p:nvSpPr>
          <p:cNvPr id="26" name="TextBox 25"/>
          <p:cNvSpPr txBox="1"/>
          <p:nvPr/>
        </p:nvSpPr>
        <p:spPr>
          <a:xfrm>
            <a:off x="3566160" y="3886200"/>
            <a:ext cx="2286000" cy="548640"/>
          </a:xfrm>
          <a:prstGeom prst="rect">
            <a:avLst/>
          </a:prstGeom>
          <a:noFill/>
        </p:spPr>
        <p:txBody>
          <a:bodyPr wrap="square" anchor="ctr" lIns="45720" rIns="45720" tIns="18288" bIns="18288">
            <a:spAutoFit/>
          </a:bodyPr>
          <a:lstStyle/>
          <a:p>
            <a:pPr algn="l"/>
            <a:r>
              <a:rPr sz="1000" b="0">
                <a:solidFill>
                  <a:srgbClr val="CCDDEE"/>
                </a:solidFill>
                <a:latin typeface="Noto Serif CJK JP"/>
                <a:ea typeface="Noto Serif CJK JP"/>
              </a:rPr>
              <a:t>雷达图 + 短板识别</a:t>
            </a:r>
          </a:p>
        </p:txBody>
      </p:sp>
      <p:sp>
        <p:nvSpPr>
          <p:cNvPr id="27" name="Rectangle 26"/>
          <p:cNvSpPr/>
          <p:nvPr/>
        </p:nvSpPr>
        <p:spPr>
          <a:xfrm>
            <a:off x="457200" y="4526279"/>
            <a:ext cx="5486400" cy="54864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0080" y="4526279"/>
            <a:ext cx="365760" cy="548640"/>
          </a:xfrm>
          <a:prstGeom prst="rect">
            <a:avLst/>
          </a:prstGeom>
          <a:noFill/>
        </p:spPr>
        <p:txBody>
          <a:bodyPr wrap="square" anchor="ctr" lIns="45720" rIns="45720" tIns="18288" bIns="18288">
            <a:spAutoFit/>
          </a:bodyPr>
          <a:lstStyle/>
          <a:p>
            <a:pPr algn="l"/>
            <a:r>
              <a:rPr sz="1800" b="1">
                <a:solidFill>
                  <a:srgbClr val="FFCC00"/>
                </a:solidFill>
                <a:latin typeface="Noto Serif CJK JP"/>
                <a:ea typeface="Noto Serif CJK JP"/>
              </a:rPr>
              <a:t>5</a:t>
            </a:r>
          </a:p>
        </p:txBody>
      </p:sp>
      <p:sp>
        <p:nvSpPr>
          <p:cNvPr id="29" name="TextBox 28"/>
          <p:cNvSpPr txBox="1"/>
          <p:nvPr/>
        </p:nvSpPr>
        <p:spPr>
          <a:xfrm>
            <a:off x="1371600" y="4526279"/>
            <a:ext cx="2194560" cy="548640"/>
          </a:xfrm>
          <a:prstGeom prst="rect">
            <a:avLst/>
          </a:prstGeom>
          <a:noFill/>
        </p:spPr>
        <p:txBody>
          <a:bodyPr wrap="square" anchor="ctr" lIns="45720" rIns="45720" tIns="18288" bIns="18288">
            <a:spAutoFit/>
          </a:bodyPr>
          <a:lstStyle/>
          <a:p>
            <a:pPr algn="l"/>
            <a:r>
              <a:rPr sz="1200" b="1">
                <a:solidFill>
                  <a:srgbClr val="FFFFFF"/>
                </a:solidFill>
                <a:latin typeface="Noto Serif CJK JP"/>
                <a:ea typeface="Noto Serif CJK JP"/>
              </a:rPr>
              <a:t>改进路线图</a:t>
            </a:r>
          </a:p>
        </p:txBody>
      </p:sp>
      <p:sp>
        <p:nvSpPr>
          <p:cNvPr id="30" name="TextBox 29"/>
          <p:cNvSpPr txBox="1"/>
          <p:nvPr/>
        </p:nvSpPr>
        <p:spPr>
          <a:xfrm>
            <a:off x="3566160" y="4526279"/>
            <a:ext cx="2286000" cy="548640"/>
          </a:xfrm>
          <a:prstGeom prst="rect">
            <a:avLst/>
          </a:prstGeom>
          <a:noFill/>
        </p:spPr>
        <p:txBody>
          <a:bodyPr wrap="square" anchor="ctr" lIns="45720" rIns="45720" tIns="18288" bIns="18288">
            <a:spAutoFit/>
          </a:bodyPr>
          <a:lstStyle/>
          <a:p>
            <a:pPr algn="l"/>
            <a:r>
              <a:rPr sz="1000" b="0">
                <a:solidFill>
                  <a:srgbClr val="CCDDEE"/>
                </a:solidFill>
                <a:latin typeface="Noto Serif CJK JP"/>
                <a:ea typeface="Noto Serif CJK JP"/>
              </a:rPr>
              <a:t>12 个月分阶段</a:t>
            </a:r>
          </a:p>
        </p:txBody>
      </p:sp>
      <p:sp>
        <p:nvSpPr>
          <p:cNvPr id="31" name="TextBox 30"/>
          <p:cNvSpPr txBox="1"/>
          <p:nvPr/>
        </p:nvSpPr>
        <p:spPr>
          <a:xfrm>
            <a:off x="6400800" y="1554480"/>
            <a:ext cx="548640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得分计算（木桶效应）</a:t>
            </a:r>
          </a:p>
        </p:txBody>
      </p:sp>
      <p:sp>
        <p:nvSpPr>
          <p:cNvPr id="32" name="Rectangle 31"/>
          <p:cNvSpPr/>
          <p:nvPr/>
        </p:nvSpPr>
        <p:spPr>
          <a:xfrm>
            <a:off x="6400800" y="2011680"/>
            <a:ext cx="548640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583680" y="2103120"/>
            <a:ext cx="5212080" cy="1280160"/>
          </a:xfrm>
          <a:prstGeom prst="rect">
            <a:avLst/>
          </a:prstGeom>
          <a:noFill/>
        </p:spPr>
        <p:txBody>
          <a:bodyPr wrap="square" lIns="45720" rIns="45720">
            <a:spAutoFit/>
          </a:bodyPr>
          <a:lstStyle/>
          <a:p>
            <a:pPr algn="l">
              <a:lnSpc>
                <a:spcPct val="130000"/>
              </a:lnSpc>
            </a:pPr>
            <a:r>
              <a:rPr sz="1200" b="0">
                <a:solidFill>
                  <a:srgbClr val="333333"/>
                </a:solidFill>
                <a:latin typeface="Noto Serif CJK JP"/>
                <a:ea typeface="Noto Serif CJK JP"/>
              </a:rPr>
              <a:t>指标得分 = 1-5 分</a:t>
            </a:r>
          </a:p>
          <a:p>
            <a:pPr algn="l">
              <a:lnSpc>
                <a:spcPct val="130000"/>
              </a:lnSpc>
            </a:pPr>
            <a:r>
              <a:rPr sz="1200" b="1">
                <a:solidFill>
                  <a:srgbClr val="D01F26"/>
                </a:solidFill>
                <a:latin typeface="Noto Serif CJK JP"/>
                <a:ea typeface="Noto Serif CJK JP"/>
              </a:rPr>
              <a:t>维度得分 = 该维度内最低指标分</a:t>
            </a:r>
          </a:p>
          <a:p>
            <a:pPr algn="l">
              <a:lnSpc>
                <a:spcPct val="130000"/>
              </a:lnSpc>
            </a:pPr>
            <a:r>
              <a:rPr sz="1200" b="1">
                <a:solidFill>
                  <a:srgbClr val="003366"/>
                </a:solidFill>
                <a:latin typeface="Noto Serif CJK JP"/>
                <a:ea typeface="Noto Serif CJK JP"/>
              </a:rPr>
              <a:t>综合成熟度 = 4 维得分算术平均</a:t>
            </a:r>
          </a:p>
          <a:p>
            <a:pPr algn="l">
              <a:lnSpc>
                <a:spcPct val="130000"/>
              </a:lnSpc>
            </a:pPr>
            <a:r>
              <a:rPr sz="1200" b="1">
                <a:solidFill>
                  <a:srgbClr val="003366"/>
                </a:solidFill>
                <a:latin typeface="Noto Serif CJK JP"/>
                <a:ea typeface="Noto Serif CJK JP"/>
              </a:rPr>
              <a:t>综合等级 = 最低短板 + 总体区间判断</a:t>
            </a:r>
          </a:p>
        </p:txBody>
      </p:sp>
      <p:sp>
        <p:nvSpPr>
          <p:cNvPr id="34" name="TextBox 33"/>
          <p:cNvSpPr txBox="1"/>
          <p:nvPr/>
        </p:nvSpPr>
        <p:spPr>
          <a:xfrm>
            <a:off x="6400800" y="3657600"/>
            <a:ext cx="5486400" cy="365760"/>
          </a:xfrm>
          <a:prstGeom prst="rect">
            <a:avLst/>
          </a:prstGeom>
          <a:noFill/>
        </p:spPr>
        <p:txBody>
          <a:bodyPr wrap="square" anchor="t" lIns="45720" rIns="45720" tIns="18288" bIns="18288">
            <a:spAutoFit/>
          </a:bodyPr>
          <a:lstStyle/>
          <a:p>
            <a:pPr algn="l"/>
            <a:r>
              <a:rPr sz="1400" b="1">
                <a:solidFill>
                  <a:srgbClr val="003366"/>
                </a:solidFill>
                <a:latin typeface="Noto Serif CJK JP"/>
                <a:ea typeface="Noto Serif CJK JP"/>
              </a:rPr>
              <a:t>范例：某中型制造企业（综合 L3）</a:t>
            </a:r>
          </a:p>
        </p:txBody>
      </p:sp>
      <p:sp>
        <p:nvSpPr>
          <p:cNvPr id="35" name="Rectangle 34"/>
          <p:cNvSpPr/>
          <p:nvPr/>
        </p:nvSpPr>
        <p:spPr>
          <a:xfrm>
            <a:off x="6400800" y="4023360"/>
            <a:ext cx="5486400"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92240" y="4023360"/>
            <a:ext cx="2560320" cy="320040"/>
          </a:xfrm>
          <a:prstGeom prst="rect">
            <a:avLst/>
          </a:prstGeom>
          <a:noFill/>
        </p:spPr>
        <p:txBody>
          <a:bodyPr wrap="square" anchor="ctr" lIns="45720" rIns="45720" tIns="18288" bIns="18288">
            <a:spAutoFit/>
          </a:bodyPr>
          <a:lstStyle/>
          <a:p>
            <a:pPr algn="l"/>
            <a:r>
              <a:rPr sz="1100" b="1">
                <a:solidFill>
                  <a:srgbClr val="003366"/>
                </a:solidFill>
                <a:latin typeface="Noto Serif CJK JP"/>
                <a:ea typeface="Noto Serif CJK JP"/>
              </a:rPr>
              <a:t>流程标准化 3 分 (L3)</a:t>
            </a:r>
          </a:p>
        </p:txBody>
      </p:sp>
      <p:sp>
        <p:nvSpPr>
          <p:cNvPr id="37" name="TextBox 36"/>
          <p:cNvSpPr txBox="1"/>
          <p:nvPr/>
        </p:nvSpPr>
        <p:spPr>
          <a:xfrm>
            <a:off x="9052560" y="4023360"/>
            <a:ext cx="2743200" cy="32004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核心流程 80% 覆盖</a:t>
            </a:r>
          </a:p>
        </p:txBody>
      </p:sp>
      <p:sp>
        <p:nvSpPr>
          <p:cNvPr id="38" name="Rectangle 37"/>
          <p:cNvSpPr/>
          <p:nvPr/>
        </p:nvSpPr>
        <p:spPr>
          <a:xfrm>
            <a:off x="6400800" y="4389120"/>
            <a:ext cx="548640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492240" y="4389120"/>
            <a:ext cx="2560320" cy="320040"/>
          </a:xfrm>
          <a:prstGeom prst="rect">
            <a:avLst/>
          </a:prstGeom>
          <a:noFill/>
        </p:spPr>
        <p:txBody>
          <a:bodyPr wrap="square" anchor="ctr" lIns="45720" rIns="45720" tIns="18288" bIns="18288">
            <a:spAutoFit/>
          </a:bodyPr>
          <a:lstStyle/>
          <a:p>
            <a:pPr algn="l"/>
            <a:r>
              <a:rPr sz="1100" b="1">
                <a:solidFill>
                  <a:srgbClr val="003366"/>
                </a:solidFill>
                <a:latin typeface="Noto Serif CJK JP"/>
                <a:ea typeface="Noto Serif CJK JP"/>
              </a:rPr>
              <a:t>数据贯通 2 分 (L2)</a:t>
            </a:r>
          </a:p>
        </p:txBody>
      </p:sp>
      <p:sp>
        <p:nvSpPr>
          <p:cNvPr id="40" name="TextBox 39"/>
          <p:cNvSpPr txBox="1"/>
          <p:nvPr/>
        </p:nvSpPr>
        <p:spPr>
          <a:xfrm>
            <a:off x="9052560" y="4389120"/>
            <a:ext cx="2743200" cy="32004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跨系统打通率 30%</a:t>
            </a:r>
          </a:p>
        </p:txBody>
      </p:sp>
      <p:sp>
        <p:nvSpPr>
          <p:cNvPr id="41" name="Rectangle 40"/>
          <p:cNvSpPr/>
          <p:nvPr/>
        </p:nvSpPr>
        <p:spPr>
          <a:xfrm>
            <a:off x="6400800" y="4754880"/>
            <a:ext cx="5486400" cy="320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92240" y="4754880"/>
            <a:ext cx="2560320" cy="320040"/>
          </a:xfrm>
          <a:prstGeom prst="rect">
            <a:avLst/>
          </a:prstGeom>
          <a:noFill/>
        </p:spPr>
        <p:txBody>
          <a:bodyPr wrap="square" anchor="ctr" lIns="45720" rIns="45720" tIns="18288" bIns="18288">
            <a:spAutoFit/>
          </a:bodyPr>
          <a:lstStyle/>
          <a:p>
            <a:pPr algn="l"/>
            <a:r>
              <a:rPr sz="1100" b="1">
                <a:solidFill>
                  <a:srgbClr val="003366"/>
                </a:solidFill>
                <a:latin typeface="Noto Serif CJK JP"/>
                <a:ea typeface="Noto Serif CJK JP"/>
              </a:rPr>
              <a:t>AI 应用 2 分 (L2)</a:t>
            </a:r>
          </a:p>
        </p:txBody>
      </p:sp>
      <p:sp>
        <p:nvSpPr>
          <p:cNvPr id="43" name="TextBox 42"/>
          <p:cNvSpPr txBox="1"/>
          <p:nvPr/>
        </p:nvSpPr>
        <p:spPr>
          <a:xfrm>
            <a:off x="9052560" y="4754880"/>
            <a:ext cx="2743200" cy="32004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试点零散</a:t>
            </a:r>
          </a:p>
        </p:txBody>
      </p:sp>
      <p:sp>
        <p:nvSpPr>
          <p:cNvPr id="44" name="Rectangle 43"/>
          <p:cNvSpPr/>
          <p:nvPr/>
        </p:nvSpPr>
        <p:spPr>
          <a:xfrm>
            <a:off x="6400800" y="5120640"/>
            <a:ext cx="548640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92240" y="5120640"/>
            <a:ext cx="2560320" cy="320040"/>
          </a:xfrm>
          <a:prstGeom prst="rect">
            <a:avLst/>
          </a:prstGeom>
          <a:noFill/>
        </p:spPr>
        <p:txBody>
          <a:bodyPr wrap="square" anchor="ctr" lIns="45720" rIns="45720" tIns="18288" bIns="18288">
            <a:spAutoFit/>
          </a:bodyPr>
          <a:lstStyle/>
          <a:p>
            <a:pPr algn="l"/>
            <a:r>
              <a:rPr sz="1100" b="1">
                <a:solidFill>
                  <a:srgbClr val="003366"/>
                </a:solidFill>
                <a:latin typeface="Noto Serif CJK JP"/>
                <a:ea typeface="Noto Serif CJK JP"/>
              </a:rPr>
              <a:t>治理优化 3 分 (L3)</a:t>
            </a:r>
          </a:p>
        </p:txBody>
      </p:sp>
      <p:sp>
        <p:nvSpPr>
          <p:cNvPr id="46" name="TextBox 45"/>
          <p:cNvSpPr txBox="1"/>
          <p:nvPr/>
        </p:nvSpPr>
        <p:spPr>
          <a:xfrm>
            <a:off x="9052560" y="5120640"/>
            <a:ext cx="2743200" cy="32004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跨流程协同不足</a:t>
            </a:r>
          </a:p>
        </p:txBody>
      </p:sp>
      <p:sp>
        <p:nvSpPr>
          <p:cNvPr id="47" name="TextBox 46"/>
          <p:cNvSpPr txBox="1"/>
          <p:nvPr/>
        </p:nvSpPr>
        <p:spPr>
          <a:xfrm>
            <a:off x="457200" y="539496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12 个月改进路线图</a:t>
            </a:r>
          </a:p>
        </p:txBody>
      </p:sp>
      <p:sp>
        <p:nvSpPr>
          <p:cNvPr id="48" name="TextBox 47"/>
          <p:cNvSpPr txBox="1"/>
          <p:nvPr/>
        </p:nvSpPr>
        <p:spPr>
          <a:xfrm>
            <a:off x="457200" y="5760720"/>
            <a:ext cx="11247120" cy="548640"/>
          </a:xfrm>
          <a:prstGeom prst="rect">
            <a:avLst/>
          </a:prstGeom>
          <a:noFill/>
        </p:spPr>
        <p:txBody>
          <a:bodyPr wrap="square" lIns="45720" rIns="45720">
            <a:spAutoFit/>
          </a:bodyPr>
          <a:lstStyle/>
          <a:p>
            <a:pPr algn="l">
              <a:lnSpc>
                <a:spcPct val="130000"/>
              </a:lnSpc>
            </a:pPr>
            <a:r>
              <a:rPr sz="1200" b="0">
                <a:solidFill>
                  <a:srgbClr val="333333"/>
                </a:solidFill>
                <a:latin typeface="Noto Serif CJK JP"/>
                <a:ea typeface="Noto Serif CJK JP"/>
              </a:rPr>
              <a:t>0-3 月：数据治理，打基础  /  4-6 月：系统集成，打通关键链路  /  7-9 月：AI 试点，深耕场景  /  10-12 月：能力扩展，规模化复制</a:t>
            </a:r>
          </a:p>
        </p:txBody>
      </p:sp>
      <p:sp>
        <p:nvSpPr>
          <p:cNvPr id="49" name="Rectangle 48"/>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强结论：木桶效应，平均分会掩盖结构性短板，最低维决定升级</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15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雷达图诊断与瓶颈定位</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雷达图暴露最薄弱维度，把短板转化为可执行的季度改进行动</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adar.png"/>
          <p:cNvPicPr>
            <a:picLocks noChangeAspect="1"/>
          </p:cNvPicPr>
          <p:nvPr/>
        </p:nvPicPr>
        <p:blipFill>
          <a:blip r:embed="rId2"/>
          <a:stretch>
            <a:fillRect/>
          </a:stretch>
        </p:blipFill>
        <p:spPr>
          <a:xfrm>
            <a:off x="457200" y="1554480"/>
            <a:ext cx="5029200" cy="4184385"/>
          </a:xfrm>
          <a:prstGeom prst="rect">
            <a:avLst/>
          </a:prstGeom>
        </p:spPr>
      </p:pic>
      <p:sp>
        <p:nvSpPr>
          <p:cNvPr id="11" name="TextBox 10"/>
          <p:cNvSpPr txBox="1"/>
          <p:nvPr/>
        </p:nvSpPr>
        <p:spPr>
          <a:xfrm>
            <a:off x="5760720" y="1554480"/>
            <a:ext cx="612648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三类常见失衡形态</a:t>
            </a:r>
          </a:p>
        </p:txBody>
      </p:sp>
      <p:sp>
        <p:nvSpPr>
          <p:cNvPr id="12" name="Rectangle 11"/>
          <p:cNvSpPr/>
          <p:nvPr/>
        </p:nvSpPr>
        <p:spPr>
          <a:xfrm>
            <a:off x="5760720" y="2011680"/>
            <a:ext cx="6126480"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852160" y="2011680"/>
            <a:ext cx="1188720" cy="54864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纸上流程</a:t>
            </a:r>
          </a:p>
        </p:txBody>
      </p:sp>
      <p:sp>
        <p:nvSpPr>
          <p:cNvPr id="14" name="TextBox 13"/>
          <p:cNvSpPr txBox="1"/>
          <p:nvPr/>
        </p:nvSpPr>
        <p:spPr>
          <a:xfrm>
            <a:off x="7040880" y="2011680"/>
            <a:ext cx="2286000" cy="54864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标准化高 / 数据贯通低</a:t>
            </a:r>
          </a:p>
        </p:txBody>
      </p:sp>
      <p:sp>
        <p:nvSpPr>
          <p:cNvPr id="15" name="TextBox 14"/>
          <p:cNvSpPr txBox="1"/>
          <p:nvPr/>
        </p:nvSpPr>
        <p:spPr>
          <a:xfrm>
            <a:off x="9326880" y="2011680"/>
            <a:ext cx="2468880" cy="548640"/>
          </a:xfrm>
          <a:prstGeom prst="rect">
            <a:avLst/>
          </a:prstGeom>
          <a:noFill/>
        </p:spPr>
        <p:txBody>
          <a:bodyPr wrap="square" anchor="ctr" lIns="45720" rIns="45720" tIns="18288" bIns="18288">
            <a:spAutoFit/>
          </a:bodyPr>
          <a:lstStyle/>
          <a:p>
            <a:pPr algn="l"/>
            <a:r>
              <a:rPr sz="1000" b="1">
                <a:solidFill>
                  <a:srgbClr val="D01F26"/>
                </a:solidFill>
                <a:latin typeface="Noto Serif CJK JP"/>
                <a:ea typeface="Noto Serif CJK JP"/>
              </a:rPr>
              <a:t>→ 补执行日志</a:t>
            </a:r>
          </a:p>
        </p:txBody>
      </p:sp>
      <p:sp>
        <p:nvSpPr>
          <p:cNvPr id="16" name="Rectangle 15"/>
          <p:cNvSpPr/>
          <p:nvPr/>
        </p:nvSpPr>
        <p:spPr>
          <a:xfrm>
            <a:off x="5760720" y="2651760"/>
            <a:ext cx="6126480"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852160" y="2651760"/>
            <a:ext cx="1188720" cy="54864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有数据无智能</a:t>
            </a:r>
          </a:p>
        </p:txBody>
      </p:sp>
      <p:sp>
        <p:nvSpPr>
          <p:cNvPr id="18" name="TextBox 17"/>
          <p:cNvSpPr txBox="1"/>
          <p:nvPr/>
        </p:nvSpPr>
        <p:spPr>
          <a:xfrm>
            <a:off x="7040880" y="2651760"/>
            <a:ext cx="2286000" cy="54864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数据高 / AI 低</a:t>
            </a:r>
          </a:p>
        </p:txBody>
      </p:sp>
      <p:sp>
        <p:nvSpPr>
          <p:cNvPr id="19" name="TextBox 18"/>
          <p:cNvSpPr txBox="1"/>
          <p:nvPr/>
        </p:nvSpPr>
        <p:spPr>
          <a:xfrm>
            <a:off x="9326880" y="2651760"/>
            <a:ext cx="2468880" cy="548640"/>
          </a:xfrm>
          <a:prstGeom prst="rect">
            <a:avLst/>
          </a:prstGeom>
          <a:noFill/>
        </p:spPr>
        <p:txBody>
          <a:bodyPr wrap="square" anchor="ctr" lIns="45720" rIns="45720" tIns="18288" bIns="18288">
            <a:spAutoFit/>
          </a:bodyPr>
          <a:lstStyle/>
          <a:p>
            <a:pPr algn="l"/>
            <a:r>
              <a:rPr sz="1000" b="1">
                <a:solidFill>
                  <a:srgbClr val="D01F26"/>
                </a:solidFill>
                <a:latin typeface="Noto Serif CJK JP"/>
                <a:ea typeface="Noto Serif CJK JP"/>
              </a:rPr>
              <a:t>→ 引入 AI 节点</a:t>
            </a:r>
          </a:p>
        </p:txBody>
      </p:sp>
      <p:sp>
        <p:nvSpPr>
          <p:cNvPr id="20" name="Rectangle 19"/>
          <p:cNvSpPr/>
          <p:nvPr/>
        </p:nvSpPr>
        <p:spPr>
          <a:xfrm>
            <a:off x="5760720" y="3291840"/>
            <a:ext cx="6126480"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52160" y="3291840"/>
            <a:ext cx="1188720" cy="54864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技术泡沫</a:t>
            </a:r>
          </a:p>
        </p:txBody>
      </p:sp>
      <p:sp>
        <p:nvSpPr>
          <p:cNvPr id="22" name="TextBox 21"/>
          <p:cNvSpPr txBox="1"/>
          <p:nvPr/>
        </p:nvSpPr>
        <p:spPr>
          <a:xfrm>
            <a:off x="7040880" y="3291840"/>
            <a:ext cx="2286000" cy="54864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AI 高 / 治理低</a:t>
            </a:r>
          </a:p>
        </p:txBody>
      </p:sp>
      <p:sp>
        <p:nvSpPr>
          <p:cNvPr id="23" name="TextBox 22"/>
          <p:cNvSpPr txBox="1"/>
          <p:nvPr/>
        </p:nvSpPr>
        <p:spPr>
          <a:xfrm>
            <a:off x="9326880" y="3291840"/>
            <a:ext cx="2468880" cy="548640"/>
          </a:xfrm>
          <a:prstGeom prst="rect">
            <a:avLst/>
          </a:prstGeom>
          <a:noFill/>
        </p:spPr>
        <p:txBody>
          <a:bodyPr wrap="square" anchor="ctr" lIns="45720" rIns="45720" tIns="18288" bIns="18288">
            <a:spAutoFit/>
          </a:bodyPr>
          <a:lstStyle/>
          <a:p>
            <a:pPr algn="l"/>
            <a:r>
              <a:rPr sz="1000" b="1">
                <a:solidFill>
                  <a:srgbClr val="D01F26"/>
                </a:solidFill>
                <a:latin typeface="Noto Serif CJK JP"/>
                <a:ea typeface="Noto Serif CJK JP"/>
              </a:rPr>
              <a:t>→ 建立治理 Owner</a:t>
            </a:r>
          </a:p>
        </p:txBody>
      </p:sp>
      <p:sp>
        <p:nvSpPr>
          <p:cNvPr id="24" name="TextBox 23"/>
          <p:cNvSpPr txBox="1"/>
          <p:nvPr/>
        </p:nvSpPr>
        <p:spPr>
          <a:xfrm>
            <a:off x="5760720" y="4023360"/>
            <a:ext cx="612648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瓶颈定位原则</a:t>
            </a:r>
          </a:p>
        </p:txBody>
      </p:sp>
      <p:sp>
        <p:nvSpPr>
          <p:cNvPr id="25" name="TextBox 24"/>
          <p:cNvSpPr txBox="1"/>
          <p:nvPr/>
        </p:nvSpPr>
        <p:spPr>
          <a:xfrm>
            <a:off x="5760720" y="4434840"/>
            <a:ext cx="6126480" cy="640080"/>
          </a:xfrm>
          <a:prstGeom prst="rect">
            <a:avLst/>
          </a:prstGeom>
          <a:noFill/>
        </p:spPr>
        <p:txBody>
          <a:bodyPr wrap="square" lIns="45720" rIns="45720">
            <a:spAutoFit/>
          </a:bodyPr>
          <a:lstStyle/>
          <a:p>
            <a:pPr algn="l">
              <a:lnSpc>
                <a:spcPct val="130000"/>
              </a:lnSpc>
            </a:pPr>
            <a:r>
              <a:rPr sz="1100" b="0">
                <a:solidFill>
                  <a:srgbClr val="333333"/>
                </a:solidFill>
                <a:latin typeface="Noto Serif CJK JP"/>
                <a:ea typeface="Noto Serif CJK JP"/>
              </a:rPr>
              <a:t>① 最低分优先（雷达图最低维 = 瓶颈）  ② 业务影响校准（收入/成本/风险）</a:t>
            </a:r>
          </a:p>
          <a:p>
            <a:pPr algn="l">
              <a:lnSpc>
                <a:spcPct val="130000"/>
              </a:lnSpc>
            </a:pPr>
            <a:r>
              <a:rPr sz="1100" b="0">
                <a:solidFill>
                  <a:srgbClr val="333333"/>
                </a:solidFill>
                <a:latin typeface="Noto Serif CJK JP"/>
                <a:ea typeface="Noto Serif CJK JP"/>
              </a:rPr>
              <a:t>③ 实施难度排序（技术/数据/组织）  ④ 季度复评闭环（每季更新雷达）</a:t>
            </a:r>
          </a:p>
        </p:txBody>
      </p:sp>
      <p:sp>
        <p:nvSpPr>
          <p:cNvPr id="26" name="TextBox 25"/>
          <p:cNvSpPr txBox="1"/>
          <p:nvPr/>
        </p:nvSpPr>
        <p:spPr>
          <a:xfrm>
            <a:off x="5760720" y="5212080"/>
            <a:ext cx="612648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优先级矩阵（影响×难度）</a:t>
            </a:r>
          </a:p>
        </p:txBody>
      </p:sp>
      <p:sp>
        <p:nvSpPr>
          <p:cNvPr id="27" name="TextBox 26"/>
          <p:cNvSpPr txBox="1"/>
          <p:nvPr/>
        </p:nvSpPr>
        <p:spPr>
          <a:xfrm>
            <a:off x="5760720" y="5577840"/>
            <a:ext cx="1371600" cy="274320"/>
          </a:xfrm>
          <a:prstGeom prst="rect">
            <a:avLst/>
          </a:prstGeom>
          <a:noFill/>
        </p:spPr>
        <p:txBody>
          <a:bodyPr wrap="square" anchor="ctr" lIns="45720" rIns="45720" tIns="18288" bIns="18288">
            <a:spAutoFit/>
          </a:bodyPr>
          <a:lstStyle/>
          <a:p>
            <a:pPr algn="l"/>
            <a:r>
              <a:rPr sz="1100" b="1">
                <a:solidFill>
                  <a:srgbClr val="003366"/>
                </a:solidFill>
                <a:latin typeface="Noto Serif CJK JP"/>
                <a:ea typeface="Noto Serif CJK JP"/>
              </a:rPr>
              <a:t>快速修复</a:t>
            </a:r>
          </a:p>
        </p:txBody>
      </p:sp>
      <p:sp>
        <p:nvSpPr>
          <p:cNvPr id="28" name="TextBox 27"/>
          <p:cNvSpPr txBox="1"/>
          <p:nvPr/>
        </p:nvSpPr>
        <p:spPr>
          <a:xfrm>
            <a:off x="7132320" y="5577840"/>
            <a:ext cx="1828800" cy="274320"/>
          </a:xfrm>
          <a:prstGeom prst="rect">
            <a:avLst/>
          </a:prstGeom>
          <a:noFill/>
        </p:spPr>
        <p:txBody>
          <a:bodyPr wrap="square" anchor="ctr" lIns="45720" rIns="45720" tIns="18288" bIns="18288">
            <a:spAutoFit/>
          </a:bodyPr>
          <a:lstStyle/>
          <a:p>
            <a:pPr algn="l"/>
            <a:r>
              <a:rPr sz="1000" b="0">
                <a:solidFill>
                  <a:srgbClr val="666666"/>
                </a:solidFill>
                <a:latin typeface="Noto Serif CJK JP"/>
                <a:ea typeface="Noto Serif CJK JP"/>
              </a:rPr>
              <a:t>高影响 + 低难度</a:t>
            </a:r>
          </a:p>
        </p:txBody>
      </p:sp>
      <p:sp>
        <p:nvSpPr>
          <p:cNvPr id="29" name="TextBox 28"/>
          <p:cNvSpPr txBox="1"/>
          <p:nvPr/>
        </p:nvSpPr>
        <p:spPr>
          <a:xfrm>
            <a:off x="8961120" y="5577840"/>
            <a:ext cx="2926080" cy="27432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统一指标字典、流程挖掘诊断</a:t>
            </a:r>
          </a:p>
        </p:txBody>
      </p:sp>
      <p:sp>
        <p:nvSpPr>
          <p:cNvPr id="30" name="TextBox 29"/>
          <p:cNvSpPr txBox="1"/>
          <p:nvPr/>
        </p:nvSpPr>
        <p:spPr>
          <a:xfrm>
            <a:off x="5760720" y="5852159"/>
            <a:ext cx="1371600" cy="274320"/>
          </a:xfrm>
          <a:prstGeom prst="rect">
            <a:avLst/>
          </a:prstGeom>
          <a:noFill/>
        </p:spPr>
        <p:txBody>
          <a:bodyPr wrap="square" anchor="ctr" lIns="45720" rIns="45720" tIns="18288" bIns="18288">
            <a:spAutoFit/>
          </a:bodyPr>
          <a:lstStyle/>
          <a:p>
            <a:pPr algn="l"/>
            <a:r>
              <a:rPr sz="1100" b="1">
                <a:solidFill>
                  <a:srgbClr val="003366"/>
                </a:solidFill>
                <a:latin typeface="Noto Serif CJK JP"/>
                <a:ea typeface="Noto Serif CJK JP"/>
              </a:rPr>
              <a:t>重点突破</a:t>
            </a:r>
          </a:p>
        </p:txBody>
      </p:sp>
      <p:sp>
        <p:nvSpPr>
          <p:cNvPr id="31" name="TextBox 30"/>
          <p:cNvSpPr txBox="1"/>
          <p:nvPr/>
        </p:nvSpPr>
        <p:spPr>
          <a:xfrm>
            <a:off x="7132320" y="5852159"/>
            <a:ext cx="1828800" cy="274320"/>
          </a:xfrm>
          <a:prstGeom prst="rect">
            <a:avLst/>
          </a:prstGeom>
          <a:noFill/>
        </p:spPr>
        <p:txBody>
          <a:bodyPr wrap="square" anchor="ctr" lIns="45720" rIns="45720" tIns="18288" bIns="18288">
            <a:spAutoFit/>
          </a:bodyPr>
          <a:lstStyle/>
          <a:p>
            <a:pPr algn="l"/>
            <a:r>
              <a:rPr sz="1000" b="0">
                <a:solidFill>
                  <a:srgbClr val="666666"/>
                </a:solidFill>
                <a:latin typeface="Noto Serif CJK JP"/>
                <a:ea typeface="Noto Serif CJK JP"/>
              </a:rPr>
              <a:t>高影响 + 高难度</a:t>
            </a:r>
          </a:p>
        </p:txBody>
      </p:sp>
      <p:sp>
        <p:nvSpPr>
          <p:cNvPr id="32" name="TextBox 31"/>
          <p:cNvSpPr txBox="1"/>
          <p:nvPr/>
        </p:nvSpPr>
        <p:spPr>
          <a:xfrm>
            <a:off x="8961120" y="5852159"/>
            <a:ext cx="2926080" cy="27432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ERP/MES/WMS 打通、Agent 中台</a:t>
            </a:r>
          </a:p>
        </p:txBody>
      </p:sp>
      <p:sp>
        <p:nvSpPr>
          <p:cNvPr id="33" name="TextBox 32"/>
          <p:cNvSpPr txBox="1"/>
          <p:nvPr/>
        </p:nvSpPr>
        <p:spPr>
          <a:xfrm>
            <a:off x="5760720" y="6126479"/>
            <a:ext cx="1371600" cy="274320"/>
          </a:xfrm>
          <a:prstGeom prst="rect">
            <a:avLst/>
          </a:prstGeom>
          <a:noFill/>
        </p:spPr>
        <p:txBody>
          <a:bodyPr wrap="square" anchor="ctr" lIns="45720" rIns="45720" tIns="18288" bIns="18288">
            <a:spAutoFit/>
          </a:bodyPr>
          <a:lstStyle/>
          <a:p>
            <a:pPr algn="l"/>
            <a:r>
              <a:rPr sz="1100" b="1">
                <a:solidFill>
                  <a:srgbClr val="003366"/>
                </a:solidFill>
                <a:latin typeface="Noto Serif CJK JP"/>
                <a:ea typeface="Noto Serif CJK JP"/>
              </a:rPr>
              <a:t>延后观察</a:t>
            </a:r>
          </a:p>
        </p:txBody>
      </p:sp>
      <p:sp>
        <p:nvSpPr>
          <p:cNvPr id="34" name="TextBox 33"/>
          <p:cNvSpPr txBox="1"/>
          <p:nvPr/>
        </p:nvSpPr>
        <p:spPr>
          <a:xfrm>
            <a:off x="7132320" y="6126479"/>
            <a:ext cx="1828800" cy="274320"/>
          </a:xfrm>
          <a:prstGeom prst="rect">
            <a:avLst/>
          </a:prstGeom>
          <a:noFill/>
        </p:spPr>
        <p:txBody>
          <a:bodyPr wrap="square" anchor="ctr" lIns="45720" rIns="45720" tIns="18288" bIns="18288">
            <a:spAutoFit/>
          </a:bodyPr>
          <a:lstStyle/>
          <a:p>
            <a:pPr algn="l"/>
            <a:r>
              <a:rPr sz="1000" b="0">
                <a:solidFill>
                  <a:srgbClr val="666666"/>
                </a:solidFill>
                <a:latin typeface="Noto Serif CJK JP"/>
                <a:ea typeface="Noto Serif CJK JP"/>
              </a:rPr>
              <a:t>低影响 + 低难度</a:t>
            </a:r>
          </a:p>
        </p:txBody>
      </p:sp>
      <p:sp>
        <p:nvSpPr>
          <p:cNvPr id="35" name="TextBox 34"/>
          <p:cNvSpPr txBox="1"/>
          <p:nvPr/>
        </p:nvSpPr>
        <p:spPr>
          <a:xfrm>
            <a:off x="8961120" y="6126479"/>
            <a:ext cx="2926080" cy="27432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AI 异常检测试点</a:t>
            </a:r>
          </a:p>
        </p:txBody>
      </p:sp>
      <p:sp>
        <p:nvSpPr>
          <p:cNvPr id="36" name="Rectangle 35"/>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强结论：雷达图不是汇报图，而是管理层决定资源投向的诊断工具</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16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AI 时代新挑战与对策</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问题从"能不能用工具"升级为"能不能让组织持续、合规、可规模化地用AI改造流程"</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7200" y="155448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6 大挑战全景</a:t>
            </a:r>
          </a:p>
        </p:txBody>
      </p:sp>
      <p:sp>
        <p:nvSpPr>
          <p:cNvPr id="11" name="Rectangle 10"/>
          <p:cNvSpPr/>
          <p:nvPr/>
        </p:nvSpPr>
        <p:spPr>
          <a:xfrm>
            <a:off x="457200" y="2011680"/>
            <a:ext cx="3657600"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57200" y="2011680"/>
            <a:ext cx="3657600" cy="3657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2011680"/>
            <a:ext cx="365760" cy="365760"/>
          </a:xfrm>
          <a:prstGeom prst="rect">
            <a:avLst/>
          </a:prstGeom>
          <a:noFill/>
        </p:spPr>
        <p:txBody>
          <a:bodyPr wrap="square" anchor="ctr" lIns="45720" rIns="45720" tIns="18288" bIns="18288">
            <a:spAutoFit/>
          </a:bodyPr>
          <a:lstStyle/>
          <a:p>
            <a:pPr algn="l"/>
            <a:r>
              <a:rPr sz="1400" b="1">
                <a:solidFill>
                  <a:srgbClr val="FFCC00"/>
                </a:solidFill>
                <a:latin typeface="Noto Serif CJK JP"/>
                <a:ea typeface="Noto Serif CJK JP"/>
              </a:rPr>
              <a:t>01</a:t>
            </a:r>
          </a:p>
        </p:txBody>
      </p:sp>
      <p:sp>
        <p:nvSpPr>
          <p:cNvPr id="14" name="TextBox 13"/>
          <p:cNvSpPr txBox="1"/>
          <p:nvPr/>
        </p:nvSpPr>
        <p:spPr>
          <a:xfrm>
            <a:off x="1005840" y="2011680"/>
            <a:ext cx="2286000" cy="365760"/>
          </a:xfrm>
          <a:prstGeom prst="rect">
            <a:avLst/>
          </a:prstGeom>
          <a:noFill/>
        </p:spPr>
        <p:txBody>
          <a:bodyPr wrap="square" anchor="ctr" lIns="45720" rIns="45720" tIns="18288" bIns="18288">
            <a:spAutoFit/>
          </a:bodyPr>
          <a:lstStyle/>
          <a:p>
            <a:pPr algn="l"/>
            <a:r>
              <a:rPr sz="1200" b="1">
                <a:solidFill>
                  <a:srgbClr val="FFFFFF"/>
                </a:solidFill>
                <a:latin typeface="Noto Serif CJK JP"/>
                <a:ea typeface="Noto Serif CJK JP"/>
              </a:rPr>
              <a:t>数据基础薄弱</a:t>
            </a:r>
          </a:p>
        </p:txBody>
      </p:sp>
      <p:sp>
        <p:nvSpPr>
          <p:cNvPr id="15" name="TextBox 14"/>
          <p:cNvSpPr txBox="1"/>
          <p:nvPr/>
        </p:nvSpPr>
        <p:spPr>
          <a:xfrm>
            <a:off x="2468880" y="2011680"/>
            <a:ext cx="914400" cy="365760"/>
          </a:xfrm>
          <a:prstGeom prst="rect">
            <a:avLst/>
          </a:prstGeom>
          <a:noFill/>
        </p:spPr>
        <p:txBody>
          <a:bodyPr wrap="square" anchor="ctr" lIns="45720" rIns="45720" tIns="18288" bIns="18288">
            <a:spAutoFit/>
          </a:bodyPr>
          <a:lstStyle/>
          <a:p>
            <a:pPr algn="r"/>
            <a:r>
              <a:rPr sz="1000" b="1">
                <a:solidFill>
                  <a:srgbClr val="FFCC00"/>
                </a:solidFill>
                <a:latin typeface="Noto Serif CJK JP"/>
                <a:ea typeface="Noto Serif CJK JP"/>
              </a:rPr>
              <a:t>风险:高</a:t>
            </a:r>
          </a:p>
        </p:txBody>
      </p:sp>
      <p:sp>
        <p:nvSpPr>
          <p:cNvPr id="16" name="TextBox 15"/>
          <p:cNvSpPr txBox="1"/>
          <p:nvPr/>
        </p:nvSpPr>
        <p:spPr>
          <a:xfrm>
            <a:off x="548640" y="2377440"/>
            <a:ext cx="3474720" cy="73152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数据不完整，AI 输出低价值</a:t>
            </a:r>
          </a:p>
        </p:txBody>
      </p:sp>
      <p:sp>
        <p:nvSpPr>
          <p:cNvPr id="17" name="Rectangle 16"/>
          <p:cNvSpPr/>
          <p:nvPr/>
        </p:nvSpPr>
        <p:spPr>
          <a:xfrm>
            <a:off x="4343400" y="2011680"/>
            <a:ext cx="3657600"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343400" y="2011680"/>
            <a:ext cx="3657600" cy="3657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434840" y="2011680"/>
            <a:ext cx="365760" cy="365760"/>
          </a:xfrm>
          <a:prstGeom prst="rect">
            <a:avLst/>
          </a:prstGeom>
          <a:noFill/>
        </p:spPr>
        <p:txBody>
          <a:bodyPr wrap="square" anchor="ctr" lIns="45720" rIns="45720" tIns="18288" bIns="18288">
            <a:spAutoFit/>
          </a:bodyPr>
          <a:lstStyle/>
          <a:p>
            <a:pPr algn="l"/>
            <a:r>
              <a:rPr sz="1400" b="1">
                <a:solidFill>
                  <a:srgbClr val="FFCC00"/>
                </a:solidFill>
                <a:latin typeface="Noto Serif CJK JP"/>
                <a:ea typeface="Noto Serif CJK JP"/>
              </a:rPr>
              <a:t>02</a:t>
            </a:r>
          </a:p>
        </p:txBody>
      </p:sp>
      <p:sp>
        <p:nvSpPr>
          <p:cNvPr id="20" name="TextBox 19"/>
          <p:cNvSpPr txBox="1"/>
          <p:nvPr/>
        </p:nvSpPr>
        <p:spPr>
          <a:xfrm>
            <a:off x="4892040" y="2011680"/>
            <a:ext cx="2286000" cy="365760"/>
          </a:xfrm>
          <a:prstGeom prst="rect">
            <a:avLst/>
          </a:prstGeom>
          <a:noFill/>
        </p:spPr>
        <p:txBody>
          <a:bodyPr wrap="square" anchor="ctr" lIns="45720" rIns="45720" tIns="18288" bIns="18288">
            <a:spAutoFit/>
          </a:bodyPr>
          <a:lstStyle/>
          <a:p>
            <a:pPr algn="l"/>
            <a:r>
              <a:rPr sz="1200" b="1">
                <a:solidFill>
                  <a:srgbClr val="FFFFFF"/>
                </a:solidFill>
                <a:latin typeface="Noto Serif CJK JP"/>
                <a:ea typeface="Noto Serif CJK JP"/>
              </a:rPr>
              <a:t>AI 与流程融合不足</a:t>
            </a:r>
          </a:p>
        </p:txBody>
      </p:sp>
      <p:sp>
        <p:nvSpPr>
          <p:cNvPr id="21" name="TextBox 20"/>
          <p:cNvSpPr txBox="1"/>
          <p:nvPr/>
        </p:nvSpPr>
        <p:spPr>
          <a:xfrm>
            <a:off x="2468880" y="2011680"/>
            <a:ext cx="914400" cy="365760"/>
          </a:xfrm>
          <a:prstGeom prst="rect">
            <a:avLst/>
          </a:prstGeom>
          <a:noFill/>
        </p:spPr>
        <p:txBody>
          <a:bodyPr wrap="square" anchor="ctr" lIns="45720" rIns="45720" tIns="18288" bIns="18288">
            <a:spAutoFit/>
          </a:bodyPr>
          <a:lstStyle/>
          <a:p>
            <a:pPr algn="r"/>
            <a:r>
              <a:rPr sz="1000" b="1">
                <a:solidFill>
                  <a:srgbClr val="FFCC00"/>
                </a:solidFill>
                <a:latin typeface="Noto Serif CJK JP"/>
                <a:ea typeface="Noto Serif CJK JP"/>
              </a:rPr>
              <a:t>风险:中高</a:t>
            </a:r>
          </a:p>
        </p:txBody>
      </p:sp>
      <p:sp>
        <p:nvSpPr>
          <p:cNvPr id="22" name="TextBox 21"/>
          <p:cNvSpPr txBox="1"/>
          <p:nvPr/>
        </p:nvSpPr>
        <p:spPr>
          <a:xfrm>
            <a:off x="4434840" y="2377440"/>
            <a:ext cx="3474720" cy="73152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节点选择靠经验，试点命中率低</a:t>
            </a:r>
          </a:p>
        </p:txBody>
      </p:sp>
      <p:sp>
        <p:nvSpPr>
          <p:cNvPr id="23" name="Rectangle 22"/>
          <p:cNvSpPr/>
          <p:nvPr/>
        </p:nvSpPr>
        <p:spPr>
          <a:xfrm>
            <a:off x="8229600" y="2011680"/>
            <a:ext cx="3657600"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229600" y="2011680"/>
            <a:ext cx="3657600" cy="3657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321040" y="2011680"/>
            <a:ext cx="365760" cy="365760"/>
          </a:xfrm>
          <a:prstGeom prst="rect">
            <a:avLst/>
          </a:prstGeom>
          <a:noFill/>
        </p:spPr>
        <p:txBody>
          <a:bodyPr wrap="square" anchor="ctr" lIns="45720" rIns="45720" tIns="18288" bIns="18288">
            <a:spAutoFit/>
          </a:bodyPr>
          <a:lstStyle/>
          <a:p>
            <a:pPr algn="l"/>
            <a:r>
              <a:rPr sz="1400" b="1">
                <a:solidFill>
                  <a:srgbClr val="FFCC00"/>
                </a:solidFill>
                <a:latin typeface="Noto Serif CJK JP"/>
                <a:ea typeface="Noto Serif CJK JP"/>
              </a:rPr>
              <a:t>03</a:t>
            </a:r>
          </a:p>
        </p:txBody>
      </p:sp>
      <p:sp>
        <p:nvSpPr>
          <p:cNvPr id="26" name="TextBox 25"/>
          <p:cNvSpPr txBox="1"/>
          <p:nvPr/>
        </p:nvSpPr>
        <p:spPr>
          <a:xfrm>
            <a:off x="8778240" y="2011680"/>
            <a:ext cx="2286000" cy="365760"/>
          </a:xfrm>
          <a:prstGeom prst="rect">
            <a:avLst/>
          </a:prstGeom>
          <a:noFill/>
        </p:spPr>
        <p:txBody>
          <a:bodyPr wrap="square" anchor="ctr" lIns="45720" rIns="45720" tIns="18288" bIns="18288">
            <a:spAutoFit/>
          </a:bodyPr>
          <a:lstStyle/>
          <a:p>
            <a:pPr algn="l"/>
            <a:r>
              <a:rPr sz="1200" b="1">
                <a:solidFill>
                  <a:srgbClr val="FFFFFF"/>
                </a:solidFill>
                <a:latin typeface="Noto Serif CJK JP"/>
                <a:ea typeface="Noto Serif CJK JP"/>
              </a:rPr>
              <a:t>组织变革滞后</a:t>
            </a:r>
          </a:p>
        </p:txBody>
      </p:sp>
      <p:sp>
        <p:nvSpPr>
          <p:cNvPr id="27" name="TextBox 26"/>
          <p:cNvSpPr txBox="1"/>
          <p:nvPr/>
        </p:nvSpPr>
        <p:spPr>
          <a:xfrm>
            <a:off x="2468880" y="2011680"/>
            <a:ext cx="914400" cy="365760"/>
          </a:xfrm>
          <a:prstGeom prst="rect">
            <a:avLst/>
          </a:prstGeom>
          <a:noFill/>
        </p:spPr>
        <p:txBody>
          <a:bodyPr wrap="square" anchor="ctr" lIns="45720" rIns="45720" tIns="18288" bIns="18288">
            <a:spAutoFit/>
          </a:bodyPr>
          <a:lstStyle/>
          <a:p>
            <a:pPr algn="r"/>
            <a:r>
              <a:rPr sz="1000" b="1">
                <a:solidFill>
                  <a:srgbClr val="FFCC00"/>
                </a:solidFill>
                <a:latin typeface="Noto Serif CJK JP"/>
                <a:ea typeface="Noto Serif CJK JP"/>
              </a:rPr>
              <a:t>风险:高</a:t>
            </a:r>
          </a:p>
        </p:txBody>
      </p:sp>
      <p:sp>
        <p:nvSpPr>
          <p:cNvPr id="28" name="TextBox 27"/>
          <p:cNvSpPr txBox="1"/>
          <p:nvPr/>
        </p:nvSpPr>
        <p:spPr>
          <a:xfrm>
            <a:off x="8321040" y="2377440"/>
            <a:ext cx="3474720" cy="73152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高层投入不足，推进阻力大</a:t>
            </a:r>
          </a:p>
        </p:txBody>
      </p:sp>
      <p:sp>
        <p:nvSpPr>
          <p:cNvPr id="29" name="Rectangle 28"/>
          <p:cNvSpPr/>
          <p:nvPr/>
        </p:nvSpPr>
        <p:spPr>
          <a:xfrm>
            <a:off x="457200" y="3291840"/>
            <a:ext cx="3657600"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57200" y="3291840"/>
            <a:ext cx="3657600" cy="3657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48640" y="3291840"/>
            <a:ext cx="365760" cy="365760"/>
          </a:xfrm>
          <a:prstGeom prst="rect">
            <a:avLst/>
          </a:prstGeom>
          <a:noFill/>
        </p:spPr>
        <p:txBody>
          <a:bodyPr wrap="square" anchor="ctr" lIns="45720" rIns="45720" tIns="18288" bIns="18288">
            <a:spAutoFit/>
          </a:bodyPr>
          <a:lstStyle/>
          <a:p>
            <a:pPr algn="l"/>
            <a:r>
              <a:rPr sz="1400" b="1">
                <a:solidFill>
                  <a:srgbClr val="FFCC00"/>
                </a:solidFill>
                <a:latin typeface="Noto Serif CJK JP"/>
                <a:ea typeface="Noto Serif CJK JP"/>
              </a:rPr>
              <a:t>04</a:t>
            </a:r>
          </a:p>
        </p:txBody>
      </p:sp>
      <p:sp>
        <p:nvSpPr>
          <p:cNvPr id="32" name="TextBox 31"/>
          <p:cNvSpPr txBox="1"/>
          <p:nvPr/>
        </p:nvSpPr>
        <p:spPr>
          <a:xfrm>
            <a:off x="1005840" y="3291840"/>
            <a:ext cx="2286000" cy="365760"/>
          </a:xfrm>
          <a:prstGeom prst="rect">
            <a:avLst/>
          </a:prstGeom>
          <a:noFill/>
        </p:spPr>
        <p:txBody>
          <a:bodyPr wrap="square" anchor="ctr" lIns="45720" rIns="45720" tIns="18288" bIns="18288">
            <a:spAutoFit/>
          </a:bodyPr>
          <a:lstStyle/>
          <a:p>
            <a:pPr algn="l"/>
            <a:r>
              <a:rPr sz="1200" b="1">
                <a:solidFill>
                  <a:srgbClr val="FFFFFF"/>
                </a:solidFill>
                <a:latin typeface="Noto Serif CJK JP"/>
                <a:ea typeface="Noto Serif CJK JP"/>
              </a:rPr>
              <a:t>合规与伦理风险</a:t>
            </a:r>
          </a:p>
        </p:txBody>
      </p:sp>
      <p:sp>
        <p:nvSpPr>
          <p:cNvPr id="33" name="TextBox 32"/>
          <p:cNvSpPr txBox="1"/>
          <p:nvPr/>
        </p:nvSpPr>
        <p:spPr>
          <a:xfrm>
            <a:off x="2468880" y="3291840"/>
            <a:ext cx="914400" cy="365760"/>
          </a:xfrm>
          <a:prstGeom prst="rect">
            <a:avLst/>
          </a:prstGeom>
          <a:noFill/>
        </p:spPr>
        <p:txBody>
          <a:bodyPr wrap="square" anchor="ctr" lIns="45720" rIns="45720" tIns="18288" bIns="18288">
            <a:spAutoFit/>
          </a:bodyPr>
          <a:lstStyle/>
          <a:p>
            <a:pPr algn="r"/>
            <a:r>
              <a:rPr sz="1000" b="1">
                <a:solidFill>
                  <a:srgbClr val="FFCC00"/>
                </a:solidFill>
                <a:latin typeface="Noto Serif CJK JP"/>
                <a:ea typeface="Noto Serif CJK JP"/>
              </a:rPr>
              <a:t>风险:中高</a:t>
            </a:r>
          </a:p>
        </p:txBody>
      </p:sp>
      <p:sp>
        <p:nvSpPr>
          <p:cNvPr id="34" name="TextBox 33"/>
          <p:cNvSpPr txBox="1"/>
          <p:nvPr/>
        </p:nvSpPr>
        <p:spPr>
          <a:xfrm>
            <a:off x="548640" y="3657600"/>
            <a:ext cx="3474720" cy="73152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可解释性缺失，合规风险放大</a:t>
            </a:r>
          </a:p>
        </p:txBody>
      </p:sp>
      <p:sp>
        <p:nvSpPr>
          <p:cNvPr id="35" name="Rectangle 34"/>
          <p:cNvSpPr/>
          <p:nvPr/>
        </p:nvSpPr>
        <p:spPr>
          <a:xfrm>
            <a:off x="4343400" y="3291840"/>
            <a:ext cx="3657600"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343400" y="3291840"/>
            <a:ext cx="3657600" cy="3657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434840" y="3291840"/>
            <a:ext cx="365760" cy="365760"/>
          </a:xfrm>
          <a:prstGeom prst="rect">
            <a:avLst/>
          </a:prstGeom>
          <a:noFill/>
        </p:spPr>
        <p:txBody>
          <a:bodyPr wrap="square" anchor="ctr" lIns="45720" rIns="45720" tIns="18288" bIns="18288">
            <a:spAutoFit/>
          </a:bodyPr>
          <a:lstStyle/>
          <a:p>
            <a:pPr algn="l"/>
            <a:r>
              <a:rPr sz="1400" b="1">
                <a:solidFill>
                  <a:srgbClr val="FFCC00"/>
                </a:solidFill>
                <a:latin typeface="Noto Serif CJK JP"/>
                <a:ea typeface="Noto Serif CJK JP"/>
              </a:rPr>
              <a:t>05</a:t>
            </a:r>
          </a:p>
        </p:txBody>
      </p:sp>
      <p:sp>
        <p:nvSpPr>
          <p:cNvPr id="38" name="TextBox 37"/>
          <p:cNvSpPr txBox="1"/>
          <p:nvPr/>
        </p:nvSpPr>
        <p:spPr>
          <a:xfrm>
            <a:off x="4892040" y="3291840"/>
            <a:ext cx="2286000" cy="365760"/>
          </a:xfrm>
          <a:prstGeom prst="rect">
            <a:avLst/>
          </a:prstGeom>
          <a:noFill/>
        </p:spPr>
        <p:txBody>
          <a:bodyPr wrap="square" anchor="ctr" lIns="45720" rIns="45720" tIns="18288" bIns="18288">
            <a:spAutoFit/>
          </a:bodyPr>
          <a:lstStyle/>
          <a:p>
            <a:pPr algn="l"/>
            <a:r>
              <a:rPr sz="1200" b="1">
                <a:solidFill>
                  <a:srgbClr val="FFFFFF"/>
                </a:solidFill>
                <a:latin typeface="Noto Serif CJK JP"/>
                <a:ea typeface="Noto Serif CJK JP"/>
              </a:rPr>
              <a:t>AI 试点攻基</a:t>
            </a:r>
          </a:p>
        </p:txBody>
      </p:sp>
      <p:sp>
        <p:nvSpPr>
          <p:cNvPr id="39" name="TextBox 38"/>
          <p:cNvSpPr txBox="1"/>
          <p:nvPr/>
        </p:nvSpPr>
        <p:spPr>
          <a:xfrm>
            <a:off x="2468880" y="3291840"/>
            <a:ext cx="914400" cy="365760"/>
          </a:xfrm>
          <a:prstGeom prst="rect">
            <a:avLst/>
          </a:prstGeom>
          <a:noFill/>
        </p:spPr>
        <p:txBody>
          <a:bodyPr wrap="square" anchor="ctr" lIns="45720" rIns="45720" tIns="18288" bIns="18288">
            <a:spAutoFit/>
          </a:bodyPr>
          <a:lstStyle/>
          <a:p>
            <a:pPr algn="r"/>
            <a:r>
              <a:rPr sz="1000" b="1">
                <a:solidFill>
                  <a:srgbClr val="FFCC00"/>
                </a:solidFill>
                <a:latin typeface="Noto Serif CJK JP"/>
                <a:ea typeface="Noto Serif CJK JP"/>
              </a:rPr>
              <a:t>风险:高</a:t>
            </a:r>
          </a:p>
        </p:txBody>
      </p:sp>
      <p:sp>
        <p:nvSpPr>
          <p:cNvPr id="40" name="TextBox 39"/>
          <p:cNvSpPr txBox="1"/>
          <p:nvPr/>
        </p:nvSpPr>
        <p:spPr>
          <a:xfrm>
            <a:off x="4434840" y="3657600"/>
            <a:ext cx="3474720" cy="73152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缺少中台治理，无法复制扩散</a:t>
            </a:r>
          </a:p>
        </p:txBody>
      </p:sp>
      <p:sp>
        <p:nvSpPr>
          <p:cNvPr id="41" name="Rectangle 40"/>
          <p:cNvSpPr/>
          <p:nvPr/>
        </p:nvSpPr>
        <p:spPr>
          <a:xfrm>
            <a:off x="8229600" y="3291840"/>
            <a:ext cx="3657600" cy="10972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8229600" y="3291840"/>
            <a:ext cx="3657600" cy="36576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321040" y="3291840"/>
            <a:ext cx="365760" cy="365760"/>
          </a:xfrm>
          <a:prstGeom prst="rect">
            <a:avLst/>
          </a:prstGeom>
          <a:noFill/>
        </p:spPr>
        <p:txBody>
          <a:bodyPr wrap="square" anchor="ctr" lIns="45720" rIns="45720" tIns="18288" bIns="18288">
            <a:spAutoFit/>
          </a:bodyPr>
          <a:lstStyle/>
          <a:p>
            <a:pPr algn="l"/>
            <a:r>
              <a:rPr sz="1400" b="1">
                <a:solidFill>
                  <a:srgbClr val="FFCC00"/>
                </a:solidFill>
                <a:latin typeface="Noto Serif CJK JP"/>
                <a:ea typeface="Noto Serif CJK JP"/>
              </a:rPr>
              <a:t>06</a:t>
            </a:r>
          </a:p>
        </p:txBody>
      </p:sp>
      <p:sp>
        <p:nvSpPr>
          <p:cNvPr id="44" name="TextBox 43"/>
          <p:cNvSpPr txBox="1"/>
          <p:nvPr/>
        </p:nvSpPr>
        <p:spPr>
          <a:xfrm>
            <a:off x="8778240" y="3291840"/>
            <a:ext cx="2286000" cy="365760"/>
          </a:xfrm>
          <a:prstGeom prst="rect">
            <a:avLst/>
          </a:prstGeom>
          <a:noFill/>
        </p:spPr>
        <p:txBody>
          <a:bodyPr wrap="square" anchor="ctr" lIns="45720" rIns="45720" tIns="18288" bIns="18288">
            <a:spAutoFit/>
          </a:bodyPr>
          <a:lstStyle/>
          <a:p>
            <a:pPr algn="l"/>
            <a:r>
              <a:rPr sz="1200" b="1">
                <a:solidFill>
                  <a:srgbClr val="FFFFFF"/>
                </a:solidFill>
                <a:latin typeface="Noto Serif CJK JP"/>
                <a:ea typeface="Noto Serif CJK JP"/>
              </a:rPr>
              <a:t>流程智能人才稀缺</a:t>
            </a:r>
          </a:p>
        </p:txBody>
      </p:sp>
      <p:sp>
        <p:nvSpPr>
          <p:cNvPr id="45" name="TextBox 44"/>
          <p:cNvSpPr txBox="1"/>
          <p:nvPr/>
        </p:nvSpPr>
        <p:spPr>
          <a:xfrm>
            <a:off x="2468880" y="3291840"/>
            <a:ext cx="914400" cy="365760"/>
          </a:xfrm>
          <a:prstGeom prst="rect">
            <a:avLst/>
          </a:prstGeom>
          <a:noFill/>
        </p:spPr>
        <p:txBody>
          <a:bodyPr wrap="square" anchor="ctr" lIns="45720" rIns="45720" tIns="18288" bIns="18288">
            <a:spAutoFit/>
          </a:bodyPr>
          <a:lstStyle/>
          <a:p>
            <a:pPr algn="r"/>
            <a:r>
              <a:rPr sz="1000" b="1">
                <a:solidFill>
                  <a:srgbClr val="FFCC00"/>
                </a:solidFill>
                <a:latin typeface="Noto Serif CJK JP"/>
                <a:ea typeface="Noto Serif CJK JP"/>
              </a:rPr>
              <a:t>风险:中</a:t>
            </a:r>
          </a:p>
        </p:txBody>
      </p:sp>
      <p:sp>
        <p:nvSpPr>
          <p:cNvPr id="46" name="TextBox 45"/>
          <p:cNvSpPr txBox="1"/>
          <p:nvPr/>
        </p:nvSpPr>
        <p:spPr>
          <a:xfrm>
            <a:off x="8321040" y="3657600"/>
            <a:ext cx="3474720" cy="731520"/>
          </a:xfrm>
          <a:prstGeom prst="rect">
            <a:avLst/>
          </a:prstGeom>
          <a:noFill/>
        </p:spPr>
        <p:txBody>
          <a:bodyPr wrap="square" anchor="ctr" lIns="45720" rIns="45720" tIns="18288" bIns="18288">
            <a:spAutoFit/>
          </a:bodyPr>
          <a:lstStyle/>
          <a:p>
            <a:pPr algn="l"/>
            <a:r>
              <a:rPr sz="1000" b="0">
                <a:solidFill>
                  <a:srgbClr val="333333"/>
                </a:solidFill>
                <a:latin typeface="Noto Serif CJK JP"/>
                <a:ea typeface="Noto Serif CJK JP"/>
              </a:rPr>
              <a:t>种子团队不足，能力依赖外部</a:t>
            </a:r>
          </a:p>
        </p:txBody>
      </p:sp>
      <p:sp>
        <p:nvSpPr>
          <p:cNvPr id="47" name="TextBox 46"/>
          <p:cNvSpPr txBox="1"/>
          <p:nvPr/>
        </p:nvSpPr>
        <p:spPr>
          <a:xfrm>
            <a:off x="457200" y="493776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90 天行动清单</a:t>
            </a:r>
          </a:p>
        </p:txBody>
      </p:sp>
      <p:sp>
        <p:nvSpPr>
          <p:cNvPr id="48" name="TextBox 47"/>
          <p:cNvSpPr txBox="1"/>
          <p:nvPr/>
        </p:nvSpPr>
        <p:spPr>
          <a:xfrm>
            <a:off x="457200" y="5349240"/>
            <a:ext cx="11247120" cy="228600"/>
          </a:xfrm>
          <a:prstGeom prst="rect">
            <a:avLst/>
          </a:prstGeom>
          <a:noFill/>
        </p:spPr>
        <p:txBody>
          <a:bodyPr wrap="square" anchor="ctr" lIns="45720" rIns="45720" tIns="18288" bIns="18288">
            <a:spAutoFit/>
          </a:bodyPr>
          <a:lstStyle/>
          <a:p>
            <a:pPr algn="l"/>
            <a:r>
              <a:rPr sz="1100" b="0">
                <a:solidFill>
                  <a:srgbClr val="333333"/>
                </a:solidFill>
                <a:latin typeface="Noto Serif CJK JP"/>
                <a:ea typeface="Noto Serif CJK JP"/>
              </a:rPr>
              <a:t>1. 完成核心流程数据体检，识别缺口与质量问题</a:t>
            </a:r>
          </a:p>
        </p:txBody>
      </p:sp>
      <p:sp>
        <p:nvSpPr>
          <p:cNvPr id="49" name="TextBox 48"/>
          <p:cNvSpPr txBox="1"/>
          <p:nvPr/>
        </p:nvSpPr>
        <p:spPr>
          <a:xfrm>
            <a:off x="457200" y="5596127"/>
            <a:ext cx="11247120" cy="228600"/>
          </a:xfrm>
          <a:prstGeom prst="rect">
            <a:avLst/>
          </a:prstGeom>
          <a:noFill/>
        </p:spPr>
        <p:txBody>
          <a:bodyPr wrap="square" anchor="ctr" lIns="45720" rIns="45720" tIns="18288" bIns="18288">
            <a:spAutoFit/>
          </a:bodyPr>
          <a:lstStyle/>
          <a:p>
            <a:pPr algn="l"/>
            <a:r>
              <a:rPr sz="1100" b="0">
                <a:solidFill>
                  <a:srgbClr val="333333"/>
                </a:solidFill>
                <a:latin typeface="Noto Serif CJK JP"/>
                <a:ea typeface="Noto Serif CJK JP"/>
              </a:rPr>
              <a:t>2. 筛选 2-3 个高价值试点，基于评分卡确定优先级</a:t>
            </a:r>
          </a:p>
        </p:txBody>
      </p:sp>
      <p:sp>
        <p:nvSpPr>
          <p:cNvPr id="50" name="TextBox 49"/>
          <p:cNvSpPr txBox="1"/>
          <p:nvPr/>
        </p:nvSpPr>
        <p:spPr>
          <a:xfrm>
            <a:off x="457200" y="5843016"/>
            <a:ext cx="11247120" cy="228600"/>
          </a:xfrm>
          <a:prstGeom prst="rect">
            <a:avLst/>
          </a:prstGeom>
          <a:noFill/>
        </p:spPr>
        <p:txBody>
          <a:bodyPr wrap="square" anchor="ctr" lIns="45720" rIns="45720" tIns="18288" bIns="18288">
            <a:spAutoFit/>
          </a:bodyPr>
          <a:lstStyle/>
          <a:p>
            <a:pPr algn="l"/>
            <a:r>
              <a:rPr sz="1100" b="0">
                <a:solidFill>
                  <a:srgbClr val="333333"/>
                </a:solidFill>
                <a:latin typeface="Noto Serif CJK JP"/>
                <a:ea typeface="Noto Serif CJK JP"/>
              </a:rPr>
              <a:t>3. 建立 AI 治理委员会，明确治理框架与决策机制</a:t>
            </a:r>
          </a:p>
        </p:txBody>
      </p:sp>
      <p:sp>
        <p:nvSpPr>
          <p:cNvPr id="51" name="TextBox 50"/>
          <p:cNvSpPr txBox="1"/>
          <p:nvPr/>
        </p:nvSpPr>
        <p:spPr>
          <a:xfrm>
            <a:off x="457200" y="6089904"/>
            <a:ext cx="11247120" cy="228600"/>
          </a:xfrm>
          <a:prstGeom prst="rect">
            <a:avLst/>
          </a:prstGeom>
          <a:noFill/>
        </p:spPr>
        <p:txBody>
          <a:bodyPr wrap="square" anchor="ctr" lIns="45720" rIns="45720" tIns="18288" bIns="18288">
            <a:spAutoFit/>
          </a:bodyPr>
          <a:lstStyle/>
          <a:p>
            <a:pPr algn="l"/>
            <a:r>
              <a:rPr sz="1100" b="0">
                <a:solidFill>
                  <a:srgbClr val="333333"/>
                </a:solidFill>
                <a:latin typeface="Noto Serif CJK JP"/>
                <a:ea typeface="Noto Serif CJK JP"/>
              </a:rPr>
              <a:t>4. 指定流程+AI 种子团队，跨部门组建，明确角色与目标</a:t>
            </a:r>
          </a:p>
        </p:txBody>
      </p:sp>
      <p:sp>
        <p:nvSpPr>
          <p:cNvPr id="52" name="Rectangle 51"/>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强结论：流程智能不是把 AI 接入流程，而是让数据、流程、组织、治理与人才共同具备持续进化能力</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41148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73152"/>
            <a:ext cx="3657600" cy="274320"/>
          </a:xfrm>
          <a:prstGeom prst="rect">
            <a:avLst/>
          </a:prstGeom>
          <a:noFill/>
        </p:spPr>
        <p:txBody>
          <a:bodyPr wrap="square" anchor="t" lIns="45720" rIns="45720" tIns="18288" bIns="18288">
            <a:spAutoFit/>
          </a:bodyPr>
          <a:lstStyle/>
          <a:p>
            <a:pPr algn="l"/>
            <a:r>
              <a:rPr sz="1100" b="1">
                <a:solidFill>
                  <a:srgbClr val="FFFFFF"/>
                </a:solidFill>
                <a:latin typeface="Noto Serif CJK JP"/>
                <a:ea typeface="Noto Serif CJK JP"/>
              </a:rPr>
              <a:t>战略流程智慧坊</a:t>
            </a:r>
          </a:p>
        </p:txBody>
      </p:sp>
      <p:sp>
        <p:nvSpPr>
          <p:cNvPr id="5" name="TextBox 4"/>
          <p:cNvSpPr txBox="1"/>
          <p:nvPr/>
        </p:nvSpPr>
        <p:spPr>
          <a:xfrm>
            <a:off x="10515600" y="73152"/>
            <a:ext cx="1371600" cy="274320"/>
          </a:xfrm>
          <a:prstGeom prst="rect">
            <a:avLst/>
          </a:prstGeom>
          <a:noFill/>
        </p:spPr>
        <p:txBody>
          <a:bodyPr wrap="square" anchor="t" lIns="45720" rIns="45720" tIns="18288" bIns="18288">
            <a:spAutoFit/>
          </a:bodyPr>
          <a:lstStyle/>
          <a:p>
            <a:pPr algn="r"/>
            <a:r>
              <a:rPr sz="1000" b="0">
                <a:solidFill>
                  <a:srgbClr val="FFFFFF"/>
                </a:solidFill>
                <a:latin typeface="Noto Serif CJK JP"/>
                <a:ea typeface="Noto Serif CJK JP"/>
              </a:rPr>
              <a:t>17 / 18</a:t>
            </a:r>
          </a:p>
        </p:txBody>
      </p:sp>
      <p:sp>
        <p:nvSpPr>
          <p:cNvPr id="6" name="TextBox 5"/>
          <p:cNvSpPr txBox="1"/>
          <p:nvPr/>
        </p:nvSpPr>
        <p:spPr>
          <a:xfrm>
            <a:off x="457200" y="502920"/>
            <a:ext cx="11247120" cy="502920"/>
          </a:xfrm>
          <a:prstGeom prst="rect">
            <a:avLst/>
          </a:prstGeom>
          <a:noFill/>
        </p:spPr>
        <p:txBody>
          <a:bodyPr wrap="square" anchor="t" lIns="45720" rIns="45720" tIns="18288" bIns="18288">
            <a:spAutoFit/>
          </a:bodyPr>
          <a:lstStyle/>
          <a:p>
            <a:pPr algn="l"/>
            <a:r>
              <a:rPr sz="2400" b="1">
                <a:solidFill>
                  <a:srgbClr val="003366"/>
                </a:solidFill>
                <a:latin typeface="Noto Serif CJK JP"/>
                <a:ea typeface="Noto Serif CJK JP"/>
              </a:rPr>
              <a:t>企业行动路线图：0-24 个月</a:t>
            </a:r>
          </a:p>
        </p:txBody>
      </p:sp>
      <p:sp>
        <p:nvSpPr>
          <p:cNvPr id="7" name="TextBox 6"/>
          <p:cNvSpPr txBox="1"/>
          <p:nvPr/>
        </p:nvSpPr>
        <p:spPr>
          <a:xfrm>
            <a:off x="457200" y="1005840"/>
            <a:ext cx="11247120" cy="365760"/>
          </a:xfrm>
          <a:prstGeom prst="rect">
            <a:avLst/>
          </a:prstGeom>
          <a:noFill/>
        </p:spPr>
        <p:txBody>
          <a:bodyPr wrap="square" anchor="t" lIns="45720" rIns="45720" tIns="18288" bIns="18288">
            <a:spAutoFit/>
          </a:bodyPr>
          <a:lstStyle/>
          <a:p>
            <a:pPr algn="l"/>
            <a:r>
              <a:rPr sz="1200" b="0">
                <a:solidFill>
                  <a:srgbClr val="666666"/>
                </a:solidFill>
                <a:latin typeface="Noto Serif CJK JP"/>
                <a:ea typeface="Noto Serif CJK JP"/>
              </a:rPr>
              <a:t>补基础 → 做验证 → 再规模化，先把数据与治理打牢，再让 AI 进入高价值节点</a:t>
            </a:r>
          </a:p>
        </p:txBody>
      </p:sp>
      <p:cxnSp>
        <p:nvCxnSpPr>
          <p:cNvPr id="8" name="Connector 7"/>
          <p:cNvCxnSpPr/>
          <p:nvPr/>
        </p:nvCxnSpPr>
        <p:spPr>
          <a:xfrm>
            <a:off x="457200" y="1417320"/>
            <a:ext cx="11430000" cy="0"/>
          </a:xfrm>
          <a:prstGeom prst="line">
            <a:avLst/>
          </a:prstGeom>
          <a:ln w="19050">
            <a:solidFill>
              <a:srgbClr val="D01F2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0" y="6583680"/>
            <a:ext cx="12191695" cy="2743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oadmap.png"/>
          <p:cNvPicPr>
            <a:picLocks noChangeAspect="1"/>
          </p:cNvPicPr>
          <p:nvPr/>
        </p:nvPicPr>
        <p:blipFill>
          <a:blip r:embed="rId2"/>
          <a:stretch>
            <a:fillRect/>
          </a:stretch>
        </p:blipFill>
        <p:spPr>
          <a:xfrm>
            <a:off x="457200" y="1554480"/>
            <a:ext cx="11247120" cy="5103735"/>
          </a:xfrm>
          <a:prstGeom prst="rect">
            <a:avLst/>
          </a:prstGeom>
        </p:spPr>
      </p:pic>
      <p:sp>
        <p:nvSpPr>
          <p:cNvPr id="11" name="TextBox 10"/>
          <p:cNvSpPr txBox="1"/>
          <p:nvPr/>
        </p:nvSpPr>
        <p:spPr>
          <a:xfrm>
            <a:off x="457200" y="4389120"/>
            <a:ext cx="11247120" cy="365760"/>
          </a:xfrm>
          <a:prstGeom prst="rect">
            <a:avLst/>
          </a:prstGeom>
          <a:noFill/>
        </p:spPr>
        <p:txBody>
          <a:bodyPr wrap="square" anchor="t" lIns="45720" rIns="45720" tIns="18288" bIns="18288">
            <a:spAutoFit/>
          </a:bodyPr>
          <a:lstStyle/>
          <a:p>
            <a:pPr algn="l"/>
            <a:r>
              <a:rPr sz="1500" b="1">
                <a:solidFill>
                  <a:srgbClr val="003366"/>
                </a:solidFill>
                <a:latin typeface="Noto Serif CJK JP"/>
                <a:ea typeface="Noto Serif CJK JP"/>
              </a:rPr>
              <a:t>三阶段关键 KPI</a:t>
            </a:r>
          </a:p>
        </p:txBody>
      </p:sp>
      <p:sp>
        <p:nvSpPr>
          <p:cNvPr id="12" name="Rectangle 11"/>
          <p:cNvSpPr/>
          <p:nvPr/>
        </p:nvSpPr>
        <p:spPr>
          <a:xfrm>
            <a:off x="457200" y="4800600"/>
            <a:ext cx="3657600"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57200" y="4800600"/>
            <a:ext cx="3657600" cy="36576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4800600"/>
            <a:ext cx="3657600" cy="365760"/>
          </a:xfrm>
          <a:prstGeom prst="rect">
            <a:avLst/>
          </a:prstGeom>
          <a:noFill/>
        </p:spPr>
        <p:txBody>
          <a:bodyPr wrap="square" anchor="ctr" lIns="45720" rIns="45720" tIns="18288" bIns="18288">
            <a:spAutoFit/>
          </a:bodyPr>
          <a:lstStyle/>
          <a:p>
            <a:pPr algn="ctr"/>
            <a:r>
              <a:rPr sz="1200" b="1">
                <a:solidFill>
                  <a:srgbClr val="FFFFFF"/>
                </a:solidFill>
                <a:latin typeface="Noto Serif CJK JP"/>
                <a:ea typeface="Noto Serif CJK JP"/>
              </a:rPr>
              <a:t>0-6 个月：建基础</a:t>
            </a:r>
          </a:p>
        </p:txBody>
      </p:sp>
      <p:sp>
        <p:nvSpPr>
          <p:cNvPr id="15" name="TextBox 14"/>
          <p:cNvSpPr txBox="1"/>
          <p:nvPr/>
        </p:nvSpPr>
        <p:spPr>
          <a:xfrm>
            <a:off x="548640" y="5212080"/>
            <a:ext cx="3474720" cy="822960"/>
          </a:xfrm>
          <a:prstGeom prst="rect">
            <a:avLst/>
          </a:prstGeom>
          <a:noFill/>
        </p:spPr>
        <p:txBody>
          <a:bodyPr wrap="square" anchor="ctr" lIns="45720" rIns="45720" tIns="18288" bIns="18288">
            <a:spAutoFit/>
          </a:bodyPr>
          <a:lstStyle/>
          <a:p>
            <a:pPr algn="l"/>
            <a:r>
              <a:rPr sz="1100" b="0">
                <a:solidFill>
                  <a:srgbClr val="333333"/>
                </a:solidFill>
                <a:latin typeface="Noto Serif CJK JP"/>
                <a:ea typeface="Noto Serif CJK JP"/>
              </a:rPr>
              <a:t>核心流程覆盖率≥60% / Owner 覆盖率≥30% / 数据字典完成率≥80%</a:t>
            </a:r>
          </a:p>
        </p:txBody>
      </p:sp>
      <p:sp>
        <p:nvSpPr>
          <p:cNvPr id="16" name="Rectangle 15"/>
          <p:cNvSpPr/>
          <p:nvPr/>
        </p:nvSpPr>
        <p:spPr>
          <a:xfrm>
            <a:off x="4343400" y="4800600"/>
            <a:ext cx="3657600"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43400" y="4800600"/>
            <a:ext cx="3657600" cy="365760"/>
          </a:xfrm>
          <a:prstGeom prst="rect">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343400" y="4800600"/>
            <a:ext cx="3657600" cy="365760"/>
          </a:xfrm>
          <a:prstGeom prst="rect">
            <a:avLst/>
          </a:prstGeom>
          <a:noFill/>
        </p:spPr>
        <p:txBody>
          <a:bodyPr wrap="square" anchor="ctr" lIns="45720" rIns="45720" tIns="18288" bIns="18288">
            <a:spAutoFit/>
          </a:bodyPr>
          <a:lstStyle/>
          <a:p>
            <a:pPr algn="ctr"/>
            <a:r>
              <a:rPr sz="1200" b="1">
                <a:solidFill>
                  <a:srgbClr val="FFFFFF"/>
                </a:solidFill>
                <a:latin typeface="Noto Serif CJK JP"/>
                <a:ea typeface="Noto Serif CJK JP"/>
              </a:rPr>
              <a:t>6-12 个月：做验证</a:t>
            </a:r>
          </a:p>
        </p:txBody>
      </p:sp>
      <p:sp>
        <p:nvSpPr>
          <p:cNvPr id="19" name="TextBox 18"/>
          <p:cNvSpPr txBox="1"/>
          <p:nvPr/>
        </p:nvSpPr>
        <p:spPr>
          <a:xfrm>
            <a:off x="4434840" y="5212080"/>
            <a:ext cx="3474720" cy="822960"/>
          </a:xfrm>
          <a:prstGeom prst="rect">
            <a:avLst/>
          </a:prstGeom>
          <a:noFill/>
        </p:spPr>
        <p:txBody>
          <a:bodyPr wrap="square" anchor="ctr" lIns="45720" rIns="45720" tIns="18288" bIns="18288">
            <a:spAutoFit/>
          </a:bodyPr>
          <a:lstStyle/>
          <a:p>
            <a:pPr algn="l"/>
            <a:r>
              <a:rPr sz="1100" b="0">
                <a:solidFill>
                  <a:srgbClr val="333333"/>
                </a:solidFill>
                <a:latin typeface="Noto Serif CJK JP"/>
                <a:ea typeface="Noto Serif CJK JP"/>
              </a:rPr>
              <a:t>2-3 条主流程 AI 试点 / 关键节点预警命中率提升 30%+</a:t>
            </a:r>
          </a:p>
        </p:txBody>
      </p:sp>
      <p:sp>
        <p:nvSpPr>
          <p:cNvPr id="20" name="Rectangle 19"/>
          <p:cNvSpPr/>
          <p:nvPr/>
        </p:nvSpPr>
        <p:spPr>
          <a:xfrm>
            <a:off x="8229600" y="4800600"/>
            <a:ext cx="3657600"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229600" y="4800600"/>
            <a:ext cx="3657600" cy="36576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0" y="4800600"/>
            <a:ext cx="3657600" cy="365760"/>
          </a:xfrm>
          <a:prstGeom prst="rect">
            <a:avLst/>
          </a:prstGeom>
          <a:noFill/>
        </p:spPr>
        <p:txBody>
          <a:bodyPr wrap="square" anchor="ctr" lIns="45720" rIns="45720" tIns="18288" bIns="18288">
            <a:spAutoFit/>
          </a:bodyPr>
          <a:lstStyle/>
          <a:p>
            <a:pPr algn="ctr"/>
            <a:r>
              <a:rPr sz="1200" b="1">
                <a:solidFill>
                  <a:srgbClr val="FFFFFF"/>
                </a:solidFill>
                <a:latin typeface="Noto Serif CJK JP"/>
                <a:ea typeface="Noto Serif CJK JP"/>
              </a:rPr>
              <a:t>12-24 个月：规模化</a:t>
            </a:r>
          </a:p>
        </p:txBody>
      </p:sp>
      <p:sp>
        <p:nvSpPr>
          <p:cNvPr id="23" name="TextBox 22"/>
          <p:cNvSpPr txBox="1"/>
          <p:nvPr/>
        </p:nvSpPr>
        <p:spPr>
          <a:xfrm>
            <a:off x="8321040" y="5212080"/>
            <a:ext cx="3474720" cy="822960"/>
          </a:xfrm>
          <a:prstGeom prst="rect">
            <a:avLst/>
          </a:prstGeom>
          <a:noFill/>
        </p:spPr>
        <p:txBody>
          <a:bodyPr wrap="square" anchor="ctr" lIns="45720" rIns="45720" tIns="18288" bIns="18288">
            <a:spAutoFit/>
          </a:bodyPr>
          <a:lstStyle/>
          <a:p>
            <a:pPr algn="l"/>
            <a:r>
              <a:rPr sz="1100" b="0">
                <a:solidFill>
                  <a:srgbClr val="333333"/>
                </a:solidFill>
                <a:latin typeface="Noto Serif CJK JP"/>
                <a:ea typeface="Noto Serif CJK JP"/>
              </a:rPr>
              <a:t>AI 应用覆盖率≥30% / 数据自动采集率≥80% / 闭环周期缩短至月度</a:t>
            </a:r>
          </a:p>
        </p:txBody>
      </p:sp>
      <p:sp>
        <p:nvSpPr>
          <p:cNvPr id="24" name="Rectangle 23"/>
          <p:cNvSpPr/>
          <p:nvPr/>
        </p:nvSpPr>
        <p:spPr>
          <a:xfrm>
            <a:off x="457200" y="6355080"/>
            <a:ext cx="11247120" cy="2286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57200" y="6355080"/>
            <a:ext cx="11247120" cy="228600"/>
          </a:xfrm>
          <a:prstGeom prst="rect">
            <a:avLst/>
          </a:prstGeom>
          <a:noFill/>
        </p:spPr>
        <p:txBody>
          <a:bodyPr wrap="square" anchor="ctr" lIns="45720" rIns="45720" tIns="18288" bIns="18288">
            <a:spAutoFit/>
          </a:bodyPr>
          <a:lstStyle/>
          <a:p>
            <a:pPr algn="ctr"/>
            <a:r>
              <a:rPr sz="1100" b="1">
                <a:solidFill>
                  <a:srgbClr val="FFFFFF"/>
                </a:solidFill>
                <a:latin typeface="Noto Serif CJK JP"/>
                <a:ea typeface="Noto Serif CJK JP"/>
              </a:rPr>
              <a:t>强结论：先让流程可见，再让流程可诊断，最后让流程可自主进化</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74320" cy="6858000"/>
          </a:xfrm>
          <a:prstGeom prst="rect">
            <a:avLst/>
          </a:prstGeom>
          <a:solidFill>
            <a:srgbClr val="D01F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548640"/>
            <a:ext cx="10972800" cy="548640"/>
          </a:xfrm>
          <a:prstGeom prst="rect">
            <a:avLst/>
          </a:prstGeom>
          <a:noFill/>
        </p:spPr>
        <p:txBody>
          <a:bodyPr wrap="square" anchor="t" lIns="45720" rIns="45720" tIns="18288" bIns="18288">
            <a:spAutoFit/>
          </a:bodyPr>
          <a:lstStyle/>
          <a:p>
            <a:pPr algn="l"/>
            <a:r>
              <a:rPr sz="2800" b="1">
                <a:solidFill>
                  <a:srgbClr val="FFFFFF"/>
                </a:solidFill>
                <a:latin typeface="Noto Serif CJK JP"/>
                <a:ea typeface="Noto Serif CJK JP"/>
              </a:rPr>
              <a:t>总结：流程智能成熟度的本质</a:t>
            </a:r>
          </a:p>
        </p:txBody>
      </p:sp>
      <p:sp>
        <p:nvSpPr>
          <p:cNvPr id="5" name="TextBox 4"/>
          <p:cNvSpPr txBox="1"/>
          <p:nvPr/>
        </p:nvSpPr>
        <p:spPr>
          <a:xfrm>
            <a:off x="640080" y="1097280"/>
            <a:ext cx="10972800" cy="365760"/>
          </a:xfrm>
          <a:prstGeom prst="rect">
            <a:avLst/>
          </a:prstGeom>
          <a:noFill/>
        </p:spPr>
        <p:txBody>
          <a:bodyPr wrap="square" anchor="t" lIns="45720" rIns="45720" tIns="18288" bIns="18288">
            <a:spAutoFit/>
          </a:bodyPr>
          <a:lstStyle/>
          <a:p>
            <a:pPr algn="l"/>
            <a:r>
              <a:rPr sz="1400" b="0">
                <a:solidFill>
                  <a:srgbClr val="CCDDEE"/>
                </a:solidFill>
                <a:latin typeface="Noto Serif CJK JP"/>
                <a:ea typeface="Noto Serif CJK JP"/>
              </a:rPr>
              <a:t>终局判断：流程管理已从『有没有流程』升级为『流程有多聪明』</a:t>
            </a:r>
          </a:p>
        </p:txBody>
      </p:sp>
      <p:sp>
        <p:nvSpPr>
          <p:cNvPr id="6" name="TextBox 5"/>
          <p:cNvSpPr txBox="1"/>
          <p:nvPr/>
        </p:nvSpPr>
        <p:spPr>
          <a:xfrm>
            <a:off x="640080" y="1645920"/>
            <a:ext cx="10972800" cy="365760"/>
          </a:xfrm>
          <a:prstGeom prst="rect">
            <a:avLst/>
          </a:prstGeom>
          <a:noFill/>
        </p:spPr>
        <p:txBody>
          <a:bodyPr wrap="square" anchor="t" lIns="45720" rIns="45720" tIns="18288" bIns="18288">
            <a:spAutoFit/>
          </a:bodyPr>
          <a:lstStyle/>
          <a:p>
            <a:pPr algn="l"/>
            <a:r>
              <a:rPr sz="1800" b="1">
                <a:solidFill>
                  <a:srgbClr val="FFCC00"/>
                </a:solidFill>
                <a:latin typeface="Noto Serif CJK JP"/>
                <a:ea typeface="Noto Serif CJK JP"/>
              </a:rPr>
              <a:t>九大核心结论</a:t>
            </a:r>
          </a:p>
        </p:txBody>
      </p:sp>
      <p:sp>
        <p:nvSpPr>
          <p:cNvPr id="7" name="Rectangle 6"/>
          <p:cNvSpPr/>
          <p:nvPr/>
        </p:nvSpPr>
        <p:spPr>
          <a:xfrm>
            <a:off x="640080" y="2194560"/>
            <a:ext cx="365760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2194560"/>
            <a:ext cx="1097280" cy="640080"/>
          </a:xfrm>
          <a:prstGeom prst="rect">
            <a:avLst/>
          </a:prstGeom>
          <a:noFill/>
        </p:spPr>
        <p:txBody>
          <a:bodyPr wrap="square" anchor="ctr" lIns="45720" rIns="45720" tIns="18288" bIns="18288">
            <a:spAutoFit/>
          </a:bodyPr>
          <a:lstStyle/>
          <a:p>
            <a:pPr algn="l"/>
            <a:r>
              <a:rPr sz="1800" b="1">
                <a:solidFill>
                  <a:srgbClr val="003366"/>
                </a:solidFill>
                <a:latin typeface="Noto Serif CJK JP"/>
                <a:ea typeface="Noto Serif CJK JP"/>
              </a:rPr>
              <a:t>01 流程升级</a:t>
            </a:r>
          </a:p>
        </p:txBody>
      </p:sp>
      <p:sp>
        <p:nvSpPr>
          <p:cNvPr id="9" name="TextBox 8"/>
          <p:cNvSpPr txBox="1"/>
          <p:nvPr/>
        </p:nvSpPr>
        <p:spPr>
          <a:xfrm>
            <a:off x="1737360" y="2194560"/>
            <a:ext cx="2468880" cy="6400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从『有没有』到『多聪明』</a:t>
            </a:r>
          </a:p>
        </p:txBody>
      </p:sp>
      <p:sp>
        <p:nvSpPr>
          <p:cNvPr id="10" name="Rectangle 9"/>
          <p:cNvSpPr/>
          <p:nvPr/>
        </p:nvSpPr>
        <p:spPr>
          <a:xfrm>
            <a:off x="4480560" y="2194560"/>
            <a:ext cx="365760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0" y="2194560"/>
            <a:ext cx="1097280" cy="640080"/>
          </a:xfrm>
          <a:prstGeom prst="rect">
            <a:avLst/>
          </a:prstGeom>
          <a:noFill/>
        </p:spPr>
        <p:txBody>
          <a:bodyPr wrap="square" anchor="ctr" lIns="45720" rIns="45720" tIns="18288" bIns="18288">
            <a:spAutoFit/>
          </a:bodyPr>
          <a:lstStyle/>
          <a:p>
            <a:pPr algn="l"/>
            <a:r>
              <a:rPr sz="1800" b="1">
                <a:solidFill>
                  <a:srgbClr val="003366"/>
                </a:solidFill>
                <a:latin typeface="Noto Serif CJK JP"/>
                <a:ea typeface="Noto Serif CJK JP"/>
              </a:rPr>
              <a:t>02 五级标尺</a:t>
            </a:r>
          </a:p>
        </p:txBody>
      </p:sp>
      <p:sp>
        <p:nvSpPr>
          <p:cNvPr id="12" name="TextBox 11"/>
          <p:cNvSpPr txBox="1"/>
          <p:nvPr/>
        </p:nvSpPr>
        <p:spPr>
          <a:xfrm>
            <a:off x="5577840" y="2194560"/>
            <a:ext cx="2468880" cy="6400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L1-L5 跃迁路径</a:t>
            </a:r>
          </a:p>
        </p:txBody>
      </p:sp>
      <p:sp>
        <p:nvSpPr>
          <p:cNvPr id="13" name="Rectangle 12"/>
          <p:cNvSpPr/>
          <p:nvPr/>
        </p:nvSpPr>
        <p:spPr>
          <a:xfrm>
            <a:off x="8321040" y="2194560"/>
            <a:ext cx="365760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80" y="2194560"/>
            <a:ext cx="1097280" cy="640080"/>
          </a:xfrm>
          <a:prstGeom prst="rect">
            <a:avLst/>
          </a:prstGeom>
          <a:noFill/>
        </p:spPr>
        <p:txBody>
          <a:bodyPr wrap="square" anchor="ctr" lIns="45720" rIns="45720" tIns="18288" bIns="18288">
            <a:spAutoFit/>
          </a:bodyPr>
          <a:lstStyle/>
          <a:p>
            <a:pPr algn="l"/>
            <a:r>
              <a:rPr sz="1800" b="1">
                <a:solidFill>
                  <a:srgbClr val="003366"/>
                </a:solidFill>
                <a:latin typeface="Noto Serif CJK JP"/>
                <a:ea typeface="Noto Serif CJK JP"/>
              </a:rPr>
              <a:t>03 四维评估</a:t>
            </a:r>
          </a:p>
        </p:txBody>
      </p:sp>
      <p:sp>
        <p:nvSpPr>
          <p:cNvPr id="15" name="TextBox 14"/>
          <p:cNvSpPr txBox="1"/>
          <p:nvPr/>
        </p:nvSpPr>
        <p:spPr>
          <a:xfrm>
            <a:off x="9418320" y="2194560"/>
            <a:ext cx="2468880" cy="6400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标准+数据+AI+治理</a:t>
            </a:r>
          </a:p>
        </p:txBody>
      </p:sp>
      <p:sp>
        <p:nvSpPr>
          <p:cNvPr id="16" name="Rectangle 15"/>
          <p:cNvSpPr/>
          <p:nvPr/>
        </p:nvSpPr>
        <p:spPr>
          <a:xfrm>
            <a:off x="640080" y="2971800"/>
            <a:ext cx="3657600" cy="640080"/>
          </a:xfrm>
          <a:prstGeom prst="rect">
            <a:avLst/>
          </a:prstGeom>
          <a:solidFill>
            <a:srgbClr val="CC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1520" y="2971800"/>
            <a:ext cx="1097280" cy="640080"/>
          </a:xfrm>
          <a:prstGeom prst="rect">
            <a:avLst/>
          </a:prstGeom>
          <a:noFill/>
        </p:spPr>
        <p:txBody>
          <a:bodyPr wrap="square" anchor="ctr" lIns="45720" rIns="45720" tIns="18288" bIns="18288">
            <a:spAutoFit/>
          </a:bodyPr>
          <a:lstStyle/>
          <a:p>
            <a:pPr algn="l"/>
            <a:r>
              <a:rPr sz="1800" b="1">
                <a:solidFill>
                  <a:srgbClr val="003366"/>
                </a:solidFill>
                <a:latin typeface="Noto Serif CJK JP"/>
                <a:ea typeface="Noto Serif CJK JP"/>
              </a:rPr>
              <a:t>04 瓶颈定律</a:t>
            </a:r>
          </a:p>
        </p:txBody>
      </p:sp>
      <p:sp>
        <p:nvSpPr>
          <p:cNvPr id="18" name="TextBox 17"/>
          <p:cNvSpPr txBox="1"/>
          <p:nvPr/>
        </p:nvSpPr>
        <p:spPr>
          <a:xfrm>
            <a:off x="1737360" y="2971800"/>
            <a:ext cx="2468880" cy="6400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最弱维度决定等级</a:t>
            </a:r>
          </a:p>
        </p:txBody>
      </p:sp>
      <p:sp>
        <p:nvSpPr>
          <p:cNvPr id="19" name="Rectangle 18"/>
          <p:cNvSpPr/>
          <p:nvPr/>
        </p:nvSpPr>
        <p:spPr>
          <a:xfrm>
            <a:off x="4480560" y="2971800"/>
            <a:ext cx="3657600" cy="640080"/>
          </a:xfrm>
          <a:prstGeom prst="rect">
            <a:avLst/>
          </a:prstGeom>
          <a:solidFill>
            <a:srgbClr val="CC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572000" y="2971800"/>
            <a:ext cx="1097280" cy="640080"/>
          </a:xfrm>
          <a:prstGeom prst="rect">
            <a:avLst/>
          </a:prstGeom>
          <a:noFill/>
        </p:spPr>
        <p:txBody>
          <a:bodyPr wrap="square" anchor="ctr" lIns="45720" rIns="45720" tIns="18288" bIns="18288">
            <a:spAutoFit/>
          </a:bodyPr>
          <a:lstStyle/>
          <a:p>
            <a:pPr algn="l"/>
            <a:r>
              <a:rPr sz="1800" b="1">
                <a:solidFill>
                  <a:srgbClr val="003366"/>
                </a:solidFill>
                <a:latin typeface="Noto Serif CJK JP"/>
                <a:ea typeface="Noto Serif CJK JP"/>
              </a:rPr>
              <a:t>05 AI 不能跳过基础</a:t>
            </a:r>
          </a:p>
        </p:txBody>
      </p:sp>
      <p:sp>
        <p:nvSpPr>
          <p:cNvPr id="21" name="TextBox 20"/>
          <p:cNvSpPr txBox="1"/>
          <p:nvPr/>
        </p:nvSpPr>
        <p:spPr>
          <a:xfrm>
            <a:off x="5577840" y="2971800"/>
            <a:ext cx="2468880" cy="6400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数据贯通是 AI 前提</a:t>
            </a:r>
          </a:p>
        </p:txBody>
      </p:sp>
      <p:sp>
        <p:nvSpPr>
          <p:cNvPr id="22" name="Rectangle 21"/>
          <p:cNvSpPr/>
          <p:nvPr/>
        </p:nvSpPr>
        <p:spPr>
          <a:xfrm>
            <a:off x="8321040" y="2971800"/>
            <a:ext cx="3657600" cy="640080"/>
          </a:xfrm>
          <a:prstGeom prst="rect">
            <a:avLst/>
          </a:prstGeom>
          <a:solidFill>
            <a:srgbClr val="CC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80" y="2971800"/>
            <a:ext cx="1097280" cy="640080"/>
          </a:xfrm>
          <a:prstGeom prst="rect">
            <a:avLst/>
          </a:prstGeom>
          <a:noFill/>
        </p:spPr>
        <p:txBody>
          <a:bodyPr wrap="square" anchor="ctr" lIns="45720" rIns="45720" tIns="18288" bIns="18288">
            <a:spAutoFit/>
          </a:bodyPr>
          <a:lstStyle/>
          <a:p>
            <a:pPr algn="l"/>
            <a:r>
              <a:rPr sz="1800" b="1">
                <a:solidFill>
                  <a:srgbClr val="003366"/>
                </a:solidFill>
                <a:latin typeface="Noto Serif CJK JP"/>
                <a:ea typeface="Noto Serif CJK JP"/>
              </a:rPr>
              <a:t>06 标杆路径已验证</a:t>
            </a:r>
          </a:p>
        </p:txBody>
      </p:sp>
      <p:sp>
        <p:nvSpPr>
          <p:cNvPr id="24" name="TextBox 23"/>
          <p:cNvSpPr txBox="1"/>
          <p:nvPr/>
        </p:nvSpPr>
        <p:spPr>
          <a:xfrm>
            <a:off x="9418320" y="2971800"/>
            <a:ext cx="2468880" cy="6400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华为/Celonis/美的</a:t>
            </a:r>
          </a:p>
        </p:txBody>
      </p:sp>
      <p:sp>
        <p:nvSpPr>
          <p:cNvPr id="25" name="Rectangle 24"/>
          <p:cNvSpPr/>
          <p:nvPr/>
        </p:nvSpPr>
        <p:spPr>
          <a:xfrm>
            <a:off x="640080" y="3749039"/>
            <a:ext cx="3657600" cy="640080"/>
          </a:xfrm>
          <a:prstGeom prst="rect">
            <a:avLst/>
          </a:prstGeom>
          <a:solidFill>
            <a:srgbClr val="CC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31520" y="3749039"/>
            <a:ext cx="1097280" cy="640080"/>
          </a:xfrm>
          <a:prstGeom prst="rect">
            <a:avLst/>
          </a:prstGeom>
          <a:noFill/>
        </p:spPr>
        <p:txBody>
          <a:bodyPr wrap="square" anchor="ctr" lIns="45720" rIns="45720" tIns="18288" bIns="18288">
            <a:spAutoFit/>
          </a:bodyPr>
          <a:lstStyle/>
          <a:p>
            <a:pPr algn="l"/>
            <a:r>
              <a:rPr sz="1800" b="1">
                <a:solidFill>
                  <a:srgbClr val="003366"/>
                </a:solidFill>
                <a:latin typeface="Noto Serif CJK JP"/>
                <a:ea typeface="Noto Serif CJK JP"/>
              </a:rPr>
              <a:t>07 2026 转折年</a:t>
            </a:r>
          </a:p>
        </p:txBody>
      </p:sp>
      <p:sp>
        <p:nvSpPr>
          <p:cNvPr id="27" name="TextBox 26"/>
          <p:cNvSpPr txBox="1"/>
          <p:nvPr/>
        </p:nvSpPr>
        <p:spPr>
          <a:xfrm>
            <a:off x="1737360" y="3749039"/>
            <a:ext cx="2468880" cy="6400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概念进入规模化</a:t>
            </a:r>
          </a:p>
        </p:txBody>
      </p:sp>
      <p:sp>
        <p:nvSpPr>
          <p:cNvPr id="28" name="Rectangle 27"/>
          <p:cNvSpPr/>
          <p:nvPr/>
        </p:nvSpPr>
        <p:spPr>
          <a:xfrm>
            <a:off x="4480560" y="3749039"/>
            <a:ext cx="3657600" cy="640080"/>
          </a:xfrm>
          <a:prstGeom prst="rect">
            <a:avLst/>
          </a:prstGeom>
          <a:solidFill>
            <a:srgbClr val="CC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572000" y="3749039"/>
            <a:ext cx="1097280" cy="640080"/>
          </a:xfrm>
          <a:prstGeom prst="rect">
            <a:avLst/>
          </a:prstGeom>
          <a:noFill/>
        </p:spPr>
        <p:txBody>
          <a:bodyPr wrap="square" anchor="ctr" lIns="45720" rIns="45720" tIns="18288" bIns="18288">
            <a:spAutoFit/>
          </a:bodyPr>
          <a:lstStyle/>
          <a:p>
            <a:pPr algn="l"/>
            <a:r>
              <a:rPr sz="1800" b="1">
                <a:solidFill>
                  <a:srgbClr val="003366"/>
                </a:solidFill>
                <a:latin typeface="Noto Serif CJK JP"/>
                <a:ea typeface="Noto Serif CJK JP"/>
              </a:rPr>
              <a:t>08 路线图清晰</a:t>
            </a:r>
          </a:p>
        </p:txBody>
      </p:sp>
      <p:sp>
        <p:nvSpPr>
          <p:cNvPr id="30" name="TextBox 29"/>
          <p:cNvSpPr txBox="1"/>
          <p:nvPr/>
        </p:nvSpPr>
        <p:spPr>
          <a:xfrm>
            <a:off x="5577840" y="3749039"/>
            <a:ext cx="2468880" cy="6400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0-6/6-12/12-24</a:t>
            </a:r>
          </a:p>
        </p:txBody>
      </p:sp>
      <p:sp>
        <p:nvSpPr>
          <p:cNvPr id="31" name="Rectangle 30"/>
          <p:cNvSpPr/>
          <p:nvPr/>
        </p:nvSpPr>
        <p:spPr>
          <a:xfrm>
            <a:off x="8321040" y="3749039"/>
            <a:ext cx="3657600" cy="640080"/>
          </a:xfrm>
          <a:prstGeom prst="rect">
            <a:avLst/>
          </a:prstGeom>
          <a:solidFill>
            <a:srgbClr val="CCD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412480" y="3749039"/>
            <a:ext cx="1097280" cy="640080"/>
          </a:xfrm>
          <a:prstGeom prst="rect">
            <a:avLst/>
          </a:prstGeom>
          <a:noFill/>
        </p:spPr>
        <p:txBody>
          <a:bodyPr wrap="square" anchor="ctr" lIns="45720" rIns="45720" tIns="18288" bIns="18288">
            <a:spAutoFit/>
          </a:bodyPr>
          <a:lstStyle/>
          <a:p>
            <a:pPr algn="l"/>
            <a:r>
              <a:rPr sz="1800" b="1">
                <a:solidFill>
                  <a:srgbClr val="003366"/>
                </a:solidFill>
                <a:latin typeface="Noto Serif CJK JP"/>
                <a:ea typeface="Noto Serif CJK JP"/>
              </a:rPr>
              <a:t>09 核心标尺</a:t>
            </a:r>
          </a:p>
        </p:txBody>
      </p:sp>
      <p:sp>
        <p:nvSpPr>
          <p:cNvPr id="33" name="TextBox 32"/>
          <p:cNvSpPr txBox="1"/>
          <p:nvPr/>
        </p:nvSpPr>
        <p:spPr>
          <a:xfrm>
            <a:off x="9418320" y="3749039"/>
            <a:ext cx="2468880" cy="640080"/>
          </a:xfrm>
          <a:prstGeom prst="rect">
            <a:avLst/>
          </a:prstGeom>
          <a:noFill/>
        </p:spPr>
        <p:txBody>
          <a:bodyPr wrap="square" anchor="ctr" lIns="45720" rIns="45720" tIns="18288" bIns="18288">
            <a:spAutoFit/>
          </a:bodyPr>
          <a:lstStyle/>
          <a:p>
            <a:pPr algn="l"/>
            <a:r>
              <a:rPr sz="1200" b="1">
                <a:solidFill>
                  <a:srgbClr val="003366"/>
                </a:solidFill>
                <a:latin typeface="Noto Serif CJK JP"/>
                <a:ea typeface="Noto Serif CJK JP"/>
              </a:rPr>
              <a:t>AI 转型前置条件</a:t>
            </a:r>
          </a:p>
        </p:txBody>
      </p:sp>
      <p:sp>
        <p:nvSpPr>
          <p:cNvPr id="34" name="TextBox 33"/>
          <p:cNvSpPr txBox="1"/>
          <p:nvPr/>
        </p:nvSpPr>
        <p:spPr>
          <a:xfrm>
            <a:off x="640080" y="4937760"/>
            <a:ext cx="10972800" cy="365760"/>
          </a:xfrm>
          <a:prstGeom prst="rect">
            <a:avLst/>
          </a:prstGeom>
          <a:noFill/>
        </p:spPr>
        <p:txBody>
          <a:bodyPr wrap="square" anchor="t" lIns="45720" rIns="45720" tIns="18288" bIns="18288">
            <a:spAutoFit/>
          </a:bodyPr>
          <a:lstStyle/>
          <a:p>
            <a:pPr algn="l"/>
            <a:r>
              <a:rPr sz="1800" b="1">
                <a:solidFill>
                  <a:srgbClr val="FFCC00"/>
                </a:solidFill>
                <a:latin typeface="Noto Serif CJK JP"/>
                <a:ea typeface="Noto Serif CJK JP"/>
              </a:rPr>
              <a:t>总结寄语</a:t>
            </a:r>
          </a:p>
        </p:txBody>
      </p:sp>
      <p:sp>
        <p:nvSpPr>
          <p:cNvPr id="35" name="TextBox 34"/>
          <p:cNvSpPr txBox="1"/>
          <p:nvPr/>
        </p:nvSpPr>
        <p:spPr>
          <a:xfrm>
            <a:off x="640080" y="5349240"/>
            <a:ext cx="10972800" cy="731520"/>
          </a:xfrm>
          <a:prstGeom prst="rect">
            <a:avLst/>
          </a:prstGeom>
          <a:noFill/>
        </p:spPr>
        <p:txBody>
          <a:bodyPr wrap="square" lIns="45720" rIns="45720">
            <a:spAutoFit/>
          </a:bodyPr>
          <a:lstStyle/>
          <a:p>
            <a:pPr algn="l">
              <a:lnSpc>
                <a:spcPct val="130000"/>
              </a:lnSpc>
            </a:pPr>
            <a:r>
              <a:rPr sz="1200" b="0">
                <a:solidFill>
                  <a:srgbClr val="FFFFFF"/>
                </a:solidFill>
                <a:latin typeface="Noto Serif CJK JP"/>
                <a:ea typeface="Noto Serif CJK JP"/>
              </a:rPr>
              <a:t>流程管理的终极形态不是一套完美的流程图，而是从每一次执行中学习、从每一次异常中进化、让 AI 替你完成重复性决策的活系统</a:t>
            </a:r>
          </a:p>
          <a:p>
            <a:pPr algn="l">
              <a:lnSpc>
                <a:spcPct val="130000"/>
              </a:lnSpc>
            </a:pPr>
            <a:r>
              <a:rPr sz="1200" b="0">
                <a:solidFill>
                  <a:srgbClr val="FFFFFF"/>
                </a:solidFill>
                <a:latin typeface="Noto Serif CJK JP"/>
                <a:ea typeface="Noto Serif CJK JP"/>
              </a:rPr>
              <a:t>这份自评模型，就是踏上这条进化之路的第一块里程碑</a:t>
            </a:r>
          </a:p>
        </p:txBody>
      </p:sp>
      <p:sp>
        <p:nvSpPr>
          <p:cNvPr id="36" name="TextBox 35"/>
          <p:cNvSpPr txBox="1"/>
          <p:nvPr/>
        </p:nvSpPr>
        <p:spPr>
          <a:xfrm>
            <a:off x="640080" y="6126480"/>
            <a:ext cx="10972800" cy="365760"/>
          </a:xfrm>
          <a:prstGeom prst="rect">
            <a:avLst/>
          </a:prstGeom>
          <a:noFill/>
        </p:spPr>
        <p:txBody>
          <a:bodyPr wrap="square" anchor="t" lIns="45720" rIns="45720" tIns="18288" bIns="18288">
            <a:spAutoFit/>
          </a:bodyPr>
          <a:lstStyle/>
          <a:p>
            <a:pPr algn="ctr"/>
            <a:r>
              <a:rPr sz="1200" b="1">
                <a:solidFill>
                  <a:srgbClr val="FFCC00"/>
                </a:solidFill>
                <a:latin typeface="Noto Serif CJK JP"/>
                <a:ea typeface="Noto Serif CJK JP"/>
              </a:rPr>
              <a:t>→ 评估当前等级 → 定位最弱维度 → 建立改进路线图 → 季度复评迭代</a:t>
            </a:r>
          </a:p>
        </p:txBody>
      </p:sp>
      <p:sp>
        <p:nvSpPr>
          <p:cNvPr id="37" name="TextBox 36"/>
          <p:cNvSpPr txBox="1"/>
          <p:nvPr/>
        </p:nvSpPr>
        <p:spPr>
          <a:xfrm>
            <a:off x="640080" y="6446520"/>
            <a:ext cx="10972800" cy="274320"/>
          </a:xfrm>
          <a:prstGeom prst="rect">
            <a:avLst/>
          </a:prstGeom>
          <a:noFill/>
        </p:spPr>
        <p:txBody>
          <a:bodyPr wrap="square" anchor="t" lIns="45720" rIns="45720" tIns="18288" bIns="18288">
            <a:spAutoFit/>
          </a:bodyPr>
          <a:lstStyle/>
          <a:p>
            <a:pPr algn="ctr"/>
            <a:r>
              <a:rPr sz="1400" b="1">
                <a:solidFill>
                  <a:srgbClr val="FFFFFF"/>
                </a:solidFill>
                <a:latin typeface="Noto Serif CJK JP"/>
                <a:ea typeface="Noto Serif CJK JP"/>
              </a:rPr>
              <a:t>从评估开始，从短板突破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