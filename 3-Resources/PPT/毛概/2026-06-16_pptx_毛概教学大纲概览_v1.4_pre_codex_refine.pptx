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封面页讲解建议：1）这是全课程的「地图」，建议在第一堂课开课前 5 分钟快速过一遍课程整体结构；2）强调 16 专题 / 48 学时 / 教师可讲性三项基本信息；3）不必逐项介绍，可让学生翻到结构总览页。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 4 学时「分两讲」节奏建议：1）第一讲讲「讲什么 / 不讲什么」让学生知道课程边界；2）第二讲讲「学完可以获得什么」激发学习动机；3）「建议学习方式」可以让学生自己读，不必逐项念。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节奏：1）知识目标是「学什么」，可与教材目录对应；2）能力目标是「学了能做什么」，是期末考试应用题的核心；3）素养目标是「学了变成什么样的人」，是「思政」两字的落脚点。三个目标不是割裂的，而是同一过程的三个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全课程的「骨架页」。讲解顺序：1）从「3 部分」讲起——这是教材的官方结构；2）强调每个部分要回答的核心问题（Part1：中国化时代化是什么；Part2：毛泽东思想；Part3：中国特色社会主义）；3）学时分配要让学生知道哪些专题是「重头」（第二部分 15 学时、第三部分 25 学时）。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学时分配讲解要点：1）48 学时 = 理论 42 + 实践 6；2）第十章「习近平新时代」6 学时是绝对重点；3）第十一—十六章 14 学时是「分领域展开」。教学方法部分强调「混合式」是当下思政课的主流——线上学知识、线下练能力。</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专题1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【教师讲稿提示】本专题是全课程的「地图」。讲授节奏：1）用「中国为什么走自己的路」导入；2）重点讲清「两个结合」里第二个结合被特别强调的当代意义；3）强调「两次飞跃」是后 14 专题的总纲。</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重点：马克思主义中国化时代化的必要性；科学内涵；理论成果及其关系。</a:t>
            </a:r>
          </a:p>
          <a:p>
            <a:r>
              <a:t>难点：中国为什么选择了马克思主义；如何讲清马克思主义中国化时代化的必要性。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专题2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4 学时，建议分两讲。第一讲讲形成发展和活的灵魂；第二讲讲历史地位和科学评价。第二讲结尾可让学生思考：今天我们仍要学毛泽东思想，是不是只学「方法」不学「具体结论」？</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重点：毛泽东思想的主要内容和活的灵魂；科学认识毛泽东和毛泽东思想的历史地位。</a:t>
            </a:r>
          </a:p>
          <a:p>
            <a:r>
              <a:t>难点：正确区分毛泽东晚年错误与毛泽东思想科学体系；科学评价历史人物。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专题3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学生最容易混的是「新民主主义」与「社会主义」两个阶段。要反复强调：新民主主义革命是第一步，建立新中国；社会主义革命是第二步，建立社会主义制度。两者不能合并也不能颠倒。</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重点：近代中国基本国情；革命的根本任务；新民主主义革命道路。</a:t>
            </a:r>
          </a:p>
          <a:p>
            <a:r>
              <a:t>难点：新民主主义革命的性质（不是旧民主主义也不是社会主义）；半殖民地半封建社会革命的特殊性。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专题4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【教师讲稿提示】本专题要讲清「过渡」的逻辑：不是「立即搞社会主义」，而是先让新民主主义稳态运转 3-4 年（1949-1953），再通过「一化三改」过渡。学生常问：为什么不直接搞社会主义？答案在新中国成立初期的政治经济条件。</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重点：过渡的历史必然性；过渡时期总路线；社会主义改造的历史经验。</a:t>
            </a:r>
          </a:p>
          <a:p>
            <a:r>
              <a:t>难点：过渡的历史必然性论证；「只有社会主义能够救中国」的逻辑支撑。</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专题5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3 学时，建议「2 讲 + 1 研讨」。重点是「成就与曲折」不要非黑即白——1978 年后改革开放能启动，正是基于这一时期奠定的工业基础。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重点：正确认识和处理社会主义社会矛盾；走中国工业化道路。</a:t>
            </a:r>
          </a:p>
          <a:p>
            <a:r>
              <a:t>难点：探索的经验教训；成就与曲折的辩证关系。</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专题6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【教师讲稿提示】本专题是「全课程第二地图」。要让学生看到：第二次飞跃是后 8 个专题的总纲，每个理论成果都回答一个核心问题。</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专题7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4 学时，建议「南方谈话」原文精读 30 分钟。核心要让学生理解：邓小平回答的不是「要不要改革」而是「改革为了什么」（共同富裕）。</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专题8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2 学时，重点是「三个代表」不是三件独立事，而是对党的先进性的三重检验。建议用「代表不了会怎样」反向讲解。</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专题9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【教师讲稿提示】本专题是「三次飞跃」的过渡环节。讲授节奏：1）讲清「为什么不再单纯要 GDP」；2）解释「以人为本」的政治哲学；3）引出下一章的「五位一体」总体布局。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本章 6 学时「位置 + 历史地位」讲解节奏：</a:t>
            </a:r>
          </a:p>
          <a:p>
            <a:r>
              <a:t>1）先点出本章是「全课程核心章节」（6 学时是 16 专题中最多）；</a:t>
            </a:r>
          </a:p>
          <a:p>
            <a:r>
              <a:t>2）四重历史地位不是套话——每条都有针对性：最新理论成果（纵向）、行动指南（实践）、21 世纪马克思主义（横向世界意义）、中华文化时代精华（第二个结合）。</a:t>
            </a:r>
          </a:p>
          <a:p>
            <a:r>
              <a:t>3）下一页进「十个明确」。</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十个明确讲解节奏：</a:t>
            </a:r>
          </a:p>
          <a:p>
            <a:r>
              <a:t>1）不要逐条念——这页是「参考表」性质；</a:t>
            </a:r>
          </a:p>
          <a:p>
            <a:r>
              <a:t>2）重点讲 3 条：第 1（总任务） + 第 3（五位一体/四个全面） + 第 7（以人民为中心）；</a:t>
            </a:r>
          </a:p>
          <a:p>
            <a:r>
              <a:t>3）其他 7 条可以「点到即止」，让学生课后看教材。</a:t>
            </a:r>
          </a:p>
          <a:p>
            <a:r>
              <a:t>4）强调「十个明确」是「怎么看」——下一页「十四个坚持」是「怎么办」。</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十四个坚持讲解节奏：</a:t>
            </a:r>
          </a:p>
          <a:p>
            <a:r>
              <a:t>1）上页「十个明确」是「怎么看」——这是理论判断；</a:t>
            </a:r>
          </a:p>
          <a:p>
            <a:r>
              <a:t>2）本页「十四个坚持」是「怎么办」——这是行动纲领；</a:t>
            </a:r>
          </a:p>
          <a:p>
            <a:r>
              <a:t>3）两者是同一棵树的「根」与「干」——不要割裂。</a:t>
            </a:r>
          </a:p>
          <a:p>
            <a:r>
              <a:t>4）重点讲 1（党领导）、3（改革）、13（人类命运共同体）三条，其他可让学生自读。</a:t>
            </a:r>
          </a:p>
          <a:p>
            <a:r>
              <a:t>5）6 学时分配建议：1 学时讲位置 / 3 学时讲十个明确 / 2 学时讲十四个坚持 + 讨论。</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经济 + 政治两个领域讲解节奏：</a:t>
            </a:r>
          </a:p>
          <a:p>
            <a:r>
              <a:t>1）经济 1.5 学时：重点是「基本经济制度 + 新发展理念」——「两个为主体」+「五维理念」是中国经济长期发展的制度底座；</a:t>
            </a:r>
          </a:p>
          <a:p>
            <a:r>
              <a:t>2）政治 1 学时：重点是「四项基本制度 + 三统一」——避免与西方多党制简单对比。</a:t>
            </a:r>
          </a:p>
          <a:p>
            <a:r>
              <a:t>3）讲课时推荐：经济用「华为/比亚迪/深圳」案例；政治用「全过程人民民主」/「政协协商」案例。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文化 + 社会两个领域讲解节奏：</a:t>
            </a:r>
          </a:p>
          <a:p>
            <a:r>
              <a:t>1）文化 1 学时：重点是「24 字核心价值观 + 两个转化」—— 24 字要分三层讲清；</a:t>
            </a:r>
          </a:p>
          <a:p>
            <a:r>
              <a:t>2）社会 1 学时：重点是「以人民为中心 + 民生七有」——七有是民生政策的总清单；</a:t>
            </a:r>
          </a:p>
          <a:p>
            <a:r>
              <a:t>3）案例推荐：文化——「哪吒 2」100 亿/孔子学院走出去；社会——脱贫攻坚/健康中国/老旧小区改造。</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生态文明 + 现代化讲解节奏：</a:t>
            </a:r>
          </a:p>
          <a:p>
            <a:r>
              <a:t>1）生态 1 学时：核心是「两山论」——这是把生态问题提升到发展哲学高度的命题，不是「保护环境」的口号；</a:t>
            </a:r>
          </a:p>
          <a:p>
            <a:r>
              <a:t>2）现代化 2 学时：核心是「两步走 + 中国式现代化五个特征」——五个特征是中国区别于西方现代化的标识。</a:t>
            </a:r>
          </a:p>
          <a:p>
            <a:r>
              <a:t>3）这是 16 专题的收官，下一节进入课程总结与考核。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考核方式讲解节奏：</a:t>
            </a:r>
          </a:p>
          <a:p>
            <a:r>
              <a:t>1）平时 40% 强调「过程性」——不是「一考定终身」；</a:t>
            </a:r>
          </a:p>
          <a:p>
            <a:r>
              <a:t>2）期末 60% 题型覆盖「知识 + 能力 + 素养」三维目标；</a:t>
            </a:r>
          </a:p>
          <a:p>
            <a:r>
              <a:t>3）教材 2023 修订版是各高校通用版本，请学生务必买齐。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教学进度表讲解节奏：</a:t>
            </a:r>
          </a:p>
          <a:p>
            <a:r>
              <a:t>1）按周展示让学生知道「什么时候考什么」；</a:t>
            </a:r>
          </a:p>
          <a:p>
            <a:r>
              <a:t>2）重点提示：第 14-16 周是「习近三页」的对应周次（3 周 6 学时）；</a:t>
            </a:r>
          </a:p>
          <a:p>
            <a:r>
              <a:t>3）实践教学「分散」是 6 学时——按学校安排插空进行。</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总结页讲解节奏：</a:t>
            </a:r>
          </a:p>
          <a:p>
            <a:r>
              <a:t>1）3 概念是全课程「提纲」——期末考试论述题必备；</a:t>
            </a:r>
          </a:p>
          <a:p>
            <a:r>
              <a:t>2）2 方法是「工具」——遇到案例题就用得着；</a:t>
            </a:r>
          </a:p>
          <a:p>
            <a:r>
              <a:t>3）1 风险是「避坑提示」——很多学生把思政课学成「背诵」就是落入了这个风险。</a:t>
            </a:r>
          </a:p>
          <a:p>
            <a:r>
              <a:t>4）4 类作业要重点强调「实践作业」——「大学生讲思政课」是本课程最有特色的环节。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91440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高校思想政治理论课 · 通识教育必修</a:t>
            </a:r>
          </a:p>
        </p:txBody>
      </p:sp>
      <p:sp>
        <p:nvSpPr>
          <p:cNvPr id="5" name="TextBox 4"/>
          <p:cNvSpPr txBox="1"/>
          <p:nvPr/>
        </p:nvSpPr>
        <p:spPr>
          <a:xfrm>
            <a:off x="731520" y="1051560"/>
            <a:ext cx="10972800" cy="914400"/>
          </a:xfrm>
          <a:prstGeom prst="rect">
            <a:avLst/>
          </a:prstGeom>
          <a:noFill/>
        </p:spPr>
        <p:txBody>
          <a:bodyPr wrap="square" lIns="45720" rIns="45720" tIns="18288" bIns="18288" anchor="t">
            <a:spAutoFit/>
          </a:bodyPr>
          <a:lstStyle/>
          <a:p>
            <a:pPr algn="l">
              <a:lnSpc>
                <a:spcPct val="120000"/>
              </a:lnSpc>
            </a:pPr>
            <a:r>
              <a:rPr sz="3800" b="1">
                <a:solidFill>
                  <a:srgbClr val="FAF7F2"/>
                </a:solidFill>
                <a:latin typeface="思源黑体"/>
                <a:eastAsia typeface="思源黑体"/>
                <a:cs typeface="思源黑体"/>
                <a:ascii typeface="思源黑体"/>
              </a:rPr>
              <a:t>毛泽东思想和中国特色社会主义</a:t>
            </a:r>
          </a:p>
        </p:txBody>
      </p:sp>
      <p:sp>
        <p:nvSpPr>
          <p:cNvPr id="6" name="TextBox 5"/>
          <p:cNvSpPr txBox="1"/>
          <p:nvPr/>
        </p:nvSpPr>
        <p:spPr>
          <a:xfrm>
            <a:off x="731520" y="1691640"/>
            <a:ext cx="10972800" cy="731520"/>
          </a:xfrm>
          <a:prstGeom prst="rect">
            <a:avLst/>
          </a:prstGeom>
          <a:noFill/>
        </p:spPr>
        <p:txBody>
          <a:bodyPr wrap="square" lIns="45720" rIns="45720" tIns="18288" bIns="18288" anchor="t">
            <a:spAutoFit/>
          </a:bodyPr>
          <a:lstStyle/>
          <a:p>
            <a:pPr algn="l">
              <a:lnSpc>
                <a:spcPct val="120000"/>
              </a:lnSpc>
            </a:pPr>
            <a:r>
              <a:rPr sz="3800" b="1">
                <a:solidFill>
                  <a:srgbClr val="FAF7F2"/>
                </a:solidFill>
                <a:latin typeface="思源黑体"/>
                <a:eastAsia typeface="思源黑体"/>
                <a:cs typeface="思源黑体"/>
                <a:ascii typeface="思源黑体"/>
              </a:rPr>
              <a:t>理论体系概论</a:t>
            </a:r>
          </a:p>
        </p:txBody>
      </p:sp>
      <p:sp>
        <p:nvSpPr>
          <p:cNvPr id="7" name="TextBox 6"/>
          <p:cNvSpPr txBox="1"/>
          <p:nvPr/>
        </p:nvSpPr>
        <p:spPr>
          <a:xfrm>
            <a:off x="731520" y="2697480"/>
            <a:ext cx="10972800" cy="457200"/>
          </a:xfrm>
          <a:prstGeom prst="rect">
            <a:avLst/>
          </a:prstGeom>
          <a:noFill/>
        </p:spPr>
        <p:txBody>
          <a:bodyPr wrap="square" lIns="45720" rIns="45720" tIns="18288" bIns="18288" anchor="t">
            <a:spAutoFit/>
          </a:bodyPr>
          <a:lstStyle/>
          <a:p>
            <a:pPr algn="l">
              <a:lnSpc>
                <a:spcPct val="120000"/>
              </a:lnSpc>
            </a:pPr>
            <a:r>
              <a:rPr sz="1600" b="0">
                <a:solidFill>
                  <a:srgbClr val="6B6B6B"/>
                </a:solidFill>
                <a:latin typeface="思源黑体"/>
                <a:eastAsia typeface="思源黑体"/>
                <a:cs typeface="思源黑体"/>
                <a:ascii typeface="思源黑体"/>
              </a:rPr>
              <a:t>教学大纲概览 · 课程结构 · 教学方法 · 考核方式</a:t>
            </a:r>
          </a:p>
        </p:txBody>
      </p:sp>
      <p:sp>
        <p:nvSpPr>
          <p:cNvPr id="8" name="Rectangle 7"/>
          <p:cNvSpPr/>
          <p:nvPr/>
        </p:nvSpPr>
        <p:spPr>
          <a:xfrm>
            <a:off x="457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课程代码</a:t>
            </a:r>
          </a:p>
        </p:txBody>
      </p:sp>
      <p:sp>
        <p:nvSpPr>
          <p:cNvPr id="10" name="TextBox 9"/>
          <p:cNvSpPr txBox="1"/>
          <p:nvPr/>
        </p:nvSpPr>
        <p:spPr>
          <a:xfrm>
            <a:off x="594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15010017</a:t>
            </a:r>
          </a:p>
        </p:txBody>
      </p:sp>
      <p:sp>
        <p:nvSpPr>
          <p:cNvPr id="11" name="Rectangle 10"/>
          <p:cNvSpPr/>
          <p:nvPr/>
        </p:nvSpPr>
        <p:spPr>
          <a:xfrm>
            <a:off x="2743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学分 / 学时</a:t>
            </a:r>
          </a:p>
        </p:txBody>
      </p:sp>
      <p:sp>
        <p:nvSpPr>
          <p:cNvPr id="13" name="TextBox 12"/>
          <p:cNvSpPr txBox="1"/>
          <p:nvPr/>
        </p:nvSpPr>
        <p:spPr>
          <a:xfrm>
            <a:off x="2880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3 学分 / 48 学时</a:t>
            </a:r>
          </a:p>
        </p:txBody>
      </p:sp>
      <p:sp>
        <p:nvSpPr>
          <p:cNvPr id="14" name="Rectangle 13"/>
          <p:cNvSpPr/>
          <p:nvPr/>
        </p:nvSpPr>
        <p:spPr>
          <a:xfrm>
            <a:off x="5029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授课对象</a:t>
            </a:r>
          </a:p>
        </p:txBody>
      </p:sp>
      <p:sp>
        <p:nvSpPr>
          <p:cNvPr id="16" name="TextBox 15"/>
          <p:cNvSpPr txBox="1"/>
          <p:nvPr/>
        </p:nvSpPr>
        <p:spPr>
          <a:xfrm>
            <a:off x="5166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全校本科生</a:t>
            </a:r>
          </a:p>
        </p:txBody>
      </p:sp>
      <p:sp>
        <p:nvSpPr>
          <p:cNvPr id="17" name="Rectangle 16"/>
          <p:cNvSpPr/>
          <p:nvPr/>
        </p:nvSpPr>
        <p:spPr>
          <a:xfrm>
            <a:off x="7315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开课学期</a:t>
            </a:r>
          </a:p>
        </p:txBody>
      </p:sp>
      <p:sp>
        <p:nvSpPr>
          <p:cNvPr id="19" name="TextBox 18"/>
          <p:cNvSpPr txBox="1"/>
          <p:nvPr/>
        </p:nvSpPr>
        <p:spPr>
          <a:xfrm>
            <a:off x="7452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第 3 或第 4 学期</a:t>
            </a:r>
          </a:p>
        </p:txBody>
      </p:sp>
      <p:sp>
        <p:nvSpPr>
          <p:cNvPr id="20" name="Rectangle 19"/>
          <p:cNvSpPr/>
          <p:nvPr/>
        </p:nvSpPr>
        <p:spPr>
          <a:xfrm>
            <a:off x="9601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教材</a:t>
            </a:r>
          </a:p>
        </p:txBody>
      </p:sp>
      <p:sp>
        <p:nvSpPr>
          <p:cNvPr id="22" name="TextBox 21"/>
          <p:cNvSpPr txBox="1"/>
          <p:nvPr/>
        </p:nvSpPr>
        <p:spPr>
          <a:xfrm>
            <a:off x="9738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2023 年修订版</a:t>
            </a:r>
          </a:p>
        </p:txBody>
      </p:sp>
      <p:sp>
        <p:nvSpPr>
          <p:cNvPr id="23" name="TextBox 22"/>
          <p:cNvSpPr txBox="1"/>
          <p:nvPr/>
        </p:nvSpPr>
        <p:spPr>
          <a:xfrm>
            <a:off x="548640" y="6126480"/>
            <a:ext cx="109728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教育部 2023 版统编教材 · 高等教育出版社</a:t>
            </a:r>
          </a:p>
        </p:txBody>
      </p:sp>
      <p:sp>
        <p:nvSpPr>
          <p:cNvPr id="24" name="TextBox 23"/>
          <p:cNvSpPr txBox="1"/>
          <p:nvPr/>
        </p:nvSpPr>
        <p:spPr>
          <a:xfrm>
            <a:off x="548640" y="6355080"/>
            <a:ext cx="109728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v1.4 教育咨询 PPT 技能 · 按教师可讲性标准设计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ABSTRACT</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课程摘要</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本课程讲什么</a:t>
            </a:r>
          </a:p>
        </p:txBody>
      </p:sp>
      <p:sp>
        <p:nvSpPr>
          <p:cNvPr id="8" name="TextBox 7"/>
          <p:cNvSpPr txBox="1"/>
          <p:nvPr/>
        </p:nvSpPr>
        <p:spPr>
          <a:xfrm>
            <a:off x="594360" y="1627632"/>
            <a:ext cx="5669280" cy="1828800"/>
          </a:xfrm>
          <a:prstGeom prst="rect">
            <a:avLst/>
          </a:prstGeom>
          <a:noFill/>
        </p:spPr>
        <p:txBody>
          <a:bodyPr wrap="square" lIns="45720" rIns="45720" tIns="18288" bIns="18288">
            <a:spAutoFit/>
          </a:bodyPr>
          <a:lstStyle/>
          <a:p>
            <a:pPr algn="l">
              <a:lnSpc>
                <a:spcPct val="150000"/>
              </a:lnSpc>
            </a:pPr>
            <a:r>
              <a:rPr sz="1200" b="0">
                <a:solidFill>
                  <a:srgbClr val="2C2C2C"/>
                </a:solidFill>
                <a:latin typeface="思源黑体"/>
                <a:eastAsia typeface="思源黑体"/>
                <a:cs typeface="思源黑体"/>
                <a:ascii typeface="思源黑体"/>
              </a:rPr>
              <a:t>本课程是高校思想政治理论课程中分量最重的一门，是每个大学生的必修课。</a:t>
            </a:r>
          </a:p>
          <a:p>
            <a:pPr algn="l">
              <a:lnSpc>
                <a:spcPct val="150000"/>
              </a:lnSpc>
            </a:pPr>
            <a:r>
              <a:rPr sz="1200" b="0">
                <a:solidFill>
                  <a:srgbClr val="2C2C2C"/>
                </a:solidFill>
                <a:latin typeface="思源黑体"/>
                <a:eastAsia typeface="思源黑体"/>
                <a:cs typeface="思源黑体"/>
                <a:ascii typeface="思源黑体"/>
              </a:rPr>
              <a:t>以马克思主义中国化时代化为主线，阐述中国共产党把马克思主义基本原理同中国具体实际相结合、同中华优秀传统文化相结合的历史进程。</a:t>
            </a:r>
          </a:p>
          <a:p>
            <a:pPr algn="l">
              <a:lnSpc>
                <a:spcPct val="150000"/>
              </a:lnSpc>
            </a:pPr>
            <a:r>
              <a:rPr sz="1200" b="0">
                <a:solidFill>
                  <a:srgbClr val="2C2C2C"/>
                </a:solidFill>
                <a:latin typeface="思源黑体"/>
                <a:eastAsia typeface="思源黑体"/>
                <a:cs typeface="思源黑体"/>
                <a:ascii typeface="思源黑体"/>
              </a:rPr>
              <a:t>集中讲授中国化马克思主义的理论成果（两次飞跃）。</a:t>
            </a:r>
          </a:p>
        </p:txBody>
      </p:sp>
      <p:sp>
        <p:nvSpPr>
          <p:cNvPr id="9" name="TextBox 8"/>
          <p:cNvSpPr txBox="1"/>
          <p:nvPr/>
        </p:nvSpPr>
        <p:spPr>
          <a:xfrm>
            <a:off x="594360" y="33832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本课程不讲什么</a:t>
            </a:r>
          </a:p>
        </p:txBody>
      </p:sp>
      <p:sp>
        <p:nvSpPr>
          <p:cNvPr id="10" name="TextBox 9"/>
          <p:cNvSpPr txBox="1"/>
          <p:nvPr/>
        </p:nvSpPr>
        <p:spPr>
          <a:xfrm>
            <a:off x="594360" y="3749039"/>
            <a:ext cx="5669280" cy="1463040"/>
          </a:xfrm>
          <a:prstGeom prst="rect">
            <a:avLst/>
          </a:prstGeom>
          <a:noFill/>
        </p:spPr>
        <p:txBody>
          <a:bodyPr wrap="square" lIns="45720" rIns="45720">
            <a:spAutoFit/>
          </a:bodyPr>
          <a:lstStyle/>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不替代《马克思主义基本原理》的纯理论推导</a:t>
            </a:r>
          </a:p>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不重复《思想道德与法治》的具体规范</a:t>
            </a:r>
          </a:p>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不替代《中国近现代史纲要》的史实细节</a:t>
            </a:r>
          </a:p>
        </p:txBody>
      </p:sp>
      <p:sp>
        <p:nvSpPr>
          <p:cNvPr id="11" name="TextBox 10"/>
          <p:cNvSpPr txBox="1"/>
          <p:nvPr/>
        </p:nvSpPr>
        <p:spPr>
          <a:xfrm>
            <a:off x="6583680" y="1234440"/>
            <a:ext cx="50292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学完可以获得什么</a:t>
            </a:r>
          </a:p>
        </p:txBody>
      </p:sp>
      <p:sp>
        <p:nvSpPr>
          <p:cNvPr id="12" name="TextBox 11"/>
          <p:cNvSpPr txBox="1"/>
          <p:nvPr/>
        </p:nvSpPr>
        <p:spPr>
          <a:xfrm>
            <a:off x="6583680" y="1627632"/>
            <a:ext cx="5029200" cy="219456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系统掌握中国化时代化科学内涵 + 4 个自信</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理解理论成果一脉相承又与时俱进的内在关系</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运用马克思主义立场观点方法分析中国现实问题</a:t>
            </a:r>
          </a:p>
        </p:txBody>
      </p:sp>
      <p:sp>
        <p:nvSpPr>
          <p:cNvPr id="13" name="TextBox 12"/>
          <p:cNvSpPr txBox="1"/>
          <p:nvPr/>
        </p:nvSpPr>
        <p:spPr>
          <a:xfrm>
            <a:off x="6583680" y="4023360"/>
            <a:ext cx="50292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建议学习方式</a:t>
            </a:r>
          </a:p>
        </p:txBody>
      </p:sp>
      <p:sp>
        <p:nvSpPr>
          <p:cNvPr id="14" name="TextBox 13"/>
          <p:cNvSpPr txBox="1"/>
          <p:nvPr/>
        </p:nvSpPr>
        <p:spPr>
          <a:xfrm>
            <a:off x="6583680" y="4389120"/>
            <a:ext cx="5029200" cy="182880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课前：视频 / 资料 / 预习（知识）</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课内：讲授 / 案例 / 研讨（能力）</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课后：调研 / 实践 / 作业（素养）</a:t>
            </a:r>
          </a:p>
        </p:txBody>
      </p:sp>
      <p:cxnSp>
        <p:nvCxnSpPr>
          <p:cNvPr id="15" name="Connector 1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17" name="TextBox 1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02 / 38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LEARNING OBJECTIVES</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学习目标</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65760"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知识目标</a:t>
            </a:r>
          </a:p>
        </p:txBody>
      </p:sp>
      <p:sp>
        <p:nvSpPr>
          <p:cNvPr id="10" name="TextBox 9"/>
          <p:cNvSpPr txBox="1"/>
          <p:nvPr/>
        </p:nvSpPr>
        <p:spPr>
          <a:xfrm>
            <a:off x="548640"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KNOWLEDGE</a:t>
            </a:r>
          </a:p>
        </p:txBody>
      </p:sp>
      <p:cxnSp>
        <p:nvCxnSpPr>
          <p:cNvPr id="11" name="Connector 10"/>
          <p:cNvCxnSpPr/>
          <p:nvPr/>
        </p:nvCxnSpPr>
        <p:spPr>
          <a:xfrm>
            <a:off x="548640"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系统掌握马克思主义中国化时代化的科学内涵、历史进程、理论成果</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掌握毛泽东思想和中国特色社会主义理论体系的基本原理、精神实质、历史地位</a:t>
            </a:r>
          </a:p>
        </p:txBody>
      </p:sp>
      <p:sp>
        <p:nvSpPr>
          <p:cNvPr id="13" name="Rectangle 12"/>
          <p:cNvSpPr/>
          <p:nvPr/>
        </p:nvSpPr>
        <p:spPr>
          <a:xfrm>
            <a:off x="3273552"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3552"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能力目标</a:t>
            </a:r>
          </a:p>
        </p:txBody>
      </p:sp>
      <p:sp>
        <p:nvSpPr>
          <p:cNvPr id="16" name="TextBox 15"/>
          <p:cNvSpPr txBox="1"/>
          <p:nvPr/>
        </p:nvSpPr>
        <p:spPr>
          <a:xfrm>
            <a:off x="3456432"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ABILITY</a:t>
            </a:r>
          </a:p>
        </p:txBody>
      </p:sp>
      <p:cxnSp>
        <p:nvCxnSpPr>
          <p:cNvPr id="17" name="Connector 16"/>
          <p:cNvCxnSpPr/>
          <p:nvPr/>
        </p:nvCxnSpPr>
        <p:spPr>
          <a:xfrm>
            <a:off x="3456432"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56432"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运用马克思主义立场观点方法分析中国革命建设和改革的重大问题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对未来事物发展中可能出现的问题形成正确判断</a:t>
            </a:r>
          </a:p>
        </p:txBody>
      </p:sp>
      <p:sp>
        <p:nvSpPr>
          <p:cNvPr id="19" name="Rectangle 18"/>
          <p:cNvSpPr/>
          <p:nvPr/>
        </p:nvSpPr>
        <p:spPr>
          <a:xfrm>
            <a:off x="6181344"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素养目标</a:t>
            </a:r>
          </a:p>
        </p:txBody>
      </p:sp>
      <p:sp>
        <p:nvSpPr>
          <p:cNvPr id="22" name="TextBox 21"/>
          <p:cNvSpPr txBox="1"/>
          <p:nvPr/>
        </p:nvSpPr>
        <p:spPr>
          <a:xfrm>
            <a:off x="6364224"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LITERACY</a:t>
            </a:r>
          </a:p>
        </p:txBody>
      </p:sp>
      <p:cxnSp>
        <p:nvCxnSpPr>
          <p:cNvPr id="23" name="Connector 22"/>
          <p:cNvCxnSpPr/>
          <p:nvPr/>
        </p:nvCxnSpPr>
        <p:spPr>
          <a:xfrm>
            <a:off x="6364224"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64224"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坚定四个自信（道路 / 理论 / 制度 / 文化）</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树立科学的世界观、人生观、价值观</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增强历史使命感和社会责任感</a:t>
            </a:r>
          </a:p>
        </p:txBody>
      </p:sp>
      <p:sp>
        <p:nvSpPr>
          <p:cNvPr id="25" name="Rectangle 24"/>
          <p:cNvSpPr/>
          <p:nvPr/>
        </p:nvSpPr>
        <p:spPr>
          <a:xfrm>
            <a:off x="9089136"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89136"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72016"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评价方式</a:t>
            </a:r>
          </a:p>
        </p:txBody>
      </p:sp>
      <p:sp>
        <p:nvSpPr>
          <p:cNvPr id="28" name="TextBox 27"/>
          <p:cNvSpPr txBox="1"/>
          <p:nvPr/>
        </p:nvSpPr>
        <p:spPr>
          <a:xfrm>
            <a:off x="9272016"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ASSESSMENT</a:t>
            </a:r>
          </a:p>
        </p:txBody>
      </p:sp>
      <p:cxnSp>
        <p:nvCxnSpPr>
          <p:cNvPr id="29" name="Connector 28"/>
          <p:cNvCxnSpPr/>
          <p:nvPr/>
        </p:nvCxnSpPr>
        <p:spPr>
          <a:xfrm>
            <a:off x="9272016"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272016"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课堂讲授 + 视频学习（对应知识）</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小组研讨 + 案例分析 + 实践（对应能力）</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课堂互动 + 考核反馈（对应素养）</a:t>
            </a:r>
          </a:p>
        </p:txBody>
      </p:sp>
      <p:cxnSp>
        <p:nvCxnSpPr>
          <p:cNvPr id="31" name="Connector 30"/>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33" name="TextBox 32"/>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COURSE STRUCTURE</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课程结构总览：3 部分 · 16 专题 · 48 学时</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1</a:t>
            </a:r>
          </a:p>
        </p:txBody>
      </p:sp>
      <p:sp>
        <p:nvSpPr>
          <p:cNvPr id="10" name="TextBox 9"/>
          <p:cNvSpPr txBox="1"/>
          <p:nvPr/>
        </p:nvSpPr>
        <p:spPr>
          <a:xfrm>
            <a:off x="68580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第一部分</a:t>
            </a:r>
          </a:p>
        </p:txBody>
      </p:sp>
      <p:sp>
        <p:nvSpPr>
          <p:cNvPr id="11" name="TextBox 10"/>
          <p:cNvSpPr txBox="1"/>
          <p:nvPr/>
        </p:nvSpPr>
        <p:spPr>
          <a:xfrm>
            <a:off x="68580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专题一（2 学时）</a:t>
            </a:r>
          </a:p>
        </p:txBody>
      </p:sp>
      <p:sp>
        <p:nvSpPr>
          <p:cNvPr id="12" name="TextBox 11"/>
          <p:cNvSpPr txBox="1"/>
          <p:nvPr/>
        </p:nvSpPr>
        <p:spPr>
          <a:xfrm>
            <a:off x="68580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马克思主义中国化时代化的历史进程与理论成果</a:t>
            </a:r>
          </a:p>
        </p:txBody>
      </p:sp>
      <p:cxnSp>
        <p:nvCxnSpPr>
          <p:cNvPr id="13" name="Connector 12"/>
          <p:cNvCxnSpPr/>
          <p:nvPr/>
        </p:nvCxnSpPr>
        <p:spPr>
          <a:xfrm>
            <a:off x="68580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2</a:t>
            </a:r>
          </a:p>
        </p:txBody>
      </p:sp>
      <p:sp>
        <p:nvSpPr>
          <p:cNvPr id="15" name="TextBox 14"/>
          <p:cNvSpPr txBox="1"/>
          <p:nvPr/>
        </p:nvSpPr>
        <p:spPr>
          <a:xfrm>
            <a:off x="182880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16" name="TextBox 15"/>
          <p:cNvSpPr txBox="1"/>
          <p:nvPr/>
        </p:nvSpPr>
        <p:spPr>
          <a:xfrm>
            <a:off x="68580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理解中国化时代化的科学内涵</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把握一脉相承又与时俱进的内在关系</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明确学习本课程的方法</a:t>
            </a:r>
          </a:p>
        </p:txBody>
      </p:sp>
      <p:sp>
        <p:nvSpPr>
          <p:cNvPr id="17" name="Rectangle 16"/>
          <p:cNvSpPr/>
          <p:nvPr/>
        </p:nvSpPr>
        <p:spPr>
          <a:xfrm>
            <a:off x="429768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2</a:t>
            </a:r>
          </a:p>
        </p:txBody>
      </p:sp>
      <p:sp>
        <p:nvSpPr>
          <p:cNvPr id="20" name="TextBox 19"/>
          <p:cNvSpPr txBox="1"/>
          <p:nvPr/>
        </p:nvSpPr>
        <p:spPr>
          <a:xfrm>
            <a:off x="452628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第二部分</a:t>
            </a:r>
          </a:p>
        </p:txBody>
      </p:sp>
      <p:sp>
        <p:nvSpPr>
          <p:cNvPr id="21" name="TextBox 20"/>
          <p:cNvSpPr txBox="1"/>
          <p:nvPr/>
        </p:nvSpPr>
        <p:spPr>
          <a:xfrm>
            <a:off x="452628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专题二—五（15 学时）</a:t>
            </a:r>
          </a:p>
        </p:txBody>
      </p:sp>
      <p:sp>
        <p:nvSpPr>
          <p:cNvPr id="22" name="TextBox 21"/>
          <p:cNvSpPr txBox="1"/>
          <p:nvPr/>
        </p:nvSpPr>
        <p:spPr>
          <a:xfrm>
            <a:off x="452628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第一次历史性飞跃：毛泽东思想</a:t>
            </a:r>
          </a:p>
        </p:txBody>
      </p:sp>
      <p:cxnSp>
        <p:nvCxnSpPr>
          <p:cNvPr id="23" name="Connector 22"/>
          <p:cNvCxnSpPr/>
          <p:nvPr/>
        </p:nvCxnSpPr>
        <p:spPr>
          <a:xfrm>
            <a:off x="452628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2628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15</a:t>
            </a:r>
          </a:p>
        </p:txBody>
      </p:sp>
      <p:sp>
        <p:nvSpPr>
          <p:cNvPr id="25" name="TextBox 24"/>
          <p:cNvSpPr txBox="1"/>
          <p:nvPr/>
        </p:nvSpPr>
        <p:spPr>
          <a:xfrm>
            <a:off x="566928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26" name="TextBox 25"/>
          <p:cNvSpPr txBox="1"/>
          <p:nvPr/>
        </p:nvSpPr>
        <p:spPr>
          <a:xfrm>
            <a:off x="452628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专题二：毛泽东思想及其历史地位（4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专题三：新民主主义革命理论（4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专题四：社会主义改造理论（4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专题五：社会主义建设道路初步探索（3 学时）</a:t>
            </a:r>
          </a:p>
        </p:txBody>
      </p:sp>
      <p:sp>
        <p:nvSpPr>
          <p:cNvPr id="27" name="Rectangle 26"/>
          <p:cNvSpPr/>
          <p:nvPr/>
        </p:nvSpPr>
        <p:spPr>
          <a:xfrm>
            <a:off x="813816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6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3</a:t>
            </a:r>
          </a:p>
        </p:txBody>
      </p:sp>
      <p:sp>
        <p:nvSpPr>
          <p:cNvPr id="30" name="TextBox 29"/>
          <p:cNvSpPr txBox="1"/>
          <p:nvPr/>
        </p:nvSpPr>
        <p:spPr>
          <a:xfrm>
            <a:off x="836676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第三部分</a:t>
            </a:r>
          </a:p>
        </p:txBody>
      </p:sp>
      <p:sp>
        <p:nvSpPr>
          <p:cNvPr id="31" name="TextBox 30"/>
          <p:cNvSpPr txBox="1"/>
          <p:nvPr/>
        </p:nvSpPr>
        <p:spPr>
          <a:xfrm>
            <a:off x="836676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专题六—九 + 第十—十六章（25 学时）</a:t>
            </a:r>
          </a:p>
        </p:txBody>
      </p:sp>
      <p:sp>
        <p:nvSpPr>
          <p:cNvPr id="32" name="TextBox 31"/>
          <p:cNvSpPr txBox="1"/>
          <p:nvPr/>
        </p:nvSpPr>
        <p:spPr>
          <a:xfrm>
            <a:off x="836676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新的飞跃：中国特色社会主义理论体系</a:t>
            </a:r>
          </a:p>
        </p:txBody>
      </p:sp>
      <p:cxnSp>
        <p:nvCxnSpPr>
          <p:cNvPr id="33" name="Connector 32"/>
          <p:cNvCxnSpPr/>
          <p:nvPr/>
        </p:nvCxnSpPr>
        <p:spPr>
          <a:xfrm>
            <a:off x="836676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6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25</a:t>
            </a:r>
          </a:p>
        </p:txBody>
      </p:sp>
      <p:sp>
        <p:nvSpPr>
          <p:cNvPr id="35" name="TextBox 34"/>
          <p:cNvSpPr txBox="1"/>
          <p:nvPr/>
        </p:nvSpPr>
        <p:spPr>
          <a:xfrm>
            <a:off x="950976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36" name="TextBox 35"/>
          <p:cNvSpPr txBox="1"/>
          <p:nvPr/>
        </p:nvSpPr>
        <p:spPr>
          <a:xfrm>
            <a:off x="836676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专题六—九：邓三科（10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第十章：习近平新时代（6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第十一—十六章：五位一体 + 现代化（14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复习考核 + 实践教学（6 学时）</a:t>
            </a:r>
          </a:p>
        </p:txBody>
      </p:sp>
      <p:cxnSp>
        <p:nvCxnSpPr>
          <p:cNvPr id="37" name="Connector 3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39" name="TextBox 3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04 / 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HOURS &amp; METHODS</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学时分配与教学方法</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学时分配总表</a:t>
            </a:r>
          </a:p>
        </p:txBody>
      </p:sp>
      <p:sp>
        <p:nvSpPr>
          <p:cNvPr id="8" name="Rectangle 7"/>
          <p:cNvSpPr/>
          <p:nvPr/>
        </p:nvSpPr>
        <p:spPr>
          <a:xfrm>
            <a:off x="457200" y="1691640"/>
            <a:ext cx="5760720" cy="3200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37360"/>
            <a:ext cx="1371600" cy="22860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专题</a:t>
            </a:r>
          </a:p>
        </p:txBody>
      </p:sp>
      <p:sp>
        <p:nvSpPr>
          <p:cNvPr id="10" name="TextBox 9"/>
          <p:cNvSpPr txBox="1"/>
          <p:nvPr/>
        </p:nvSpPr>
        <p:spPr>
          <a:xfrm>
            <a:off x="1828800" y="1737360"/>
            <a:ext cx="3291840" cy="22860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内容</a:t>
            </a:r>
          </a:p>
        </p:txBody>
      </p:sp>
      <p:sp>
        <p:nvSpPr>
          <p:cNvPr id="11" name="TextBox 10"/>
          <p:cNvSpPr txBox="1"/>
          <p:nvPr/>
        </p:nvSpPr>
        <p:spPr>
          <a:xfrm>
            <a:off x="5029200" y="1737360"/>
            <a:ext cx="1097280" cy="228600"/>
          </a:xfrm>
          <a:prstGeom prst="rect">
            <a:avLst/>
          </a:prstGeom>
          <a:noFill/>
        </p:spPr>
        <p:txBody>
          <a:bodyPr wrap="square" lIns="45720" rIns="45720" tIns="18288" bIns="18288" anchor="t">
            <a:spAutoFit/>
          </a:bodyPr>
          <a:lstStyle/>
          <a:p>
            <a:pPr algn="r">
              <a:lnSpc>
                <a:spcPct val="120000"/>
              </a:lnSpc>
            </a:pPr>
            <a:r>
              <a:rPr sz="1000" b="1">
                <a:solidFill>
                  <a:srgbClr val="FAF7F2"/>
                </a:solidFill>
                <a:latin typeface="思源黑体"/>
                <a:eastAsia typeface="思源黑体"/>
                <a:cs typeface="思源黑体"/>
                <a:ascii typeface="思源黑体"/>
              </a:rPr>
              <a:t>学时</a:t>
            </a:r>
          </a:p>
        </p:txBody>
      </p:sp>
      <p:sp>
        <p:nvSpPr>
          <p:cNvPr id="12" name="Rectangle 11"/>
          <p:cNvSpPr/>
          <p:nvPr/>
        </p:nvSpPr>
        <p:spPr>
          <a:xfrm>
            <a:off x="457200" y="2011680"/>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5740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专题一</a:t>
            </a:r>
          </a:p>
        </p:txBody>
      </p:sp>
      <p:sp>
        <p:nvSpPr>
          <p:cNvPr id="14" name="TextBox 13"/>
          <p:cNvSpPr txBox="1"/>
          <p:nvPr/>
        </p:nvSpPr>
        <p:spPr>
          <a:xfrm>
            <a:off x="1828800" y="205740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马克思主义中国化时代化总论</a:t>
            </a:r>
          </a:p>
        </p:txBody>
      </p:sp>
      <p:sp>
        <p:nvSpPr>
          <p:cNvPr id="15" name="TextBox 14"/>
          <p:cNvSpPr txBox="1"/>
          <p:nvPr/>
        </p:nvSpPr>
        <p:spPr>
          <a:xfrm>
            <a:off x="5029200" y="205740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16" name="Rectangle 15"/>
          <p:cNvSpPr/>
          <p:nvPr/>
        </p:nvSpPr>
        <p:spPr>
          <a:xfrm>
            <a:off x="457200" y="2304288"/>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35000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专题二</a:t>
            </a:r>
          </a:p>
        </p:txBody>
      </p:sp>
      <p:sp>
        <p:nvSpPr>
          <p:cNvPr id="18" name="TextBox 17"/>
          <p:cNvSpPr txBox="1"/>
          <p:nvPr/>
        </p:nvSpPr>
        <p:spPr>
          <a:xfrm>
            <a:off x="1828800" y="235000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毛泽东思想及其历史地位</a:t>
            </a:r>
          </a:p>
        </p:txBody>
      </p:sp>
      <p:sp>
        <p:nvSpPr>
          <p:cNvPr id="19" name="TextBox 18"/>
          <p:cNvSpPr txBox="1"/>
          <p:nvPr/>
        </p:nvSpPr>
        <p:spPr>
          <a:xfrm>
            <a:off x="5029200" y="235000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0" name="Rectangle 19"/>
          <p:cNvSpPr/>
          <p:nvPr/>
        </p:nvSpPr>
        <p:spPr>
          <a:xfrm>
            <a:off x="457200" y="2596896"/>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64261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专题三</a:t>
            </a:r>
          </a:p>
        </p:txBody>
      </p:sp>
      <p:sp>
        <p:nvSpPr>
          <p:cNvPr id="22" name="TextBox 21"/>
          <p:cNvSpPr txBox="1"/>
          <p:nvPr/>
        </p:nvSpPr>
        <p:spPr>
          <a:xfrm>
            <a:off x="1828800" y="264261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新民主主义革命理论</a:t>
            </a:r>
          </a:p>
        </p:txBody>
      </p:sp>
      <p:sp>
        <p:nvSpPr>
          <p:cNvPr id="23" name="TextBox 22"/>
          <p:cNvSpPr txBox="1"/>
          <p:nvPr/>
        </p:nvSpPr>
        <p:spPr>
          <a:xfrm>
            <a:off x="5029200" y="264261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4" name="Rectangle 23"/>
          <p:cNvSpPr/>
          <p:nvPr/>
        </p:nvSpPr>
        <p:spPr>
          <a:xfrm>
            <a:off x="457200" y="2889504"/>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935224"/>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专题四</a:t>
            </a:r>
          </a:p>
        </p:txBody>
      </p:sp>
      <p:sp>
        <p:nvSpPr>
          <p:cNvPr id="26" name="TextBox 25"/>
          <p:cNvSpPr txBox="1"/>
          <p:nvPr/>
        </p:nvSpPr>
        <p:spPr>
          <a:xfrm>
            <a:off x="1828800" y="2935224"/>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社会主义改造理论</a:t>
            </a:r>
          </a:p>
        </p:txBody>
      </p:sp>
      <p:sp>
        <p:nvSpPr>
          <p:cNvPr id="27" name="TextBox 26"/>
          <p:cNvSpPr txBox="1"/>
          <p:nvPr/>
        </p:nvSpPr>
        <p:spPr>
          <a:xfrm>
            <a:off x="5029200" y="2935224"/>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8" name="Rectangle 27"/>
          <p:cNvSpPr/>
          <p:nvPr/>
        </p:nvSpPr>
        <p:spPr>
          <a:xfrm>
            <a:off x="457200" y="3182112"/>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227832"/>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专题五</a:t>
            </a:r>
          </a:p>
        </p:txBody>
      </p:sp>
      <p:sp>
        <p:nvSpPr>
          <p:cNvPr id="30" name="TextBox 29"/>
          <p:cNvSpPr txBox="1"/>
          <p:nvPr/>
        </p:nvSpPr>
        <p:spPr>
          <a:xfrm>
            <a:off x="1828800" y="3227832"/>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社会主义建设道路初步探索</a:t>
            </a:r>
          </a:p>
        </p:txBody>
      </p:sp>
      <p:sp>
        <p:nvSpPr>
          <p:cNvPr id="31" name="TextBox 30"/>
          <p:cNvSpPr txBox="1"/>
          <p:nvPr/>
        </p:nvSpPr>
        <p:spPr>
          <a:xfrm>
            <a:off x="5029200" y="3227832"/>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3</a:t>
            </a:r>
          </a:p>
        </p:txBody>
      </p:sp>
      <p:sp>
        <p:nvSpPr>
          <p:cNvPr id="32" name="Rectangle 31"/>
          <p:cNvSpPr/>
          <p:nvPr/>
        </p:nvSpPr>
        <p:spPr>
          <a:xfrm>
            <a:off x="457200" y="3474720"/>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52044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专题六</a:t>
            </a:r>
          </a:p>
        </p:txBody>
      </p:sp>
      <p:sp>
        <p:nvSpPr>
          <p:cNvPr id="34" name="TextBox 33"/>
          <p:cNvSpPr txBox="1"/>
          <p:nvPr/>
        </p:nvSpPr>
        <p:spPr>
          <a:xfrm>
            <a:off x="1828800" y="352044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中国特色社会主义理论体系形成</a:t>
            </a:r>
          </a:p>
        </p:txBody>
      </p:sp>
      <p:sp>
        <p:nvSpPr>
          <p:cNvPr id="35" name="TextBox 34"/>
          <p:cNvSpPr txBox="1"/>
          <p:nvPr/>
        </p:nvSpPr>
        <p:spPr>
          <a:xfrm>
            <a:off x="5029200" y="352044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36" name="Rectangle 35"/>
          <p:cNvSpPr/>
          <p:nvPr/>
        </p:nvSpPr>
        <p:spPr>
          <a:xfrm>
            <a:off x="457200" y="3767328"/>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81304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专题七</a:t>
            </a:r>
          </a:p>
        </p:txBody>
      </p:sp>
      <p:sp>
        <p:nvSpPr>
          <p:cNvPr id="38" name="TextBox 37"/>
          <p:cNvSpPr txBox="1"/>
          <p:nvPr/>
        </p:nvSpPr>
        <p:spPr>
          <a:xfrm>
            <a:off x="1828800" y="381304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邓小平理论</a:t>
            </a:r>
          </a:p>
        </p:txBody>
      </p:sp>
      <p:sp>
        <p:nvSpPr>
          <p:cNvPr id="39" name="TextBox 38"/>
          <p:cNvSpPr txBox="1"/>
          <p:nvPr/>
        </p:nvSpPr>
        <p:spPr>
          <a:xfrm>
            <a:off x="5029200" y="381304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40" name="Rectangle 39"/>
          <p:cNvSpPr/>
          <p:nvPr/>
        </p:nvSpPr>
        <p:spPr>
          <a:xfrm>
            <a:off x="457200" y="4059936"/>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10565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专题八</a:t>
            </a:r>
          </a:p>
        </p:txBody>
      </p:sp>
      <p:sp>
        <p:nvSpPr>
          <p:cNvPr id="42" name="TextBox 41"/>
          <p:cNvSpPr txBox="1"/>
          <p:nvPr/>
        </p:nvSpPr>
        <p:spPr>
          <a:xfrm>
            <a:off x="1828800" y="410565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「三个代表」重要思想</a:t>
            </a:r>
          </a:p>
        </p:txBody>
      </p:sp>
      <p:sp>
        <p:nvSpPr>
          <p:cNvPr id="43" name="TextBox 42"/>
          <p:cNvSpPr txBox="1"/>
          <p:nvPr/>
        </p:nvSpPr>
        <p:spPr>
          <a:xfrm>
            <a:off x="5029200" y="410565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44" name="Rectangle 43"/>
          <p:cNvSpPr/>
          <p:nvPr/>
        </p:nvSpPr>
        <p:spPr>
          <a:xfrm>
            <a:off x="457200" y="4352544"/>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398264"/>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专题九</a:t>
            </a:r>
          </a:p>
        </p:txBody>
      </p:sp>
      <p:sp>
        <p:nvSpPr>
          <p:cNvPr id="46" name="TextBox 45"/>
          <p:cNvSpPr txBox="1"/>
          <p:nvPr/>
        </p:nvSpPr>
        <p:spPr>
          <a:xfrm>
            <a:off x="1828800" y="4398264"/>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科学发展观</a:t>
            </a:r>
          </a:p>
        </p:txBody>
      </p:sp>
      <p:sp>
        <p:nvSpPr>
          <p:cNvPr id="47" name="TextBox 46"/>
          <p:cNvSpPr txBox="1"/>
          <p:nvPr/>
        </p:nvSpPr>
        <p:spPr>
          <a:xfrm>
            <a:off x="5029200" y="4398264"/>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48" name="Rectangle 47"/>
          <p:cNvSpPr/>
          <p:nvPr/>
        </p:nvSpPr>
        <p:spPr>
          <a:xfrm>
            <a:off x="457200" y="4645152"/>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90872"/>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第十章</a:t>
            </a:r>
          </a:p>
        </p:txBody>
      </p:sp>
      <p:sp>
        <p:nvSpPr>
          <p:cNvPr id="50" name="TextBox 49"/>
          <p:cNvSpPr txBox="1"/>
          <p:nvPr/>
        </p:nvSpPr>
        <p:spPr>
          <a:xfrm>
            <a:off x="1828800" y="4690872"/>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习近平新时代中国特色社会主义思想</a:t>
            </a:r>
          </a:p>
        </p:txBody>
      </p:sp>
      <p:sp>
        <p:nvSpPr>
          <p:cNvPr id="51" name="TextBox 50"/>
          <p:cNvSpPr txBox="1"/>
          <p:nvPr/>
        </p:nvSpPr>
        <p:spPr>
          <a:xfrm>
            <a:off x="5029200" y="4690872"/>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6</a:t>
            </a:r>
          </a:p>
        </p:txBody>
      </p:sp>
      <p:sp>
        <p:nvSpPr>
          <p:cNvPr id="52" name="Rectangle 51"/>
          <p:cNvSpPr/>
          <p:nvPr/>
        </p:nvSpPr>
        <p:spPr>
          <a:xfrm>
            <a:off x="457200" y="4937760"/>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98348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第十一—十六章</a:t>
            </a:r>
          </a:p>
        </p:txBody>
      </p:sp>
      <p:sp>
        <p:nvSpPr>
          <p:cNvPr id="54" name="TextBox 53"/>
          <p:cNvSpPr txBox="1"/>
          <p:nvPr/>
        </p:nvSpPr>
        <p:spPr>
          <a:xfrm>
            <a:off x="1828800" y="498348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五位一体 + 现代化</a:t>
            </a:r>
          </a:p>
        </p:txBody>
      </p:sp>
      <p:sp>
        <p:nvSpPr>
          <p:cNvPr id="55" name="TextBox 54"/>
          <p:cNvSpPr txBox="1"/>
          <p:nvPr/>
        </p:nvSpPr>
        <p:spPr>
          <a:xfrm>
            <a:off x="5029200" y="498348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14</a:t>
            </a:r>
          </a:p>
        </p:txBody>
      </p:sp>
      <p:sp>
        <p:nvSpPr>
          <p:cNvPr id="56" name="Rectangle 55"/>
          <p:cNvSpPr/>
          <p:nvPr/>
        </p:nvSpPr>
        <p:spPr>
          <a:xfrm>
            <a:off x="457200" y="5230368"/>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527608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复习考核</a:t>
            </a:r>
          </a:p>
        </p:txBody>
      </p:sp>
      <p:sp>
        <p:nvSpPr>
          <p:cNvPr id="58" name="TextBox 57"/>
          <p:cNvSpPr txBox="1"/>
          <p:nvPr/>
        </p:nvSpPr>
        <p:spPr>
          <a:xfrm>
            <a:off x="1828800" y="527608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总复习 + 期末考试</a:t>
            </a:r>
          </a:p>
        </p:txBody>
      </p:sp>
      <p:sp>
        <p:nvSpPr>
          <p:cNvPr id="59" name="TextBox 58"/>
          <p:cNvSpPr txBox="1"/>
          <p:nvPr/>
        </p:nvSpPr>
        <p:spPr>
          <a:xfrm>
            <a:off x="5029200" y="527608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60" name="Rectangle 59"/>
          <p:cNvSpPr/>
          <p:nvPr/>
        </p:nvSpPr>
        <p:spPr>
          <a:xfrm>
            <a:off x="457200" y="5522976"/>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556869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实践教学</a:t>
            </a:r>
          </a:p>
        </p:txBody>
      </p:sp>
      <p:sp>
        <p:nvSpPr>
          <p:cNvPr id="62" name="TextBox 61"/>
          <p:cNvSpPr txBox="1"/>
          <p:nvPr/>
        </p:nvSpPr>
        <p:spPr>
          <a:xfrm>
            <a:off x="1828800" y="556869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大学生讲思政课、调研、红色教育</a:t>
            </a:r>
          </a:p>
        </p:txBody>
      </p:sp>
      <p:sp>
        <p:nvSpPr>
          <p:cNvPr id="63" name="TextBox 62"/>
          <p:cNvSpPr txBox="1"/>
          <p:nvPr/>
        </p:nvSpPr>
        <p:spPr>
          <a:xfrm>
            <a:off x="5029200" y="556869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6</a:t>
            </a:r>
          </a:p>
        </p:txBody>
      </p:sp>
      <p:sp>
        <p:nvSpPr>
          <p:cNvPr id="64" name="Rectangle 63"/>
          <p:cNvSpPr/>
          <p:nvPr/>
        </p:nvSpPr>
        <p:spPr>
          <a:xfrm>
            <a:off x="457200" y="5815584"/>
            <a:ext cx="5760720" cy="292608"/>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5861304"/>
            <a:ext cx="1280160" cy="228600"/>
          </a:xfrm>
          <a:prstGeom prst="rect">
            <a:avLst/>
          </a:prstGeom>
          <a:noFill/>
        </p:spPr>
        <p:txBody>
          <a:bodyPr wrap="square" lIns="45720" rIns="45720" tIns="18288" bIns="18288" anchor="t">
            <a:spAutoFit/>
          </a:bodyPr>
          <a:lstStyle/>
          <a:p>
            <a:pPr algn="l">
              <a:lnSpc>
                <a:spcPct val="120000"/>
              </a:lnSpc>
            </a:pPr>
            <a:r>
              <a:rPr sz="900" b="1">
                <a:solidFill>
                  <a:srgbClr val="FAF7F2"/>
                </a:solidFill>
                <a:latin typeface="思源黑体"/>
                <a:eastAsia typeface="思源黑体"/>
                <a:cs typeface="思源黑体"/>
                <a:ascii typeface="思源黑体"/>
              </a:rPr>
              <a:t>合计</a:t>
            </a:r>
          </a:p>
        </p:txBody>
      </p:sp>
      <p:sp>
        <p:nvSpPr>
          <p:cNvPr id="66" name="TextBox 65"/>
          <p:cNvSpPr txBox="1"/>
          <p:nvPr/>
        </p:nvSpPr>
        <p:spPr>
          <a:xfrm>
            <a:off x="1828800" y="5861304"/>
            <a:ext cx="3108960" cy="228600"/>
          </a:xfrm>
          <a:prstGeom prst="rect">
            <a:avLst/>
          </a:prstGeom>
          <a:noFill/>
        </p:spPr>
        <p:txBody>
          <a:bodyPr wrap="square" lIns="45720" rIns="45720" tIns="18288" bIns="18288" anchor="t">
            <a:spAutoFit/>
          </a:bodyPr>
          <a:lstStyle/>
          <a:p>
            <a:pPr algn="l">
              <a:lnSpc>
                <a:spcPct val="120000"/>
              </a:lnSpc>
            </a:pPr>
            <a:r>
              <a:rPr sz="900" b="1">
                <a:solidFill>
                  <a:srgbClr val="FAF7F2"/>
                </a:solidFill>
                <a:latin typeface="思源黑体"/>
                <a:eastAsia typeface="思源黑体"/>
                <a:cs typeface="思源黑体"/>
                <a:ascii typeface="思源黑体"/>
              </a:rPr>
              <a:t>—</a:t>
            </a:r>
          </a:p>
        </p:txBody>
      </p:sp>
      <p:sp>
        <p:nvSpPr>
          <p:cNvPr id="67" name="TextBox 66"/>
          <p:cNvSpPr txBox="1"/>
          <p:nvPr/>
        </p:nvSpPr>
        <p:spPr>
          <a:xfrm>
            <a:off x="5029200" y="5861304"/>
            <a:ext cx="1097280" cy="228600"/>
          </a:xfrm>
          <a:prstGeom prst="rect">
            <a:avLst/>
          </a:prstGeom>
          <a:noFill/>
        </p:spPr>
        <p:txBody>
          <a:bodyPr wrap="square" lIns="45720" rIns="45720" tIns="18288" bIns="18288" anchor="t">
            <a:spAutoFit/>
          </a:bodyPr>
          <a:lstStyle/>
          <a:p>
            <a:pPr algn="r">
              <a:lnSpc>
                <a:spcPct val="120000"/>
              </a:lnSpc>
            </a:pPr>
            <a:r>
              <a:rPr sz="900" b="1">
                <a:solidFill>
                  <a:srgbClr val="FAF7F2"/>
                </a:solidFill>
                <a:latin typeface="思源黑体"/>
                <a:eastAsia typeface="思源黑体"/>
                <a:cs typeface="思源黑体"/>
                <a:ascii typeface="思源黑体"/>
              </a:rPr>
              <a:t>48</a:t>
            </a:r>
          </a:p>
        </p:txBody>
      </p:sp>
      <p:sp>
        <p:nvSpPr>
          <p:cNvPr id="68" name="TextBox 67"/>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教学方法体系</a:t>
            </a:r>
          </a:p>
        </p:txBody>
      </p:sp>
      <p:sp>
        <p:nvSpPr>
          <p:cNvPr id="69" name="Rectangle 68"/>
          <p:cNvSpPr/>
          <p:nvPr/>
        </p:nvSpPr>
        <p:spPr>
          <a:xfrm>
            <a:off x="6492240" y="169164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49224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0" y="176479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启发式教学</a:t>
            </a:r>
          </a:p>
        </p:txBody>
      </p:sp>
      <p:sp>
        <p:nvSpPr>
          <p:cNvPr id="72" name="TextBox 71"/>
          <p:cNvSpPr txBox="1"/>
          <p:nvPr/>
        </p:nvSpPr>
        <p:spPr>
          <a:xfrm>
            <a:off x="8183879" y="176479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贯穿全程；以问题引导而非结论灌输</a:t>
            </a:r>
          </a:p>
        </p:txBody>
      </p:sp>
      <p:sp>
        <p:nvSpPr>
          <p:cNvPr id="73" name="Rectangle 72"/>
          <p:cNvSpPr/>
          <p:nvPr/>
        </p:nvSpPr>
        <p:spPr>
          <a:xfrm>
            <a:off x="6492240" y="233172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49224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675120" y="240487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案例式教学</a:t>
            </a:r>
          </a:p>
        </p:txBody>
      </p:sp>
      <p:sp>
        <p:nvSpPr>
          <p:cNvPr id="76" name="TextBox 75"/>
          <p:cNvSpPr txBox="1"/>
          <p:nvPr/>
        </p:nvSpPr>
        <p:spPr>
          <a:xfrm>
            <a:off x="8183879" y="240487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重点章节；用历史/现实案例说明抽象理论</a:t>
            </a:r>
          </a:p>
        </p:txBody>
      </p:sp>
      <p:sp>
        <p:nvSpPr>
          <p:cNvPr id="77" name="Rectangle 76"/>
          <p:cNvSpPr/>
          <p:nvPr/>
        </p:nvSpPr>
        <p:spPr>
          <a:xfrm>
            <a:off x="6492240" y="297180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9224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675120" y="304495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讨论式教学</a:t>
            </a:r>
          </a:p>
        </p:txBody>
      </p:sp>
      <p:sp>
        <p:nvSpPr>
          <p:cNvPr id="80" name="TextBox 79"/>
          <p:cNvSpPr txBox="1"/>
          <p:nvPr/>
        </p:nvSpPr>
        <p:spPr>
          <a:xfrm>
            <a:off x="8183879" y="304495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专题研讨；学生小组展示 + 教师点评</a:t>
            </a:r>
          </a:p>
        </p:txBody>
      </p:sp>
      <p:sp>
        <p:nvSpPr>
          <p:cNvPr id="81" name="Rectangle 80"/>
          <p:cNvSpPr/>
          <p:nvPr/>
        </p:nvSpPr>
        <p:spPr>
          <a:xfrm>
            <a:off x="6492240" y="361188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49224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675120" y="368503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翻转课堂</a:t>
            </a:r>
          </a:p>
        </p:txBody>
      </p:sp>
      <p:sp>
        <p:nvSpPr>
          <p:cNvPr id="84" name="TextBox 83"/>
          <p:cNvSpPr txBox="1"/>
          <p:nvPr/>
        </p:nvSpPr>
        <p:spPr>
          <a:xfrm>
            <a:off x="8183879" y="368503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实践环节；学生备课并主讲 10-15 分钟</a:t>
            </a:r>
          </a:p>
        </p:txBody>
      </p:sp>
      <p:sp>
        <p:nvSpPr>
          <p:cNvPr id="85" name="Rectangle 84"/>
          <p:cNvSpPr/>
          <p:nvPr/>
        </p:nvSpPr>
        <p:spPr>
          <a:xfrm>
            <a:off x="6492240" y="425196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49224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675120" y="432511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混合式教学</a:t>
            </a:r>
          </a:p>
        </p:txBody>
      </p:sp>
      <p:sp>
        <p:nvSpPr>
          <p:cNvPr id="88" name="TextBox 87"/>
          <p:cNvSpPr txBox="1"/>
          <p:nvPr/>
        </p:nvSpPr>
        <p:spPr>
          <a:xfrm>
            <a:off x="8183879" y="432511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线上视频预习 + 线下深度研讨</a:t>
            </a:r>
          </a:p>
        </p:txBody>
      </p:sp>
      <p:sp>
        <p:nvSpPr>
          <p:cNvPr id="89" name="TextBox 88"/>
          <p:cNvSpPr txBox="1"/>
          <p:nvPr/>
        </p:nvSpPr>
        <p:spPr>
          <a:xfrm>
            <a:off x="6492240" y="502920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教学环节闭环</a:t>
            </a:r>
          </a:p>
        </p:txBody>
      </p:sp>
      <p:sp>
        <p:nvSpPr>
          <p:cNvPr id="90" name="TextBox 89"/>
          <p:cNvSpPr txBox="1"/>
          <p:nvPr/>
        </p:nvSpPr>
        <p:spPr>
          <a:xfrm>
            <a:off x="6492240" y="5394960"/>
            <a:ext cx="5303520" cy="9144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课前：视频 + 资料 + 预习（知识目标）</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课内：讲授 + 案例 + 研讨（综合）</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课后：调研 + 实践 + 作业（能力素养）</a:t>
            </a:r>
          </a:p>
        </p:txBody>
      </p:sp>
      <p:cxnSp>
        <p:nvCxnSpPr>
          <p:cNvPr id="91" name="Connector 90"/>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93" name="TextBox 92"/>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05 /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1</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第一部分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马克思主义中国化时代化的历史进程与理论成果</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本部分学时：2 学时 · 1 个专题</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06 /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为什么同样学习马克思主义，苏联走通了而中国走出了完全不同的路？</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所属部分：第一部分    ·    学时：2</a:t>
            </a:r>
          </a:p>
          <a:p>
            <a:pPr algn="l">
              <a:lnSpc>
                <a:spcPct val="150000"/>
              </a:lnSpc>
            </a:pPr>
            <a:r>
              <a:rPr sz="1100" b="0">
                <a:solidFill>
                  <a:srgbClr val="2C2C2C"/>
                </a:solidFill>
                <a:latin typeface="思源黑体"/>
                <a:eastAsia typeface="思源黑体"/>
                <a:cs typeface="思源黑体"/>
                <a:ascii typeface="思源黑体"/>
              </a:rPr>
              <a:t>主题定位：本课程导论 · 全课程总览</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了解：马克思主义中国化时代化的历史进程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掌握：科学内涵（两个结合）和必要性</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把握：理论成果「一脉相承又与时俱进」的内在关系</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提升：运用马克思主义立场观点方法分析问题的能力</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为什么同样学习马克思主义，苏联走通了而中国走出了完全不同的路？</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马克思主义中国化——1938 年毛泽东提出，2017 年十九大、2021 年六中全会升级为「中国化时代化」</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两个结合——马克思主义基本原理同中国具体实际相结合、同中华优秀传统文化相结合</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07 /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马克思主义中国化</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1938 年毛泽东提出，2017 年十九大、2021 年六中全会升级为「中国化时代化」</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两个结合</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马克思主义基本原理同中国具体实际相结合、同中华优秀传统文化相结合</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两次飞跃</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第一次：毛泽东思想；第二次：中国特色社会主义理论体系</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一脉相承又与时俱进</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理论成果之间既坚守根本又发展创新的关系</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08 /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案例：遵义会议（1935）
讲授角度：说明马克思主义中国化不是照搬苏联/共产国际指示，而是在中国革命实践中形成独立自主的判断能力——是马克思主义中国化时代化的关键节点。</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【辨析题】为什么说遵义会议是中国共产党从幼年走向成熟的重要标志？能否举出反例证明「照搬苏联」同样可行？</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马克思主义中国化时代化</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两个结合（具体实际 + 中华优秀传统文化）</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两次飞跃（毛泽东思想 + 中特理论体系）</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史论结合：把理论命题放回历史现场</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对比法：中苏革命道路差异</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把中国化时代化简化为「中共对马克思主义的应用」，忽略中华优秀传统文化的根基作用</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下一专题进入毛泽东思想——马克思主义中国化时代化的第一次飞跃。</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09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2</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第二部分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第一次历史性飞跃：毛泽东思想</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本部分学时：15 学时 · 4 个专题（专题二—五）</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10 / 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为什么一个农民占多数的国家能由无产阶级政党领导革命成功？毛泽东给出了什么答案？</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所属部分：第二部分    ·    学时：4</a:t>
            </a:r>
          </a:p>
          <a:p>
            <a:pPr algn="l">
              <a:lnSpc>
                <a:spcPct val="150000"/>
              </a:lnSpc>
            </a:pPr>
            <a:r>
              <a:rPr sz="1100" b="0">
                <a:solidFill>
                  <a:srgbClr val="2C2C2C"/>
                </a:solidFill>
                <a:latin typeface="思源黑体"/>
                <a:eastAsia typeface="思源黑体"/>
                <a:cs typeface="思源黑体"/>
                <a:ascii typeface="思源黑体"/>
              </a:rPr>
              <a:t>主题定位：第一次飞跃 · 毛泽东思想总论</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掌握：形成发展的社会历史条件、主要内容、活的灵魂</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熟悉：毛泽东思想是马克思主义中国化时代化第一个理论成果</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了解：毛泽东一生的杰出贡献与晚年错误的关系</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为什么一个农民占多数的国家能由无产阶级政党领导革命成功？毛泽东给出了什么答案？</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毛泽东思想——马克思主义中国化时代化的第一个理论成果</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活的灵魂——实事求是 / 群众路线 / 独立自主 三个基本方面</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14 / 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毛泽东思想</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马克思主义中国化时代化的第一个理论成果</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活的灵魂</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实事求是 / 群众路线 / 独立自主 三个基本方面</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形成过程</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萌芽（1921-土地革命）→ 形成（遵义-抗战）→ 成熟（延安）→ 继续发展（建国后）</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代表著作</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《矛盾论》《实践论》《新民主主义论》《论十大关系》</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15 /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案例：延安整风（1942）
讲授角度：整风运动确立实事求是的思想路线，是毛泽东思想成熟的重要标志——通过批评主观主义、宗派主义、党八股，统一全党对中国革命规律的认识。</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【论述题】试述毛泽东思想活的灵魂（实事求是 / 群众路线 / 独立自主）的内在关系，并举例说明如何运用其分析当代中国问题。</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活的灵魂（实事求是、群众路线、独立自主）</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马克思主义中国化第一次飞跃</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六个方面主要内容（革命/建设/军队/政策/文化/党建）</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史论结合 + 史料教学</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区分个人思想与科学理论体系</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把毛泽东晚年错误等同于毛泽东思想本身——既不科学评价历史，也不尊重理论</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下一专题进入毛泽东思想的核心组成——新民主主义革命理论。</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16 / 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为什么中国的革命不能像欧洲那样先占领城市，而要「农村包围城市」？</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所属部分：第二部分    ·    学时：4</a:t>
            </a:r>
          </a:p>
          <a:p>
            <a:pPr algn="l">
              <a:lnSpc>
                <a:spcPct val="150000"/>
              </a:lnSpc>
            </a:pPr>
            <a:r>
              <a:rPr sz="1100" b="0">
                <a:solidFill>
                  <a:srgbClr val="2C2C2C"/>
                </a:solidFill>
                <a:latin typeface="思源黑体"/>
                <a:eastAsia typeface="思源黑体"/>
                <a:cs typeface="思源黑体"/>
                <a:ascii typeface="思源黑体"/>
              </a:rPr>
              <a:t>主题定位：中国革命道路的独特解</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掌握：基本国情；总路线；革命道路；三大法宝；性质和前途</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熟悉：近代中国革命的时代特征</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了解：近代中国社会主要阶级；革命的特殊性</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为什么中国的革命不能像欧洲那样先占领城市，而要「农村包围城市」？</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半殖民地半封建社会——近代中国基本国情；两大主要矛盾（帝国主义-中华民族、封建主义-人民大众）</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新民主主义革命——无产阶级领导的，人民大众的，反对帝国主义、封建主义和官僚资本主义的革命</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17 / 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半殖民地半封建社会</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近代中国基本国情；两大主要矛盾（帝国主义-中华民族、封建主义-人民大众）</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新民主主义革命</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无产阶级领导的，人民大众的，反对帝国主义、封建主义和官僚资本主义的革命</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革命道路</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农村包围城市、武装夺取政权</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三大法宝</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统一战线 + 武装斗争 + 党的建设</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18 / 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案例：井冈山革命根据地（1927-1930）
讲授角度：井冈山道路是中国共产党把马克思主义基本原理同中国具体实际相结合的最初成果——证明「农村包围城市」是半殖民地半封建中国的必由之路，而非退却。</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【应用题】如果你是 1927 年的中国共产党领导人，面对城市暴动失败的现实，你能在多长时间内提出「上山」策略？为什么？</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半殖民地半封建社会</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新民主主义革命总路线</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农村包围城市、武装夺取政权</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比较法：新民主主义 vs 旧民主主义 vs 社会主义革命</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历史情境代入法</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把新民主主义革命简化为「阶级斗争史」，忽略民族矛盾和统一战线的复杂性</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下一专题进入新民主主义向社会主义的过渡——三大改造。</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19 / 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中国为什么能在 1953-1956 年间用和平方式完成对几亿农民的社会主义改造？</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所属部分：第二部分    ·    学时：4</a:t>
            </a:r>
          </a:p>
          <a:p>
            <a:pPr algn="l">
              <a:lnSpc>
                <a:spcPct val="150000"/>
              </a:lnSpc>
            </a:pPr>
            <a:r>
              <a:rPr sz="1100" b="0">
                <a:solidFill>
                  <a:srgbClr val="2C2C2C"/>
                </a:solidFill>
                <a:latin typeface="思源黑体"/>
                <a:eastAsia typeface="思源黑体"/>
                <a:cs typeface="思源黑体"/>
                <a:ascii typeface="思源黑体"/>
              </a:rPr>
              <a:t>主题定位：从新民主主义到社会主义</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掌握：过渡的历史必然性；总路线；改造的历史经验</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熟悉：新民主主义社会性质；总路线理论依据</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了解：改造教训；社会主义基本制度确立的意义</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中国为什么能在 1953-1956 年间用和平方式完成对几亿农民的社会主义改造？</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新民主主义社会——过渡性社会；五种经济成分并存；主要矛盾是工人阶级与资产阶级</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过渡时期总路线——「一化三改」：社会主义工业化 + 农业/手工业/资本主义工商业改造</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20 / 38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新民主主义社会</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过渡性社会；五种经济成分并存；主要矛盾是工人阶级与资产阶级</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过渡时期总路线</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「一化三改」：社会主义工业化 + 农业/手工业/资本主义工商业改造</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和平赎买</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对民族资本不没收，而以赎买、定息等方式逐步过渡</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社会主义基本制度</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1956 年三大改造完成，社会主义制度在中国确立</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21 / 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案例：荣毅仁家族与申新纺织
讲授角度：荣毅仁等民族资本家在 1956 年主动申请公私合营，是中国「和平赎买」政策成功执行的代表——既完成了所有制变革，又保存了民族工商业的经营能力。</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【辨析题】苏联 1920-30 年代用「没收」方式消灭资产阶级，中国用「赎买」方式——为什么中国能做、苏联做不到？需要什么政治经济条件？</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过渡时期总路线（一化三改）</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和平赎买</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社会主义基本制度确立</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政策对比法：中 vs 苏联</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经济结构数据分析（个体 vs 集体占比）</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把三大改造说成「一帆风顺」——1955 年夏后的「升级」过快、形式单一是真实教训</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下一专题进入社会主义建设道路的初步探索——成就与曲折并存。</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22 / 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3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1956 年以后，毛泽东为什么说「现在我们搞建设，也要适合中国情况」？</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所属部分：第二部分    ·    学时：3</a:t>
            </a:r>
          </a:p>
          <a:p>
            <a:pPr algn="l">
              <a:lnSpc>
                <a:spcPct val="150000"/>
              </a:lnSpc>
            </a:pPr>
            <a:r>
              <a:rPr sz="1100" b="0">
                <a:solidFill>
                  <a:srgbClr val="2C2C2C"/>
                </a:solidFill>
                <a:latin typeface="思源黑体"/>
                <a:eastAsia typeface="思源黑体"/>
                <a:cs typeface="思源黑体"/>
                <a:ascii typeface="思源黑体"/>
              </a:rPr>
              <a:t>主题定位：成就与曲折并存的探索</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掌握：调动一切积极因素方针；正确处理人民内部矛盾；走中国工业化道路</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熟悉：「十大关系」中的协调发展思想</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了解：探索的其他理论成果；经验教训</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1956 年以后，毛泽东为什么说「现在我们搞建设，也要适合中国情况」？</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以苏为鉴——不照搬苏联模式，承认其有弊端</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两类矛盾学说——敌我矛盾（对抗性）+ 人民内部矛盾（非对抗性）；处理方针：团结—批评—团结</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23 / 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以苏为鉴</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不照搬苏联模式，承认其有弊端</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两类矛盾学说</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敌我矛盾（对抗性）+ 人民内部矛盾（非对抗性）；处理方针：团结—批评—团结</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十大关系</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1956 年《论十大关系》提出重工业轻工业农业协调等十组关系</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四个现代化</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工业、农业、国防、科学技术现代化；「两步走」战略设想</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24 / 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案例：1959-1961 三年困难时期
讲授角度：探索的曲折不是偶然——既有自然灾害因素，也有「跑步进入共产主义」等政策失误；教训是「实事求是」原则不能丢。</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【辨析题】有人说「毛泽东在探索中犯了严重错误，所以社会主义建设道路初步探索是失败的」。你如何反驳？要讲清成就与曲折的关系。</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以苏为鉴</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两类矛盾学说</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四个现代化目标</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辩证思维：成就与曲折并存</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史料分析法（《论十大关系》原文）</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把曲折当成主流——低估这一时期工业化基础、教育普及、医疗体系等真实成就</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下一专题进入中国特色社会主义理论体系总论——从毛泽东思想到新飞跃。</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25 / 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3</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第三部分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新的飞跃：中国特色社会主义理论体系</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本部分学时：25 学时 · 专题六—九 + 第十—十六章</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23 / 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6：中国特色社会主义理论体系的形成发展</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1978 年以后，中国的理论体系为什么叫「中国特色社会主义」而不是别的名字？</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所属部分：第三部分    ·    学时：2</a:t>
            </a:r>
          </a:p>
          <a:p>
            <a:pPr algn="l">
              <a:lnSpc>
                <a:spcPct val="150000"/>
              </a:lnSpc>
            </a:pPr>
            <a:r>
              <a:rPr sz="1100" b="0">
                <a:solidFill>
                  <a:srgbClr val="2C2C2C"/>
                </a:solidFill>
                <a:latin typeface="思源黑体"/>
                <a:eastAsia typeface="思源黑体"/>
                <a:cs typeface="思源黑体"/>
                <a:ascii typeface="思源黑体"/>
              </a:rPr>
              <a:t>主题定位：第二次飞跃总论</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掌握：中国特色社会主义理论体系的形成过程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了解：其与毛泽东思想的关系</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1978 年以后，中国的理论体系为什么叫「中国特色社会主义」而不是别的名字？</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时代主题——和平与发展（邓小平 1985 年提出）</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实践起点——1978 年真理标准大讨论 + 党的十一届三中全会</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24 / 38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7：邓小平理论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 1992 年邓小平南方谈话被称为「改革开放的第二个宣言」？</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所属部分：第三部分    ·    学时：4</a:t>
            </a:r>
          </a:p>
          <a:p>
            <a:pPr algn="l">
              <a:lnSpc>
                <a:spcPct val="150000"/>
              </a:lnSpc>
            </a:pPr>
            <a:r>
              <a:rPr sz="1100" b="0">
                <a:solidFill>
                  <a:srgbClr val="2C2C2C"/>
                </a:solidFill>
                <a:latin typeface="思源黑体"/>
                <a:eastAsia typeface="思源黑体"/>
                <a:cs typeface="思源黑体"/>
                <a:ascii typeface="思源黑体"/>
              </a:rPr>
              <a:t>主题定位：开篇之作 · 回答「什么是社会主义」</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掌握：社会主义本质论；社会主义初级阶段理论；改革开放理论</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熟悉：邓小平理论的形成和发展过程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了解：邓小平理论的历史地位</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 1992 年邓小平南方谈话被称为「改革开放的第二个宣言」？</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社会主义本质论——解放生产力，发展生产力，消灭剥削，消除两极分化，最终达到共同富裕</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社会主义初级阶段——至少需要 100 年；基本路线：一个中心 + 两个基本点</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25 / 38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8：「三个代表」重要思想</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2000 年前后中国共产党面对的最大挑战是什么？为什么必须提出「三个代表」？</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所属部分：第三部分    ·    学时：2</a:t>
            </a:r>
          </a:p>
          <a:p>
            <a:pPr algn="l">
              <a:lnSpc>
                <a:spcPct val="150000"/>
              </a:lnSpc>
            </a:pPr>
            <a:r>
              <a:rPr sz="1100" b="0">
                <a:solidFill>
                  <a:srgbClr val="2C2C2C"/>
                </a:solidFill>
                <a:latin typeface="思源黑体"/>
                <a:eastAsia typeface="思源黑体"/>
                <a:cs typeface="思源黑体"/>
                <a:ascii typeface="思源黑体"/>
              </a:rPr>
              <a:t>主题定位：回答「建设什么样的党」</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掌握：「三个代表」重要思想的核心观点和主要内容</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熟悉：形成的社会历史条件</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了解：在马克思主义中国化进程中的历史地位</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2000 年前后中国共产党面对的最大挑战是什么？为什么必须提出「三个代表」？</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三个代表——始终代表中国先进生产力的发展要求 / 先进文化的前进方向 / 最广大人民的根本利益</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先进生产力——不是某项技术，而是社会生产力整体中最活跃、最能带动全局的部分</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26 / 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9：科学发展观</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GDP 高速增长十几年之后，为什么 2003 年要提出「全面协调可持续」？</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所属部分：第三部分    ·    学时：2</a:t>
            </a:r>
          </a:p>
          <a:p>
            <a:pPr algn="l">
              <a:lnSpc>
                <a:spcPct val="150000"/>
              </a:lnSpc>
            </a:pPr>
            <a:r>
              <a:rPr sz="1100" b="0">
                <a:solidFill>
                  <a:srgbClr val="2C2C2C"/>
                </a:solidFill>
                <a:latin typeface="思源黑体"/>
                <a:eastAsia typeface="思源黑体"/>
                <a:cs typeface="思源黑体"/>
                <a:ascii typeface="思源黑体"/>
              </a:rPr>
              <a:t>主题定位：回答「实现什么样的发展」</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掌握：科学发展观的科学内涵（四个方面）</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熟悉：科学发展观的形成过程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了解：科学发展观的指导意义</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GDP 高速增长十几年之后，为什么 2003 年要提出「全面协调可持续」？</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第一要义——推动经济社会发展（但要从单纯 GDP 转向全面协调可持续）</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核心——以人为本</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27 / 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本课程核心章节  ·  6 学时  ·  分两讲  ·  本章位置与历史地位</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第十章：习近平新时代中国特色社会主义思想</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4864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本章地位</a:t>
            </a:r>
          </a:p>
        </p:txBody>
      </p:sp>
      <p:sp>
        <p:nvSpPr>
          <p:cNvPr id="8" name="TextBox 7"/>
          <p:cNvSpPr txBox="1"/>
          <p:nvPr/>
        </p:nvSpPr>
        <p:spPr>
          <a:xfrm>
            <a:off x="594360" y="1691640"/>
            <a:ext cx="5486400" cy="548640"/>
          </a:xfrm>
          <a:prstGeom prst="rect">
            <a:avLst/>
          </a:prstGeom>
          <a:noFill/>
        </p:spPr>
        <p:txBody>
          <a:bodyPr wrap="square" lIns="45720" rIns="45720" tIns="18288" bIns="18288" anchor="t">
            <a:spAutoFit/>
          </a:bodyPr>
          <a:lstStyle/>
          <a:p>
            <a:pPr algn="l">
              <a:lnSpc>
                <a:spcPct val="120000"/>
              </a:lnSpc>
            </a:pPr>
            <a:r>
              <a:rPr sz="2000" b="1">
                <a:solidFill>
                  <a:srgbClr val="C73E1D"/>
                </a:solidFill>
                <a:latin typeface="思源黑体"/>
                <a:eastAsia typeface="思源黑体"/>
                <a:cs typeface="思源黑体"/>
                <a:ascii typeface="思源黑体"/>
              </a:rPr>
              <a:t>本章是本课程的核心章节</a:t>
            </a:r>
          </a:p>
        </p:txBody>
      </p:sp>
      <p:sp>
        <p:nvSpPr>
          <p:cNvPr id="9" name="TextBox 8"/>
          <p:cNvSpPr txBox="1"/>
          <p:nvPr/>
        </p:nvSpPr>
        <p:spPr>
          <a:xfrm>
            <a:off x="594360" y="2331720"/>
            <a:ext cx="5486400" cy="2286000"/>
          </a:xfrm>
          <a:prstGeom prst="rect">
            <a:avLst/>
          </a:prstGeom>
          <a:noFill/>
        </p:spPr>
        <p:txBody>
          <a:bodyPr wrap="square" lIns="45720" rIns="45720" tIns="18288" bIns="18288">
            <a:spAutoFit/>
          </a:bodyPr>
          <a:lstStyle/>
          <a:p>
            <a:pPr algn="l">
              <a:lnSpc>
                <a:spcPct val="160000"/>
              </a:lnSpc>
            </a:pPr>
            <a:r>
              <a:rPr sz="1200" b="0">
                <a:solidFill>
                  <a:srgbClr val="2C2C2C"/>
                </a:solidFill>
                <a:latin typeface="思源黑体"/>
                <a:eastAsia typeface="思源黑体"/>
                <a:cs typeface="思源黑体"/>
                <a:ascii typeface="思源黑体"/>
              </a:rPr>
              <a:t>习近平新时代中国特色社会主义思想是当代中国马克思主义、二十一世纪马克思主义。</a:t>
            </a:r>
          </a:p>
          <a:p>
            <a:pPr algn="l">
              <a:lnSpc>
                <a:spcPct val="160000"/>
              </a:lnSpc>
            </a:pPr>
            <a:r>
              <a:rPr sz="1200" b="0">
                <a:solidFill>
                  <a:srgbClr val="2C2C2C"/>
                </a:solidFill>
                <a:latin typeface="思源黑体"/>
                <a:eastAsia typeface="思源黑体"/>
                <a:cs typeface="思源黑体"/>
                <a:ascii typeface="思源黑体"/>
              </a:rPr>
              <a:t>是中华文化和中国精神的时代精华。</a:t>
            </a:r>
          </a:p>
          <a:p>
            <a:pPr algn="l">
              <a:lnSpc>
                <a:spcPct val="160000"/>
              </a:lnSpc>
            </a:pPr>
            <a:r>
              <a:rPr sz="1200" b="0">
                <a:solidFill>
                  <a:srgbClr val="2C2C2C"/>
                </a:solidFill>
                <a:latin typeface="思源黑体"/>
                <a:eastAsia typeface="思源黑体"/>
                <a:cs typeface="思源黑体"/>
                <a:ascii typeface="思源黑体"/>
              </a:rPr>
              <a:t>实现了马克思主义中国化时代化新的飞跃。</a:t>
            </a:r>
          </a:p>
        </p:txBody>
      </p:sp>
      <p:sp>
        <p:nvSpPr>
          <p:cNvPr id="10" name="TextBox 9"/>
          <p:cNvSpPr txBox="1"/>
          <p:nvPr/>
        </p:nvSpPr>
        <p:spPr>
          <a:xfrm>
            <a:off x="594360" y="4846320"/>
            <a:ext cx="54864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本章学习目标</a:t>
            </a:r>
          </a:p>
        </p:txBody>
      </p:sp>
      <p:sp>
        <p:nvSpPr>
          <p:cNvPr id="11" name="TextBox 10"/>
          <p:cNvSpPr txBox="1"/>
          <p:nvPr/>
        </p:nvSpPr>
        <p:spPr>
          <a:xfrm>
            <a:off x="594360" y="5257800"/>
            <a:ext cx="5486400" cy="10972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理解其历史地位</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掌握「十个明确」核心要义</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掌握「十四个坚持」基本方略</a:t>
            </a:r>
          </a:p>
        </p:txBody>
      </p:sp>
      <p:sp>
        <p:nvSpPr>
          <p:cNvPr id="12" name="TextBox 11"/>
          <p:cNvSpPr txBox="1"/>
          <p:nvPr/>
        </p:nvSpPr>
        <p:spPr>
          <a:xfrm>
            <a:off x="6400800" y="1280160"/>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历史地位 4 重判断</a:t>
            </a:r>
          </a:p>
        </p:txBody>
      </p:sp>
      <p:sp>
        <p:nvSpPr>
          <p:cNvPr id="13" name="Rectangle 12"/>
          <p:cNvSpPr/>
          <p:nvPr/>
        </p:nvSpPr>
        <p:spPr>
          <a:xfrm>
            <a:off x="6400800" y="16916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6916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830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01</a:t>
            </a:r>
          </a:p>
        </p:txBody>
      </p:sp>
      <p:sp>
        <p:nvSpPr>
          <p:cNvPr id="16" name="TextBox 15"/>
          <p:cNvSpPr txBox="1"/>
          <p:nvPr/>
        </p:nvSpPr>
        <p:spPr>
          <a:xfrm>
            <a:off x="7178040" y="18288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马克思主义中国化时代化的最新理论成果</a:t>
            </a:r>
          </a:p>
        </p:txBody>
      </p:sp>
      <p:sp>
        <p:nvSpPr>
          <p:cNvPr id="17" name="Rectangle 16"/>
          <p:cNvSpPr/>
          <p:nvPr/>
        </p:nvSpPr>
        <p:spPr>
          <a:xfrm>
            <a:off x="6400800" y="26060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6060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6974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02</a:t>
            </a:r>
          </a:p>
        </p:txBody>
      </p:sp>
      <p:sp>
        <p:nvSpPr>
          <p:cNvPr id="20" name="TextBox 19"/>
          <p:cNvSpPr txBox="1"/>
          <p:nvPr/>
        </p:nvSpPr>
        <p:spPr>
          <a:xfrm>
            <a:off x="7178040" y="27432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新时代党和国家的行动指南</a:t>
            </a:r>
          </a:p>
        </p:txBody>
      </p:sp>
      <p:sp>
        <p:nvSpPr>
          <p:cNvPr id="21" name="Rectangle 20"/>
          <p:cNvSpPr/>
          <p:nvPr/>
        </p:nvSpPr>
        <p:spPr>
          <a:xfrm>
            <a:off x="6400800" y="35204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35204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6118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03</a:t>
            </a:r>
          </a:p>
        </p:txBody>
      </p:sp>
      <p:sp>
        <p:nvSpPr>
          <p:cNvPr id="24" name="TextBox 23"/>
          <p:cNvSpPr txBox="1"/>
          <p:nvPr/>
        </p:nvSpPr>
        <p:spPr>
          <a:xfrm>
            <a:off x="7178040" y="36576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21 世纪马克思主义、当代中国马克思主义</a:t>
            </a:r>
          </a:p>
        </p:txBody>
      </p:sp>
      <p:sp>
        <p:nvSpPr>
          <p:cNvPr id="25" name="Rectangle 24"/>
          <p:cNvSpPr/>
          <p:nvPr/>
        </p:nvSpPr>
        <p:spPr>
          <a:xfrm>
            <a:off x="6400800" y="44348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4348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5262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04</a:t>
            </a:r>
          </a:p>
        </p:txBody>
      </p:sp>
      <p:sp>
        <p:nvSpPr>
          <p:cNvPr id="28" name="TextBox 27"/>
          <p:cNvSpPr txBox="1"/>
          <p:nvPr/>
        </p:nvSpPr>
        <p:spPr>
          <a:xfrm>
            <a:off x="7178040" y="45720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中华文化和中国精神的时代精华</a:t>
            </a:r>
          </a:p>
        </p:txBody>
      </p:sp>
      <p:cxnSp>
        <p:nvCxnSpPr>
          <p:cNvPr id="29" name="Connector 2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31" name="TextBox 3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十个明确 = 对新时代坚持和发展中国特色社会主义的根本性判断</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第十章：十个明确（核心要义）</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「十个明确」逐条扫描</a:t>
            </a:r>
          </a:p>
        </p:txBody>
      </p:sp>
      <p:sp>
        <p:nvSpPr>
          <p:cNvPr id="8" name="TextBox 7"/>
          <p:cNvSpPr txBox="1"/>
          <p:nvPr/>
        </p:nvSpPr>
        <p:spPr>
          <a:xfrm>
            <a:off x="594360" y="1645920"/>
            <a:ext cx="11247120" cy="45720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总任务：实现社会主义现代化和中华民族伟大复兴</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社会主要矛盾：人民日益增长的美好生活需要 vs 不平衡不充分的发展</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总体布局「五位一体」 + 战略布局「四个全面」</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全面深化改革总目标：完善制度、推进治理现代化</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全面依法治国总目标：建设法治体系、建设法治国家</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基本经济制度：公有制为主体 + 多种所有制共同发展（市场决定性 + 更好发挥政府作用）</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坚持以人民为中心的发展思想</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党在新时代的强军目标（听党指挥、能打胜仗、作风优良）</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中国特色大国外交：构建新型国际关系、人类命运共同体</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全面从严治党的战略方针</a:t>
            </a:r>
          </a:p>
        </p:txBody>
      </p:sp>
      <p:sp>
        <p:nvSpPr>
          <p:cNvPr id="9" name="Rectangle 8"/>
          <p:cNvSpPr/>
          <p:nvPr/>
        </p:nvSpPr>
        <p:spPr>
          <a:xfrm>
            <a:off x="457200" y="6263640"/>
            <a:ext cx="11338560" cy="1371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29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十四个坚持 = 新时代坚持和发展中国特色社会主义的行动纲领</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第十章：十四个坚持（基本方略）</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「十四个坚持」逐条扫描</a:t>
            </a:r>
          </a:p>
        </p:txBody>
      </p:sp>
      <p:sp>
        <p:nvSpPr>
          <p:cNvPr id="8" name="Rectangle 7"/>
          <p:cNvSpPr/>
          <p:nvPr/>
        </p:nvSpPr>
        <p:spPr>
          <a:xfrm>
            <a:off x="457200" y="16916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 坚持党对一切工作的领导</a:t>
            </a:r>
          </a:p>
        </p:txBody>
      </p:sp>
      <p:sp>
        <p:nvSpPr>
          <p:cNvPr id="11" name="Rectangle 10"/>
          <p:cNvSpPr/>
          <p:nvPr/>
        </p:nvSpPr>
        <p:spPr>
          <a:xfrm>
            <a:off x="6080760" y="16916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7373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2 坚持以人民为中心</a:t>
            </a:r>
          </a:p>
        </p:txBody>
      </p:sp>
      <p:sp>
        <p:nvSpPr>
          <p:cNvPr id="14" name="Rectangle 13"/>
          <p:cNvSpPr/>
          <p:nvPr/>
        </p:nvSpPr>
        <p:spPr>
          <a:xfrm>
            <a:off x="457200" y="23317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774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3 坚持全面深化改革</a:t>
            </a:r>
          </a:p>
        </p:txBody>
      </p:sp>
      <p:sp>
        <p:nvSpPr>
          <p:cNvPr id="17" name="Rectangle 16"/>
          <p:cNvSpPr/>
          <p:nvPr/>
        </p:nvSpPr>
        <p:spPr>
          <a:xfrm>
            <a:off x="6080760" y="23317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8076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3774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4 坚持新发展理念</a:t>
            </a:r>
          </a:p>
        </p:txBody>
      </p:sp>
      <p:sp>
        <p:nvSpPr>
          <p:cNvPr id="20" name="Rectangle 19"/>
          <p:cNvSpPr/>
          <p:nvPr/>
        </p:nvSpPr>
        <p:spPr>
          <a:xfrm>
            <a:off x="457200" y="297180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01752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5 坚持人民当家作主</a:t>
            </a:r>
          </a:p>
        </p:txBody>
      </p:sp>
      <p:sp>
        <p:nvSpPr>
          <p:cNvPr id="23" name="Rectangle 22"/>
          <p:cNvSpPr/>
          <p:nvPr/>
        </p:nvSpPr>
        <p:spPr>
          <a:xfrm>
            <a:off x="6080760" y="297180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301752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6 坚持全面依法治国</a:t>
            </a:r>
          </a:p>
        </p:txBody>
      </p:sp>
      <p:sp>
        <p:nvSpPr>
          <p:cNvPr id="26" name="Rectangle 25"/>
          <p:cNvSpPr/>
          <p:nvPr/>
        </p:nvSpPr>
        <p:spPr>
          <a:xfrm>
            <a:off x="457200" y="361188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65760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7 坚持社会主义核心价值体系</a:t>
            </a:r>
          </a:p>
        </p:txBody>
      </p:sp>
      <p:sp>
        <p:nvSpPr>
          <p:cNvPr id="29" name="Rectangle 28"/>
          <p:cNvSpPr/>
          <p:nvPr/>
        </p:nvSpPr>
        <p:spPr>
          <a:xfrm>
            <a:off x="6080760" y="361188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076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65760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8 坚持在发展中保障和改善民生</a:t>
            </a:r>
          </a:p>
        </p:txBody>
      </p:sp>
      <p:sp>
        <p:nvSpPr>
          <p:cNvPr id="32" name="Rectangle 31"/>
          <p:cNvSpPr/>
          <p:nvPr/>
        </p:nvSpPr>
        <p:spPr>
          <a:xfrm>
            <a:off x="457200" y="425196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9768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9 坚持人与自然和谐共生</a:t>
            </a:r>
          </a:p>
        </p:txBody>
      </p:sp>
      <p:sp>
        <p:nvSpPr>
          <p:cNvPr id="35" name="Rectangle 34"/>
          <p:cNvSpPr/>
          <p:nvPr/>
        </p:nvSpPr>
        <p:spPr>
          <a:xfrm>
            <a:off x="6080760" y="425196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8076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429768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10 坚持总体国家安全观</a:t>
            </a:r>
          </a:p>
        </p:txBody>
      </p:sp>
      <p:sp>
        <p:nvSpPr>
          <p:cNvPr id="38" name="Rectangle 37"/>
          <p:cNvSpPr/>
          <p:nvPr/>
        </p:nvSpPr>
        <p:spPr>
          <a:xfrm>
            <a:off x="457200" y="48920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8920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9377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11 坚持党对人民军队的绝对领导</a:t>
            </a:r>
          </a:p>
        </p:txBody>
      </p:sp>
      <p:sp>
        <p:nvSpPr>
          <p:cNvPr id="41" name="Rectangle 40"/>
          <p:cNvSpPr/>
          <p:nvPr/>
        </p:nvSpPr>
        <p:spPr>
          <a:xfrm>
            <a:off x="6080760" y="48920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080760" y="48920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9377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12 坚持「一国两制」和推进祖国统一</a:t>
            </a:r>
          </a:p>
        </p:txBody>
      </p:sp>
      <p:sp>
        <p:nvSpPr>
          <p:cNvPr id="44" name="Rectangle 43"/>
          <p:cNvSpPr/>
          <p:nvPr/>
        </p:nvSpPr>
        <p:spPr>
          <a:xfrm>
            <a:off x="457200" y="55321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55321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5778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13 坚持推动构建人类命运共同体</a:t>
            </a:r>
          </a:p>
        </p:txBody>
      </p:sp>
      <p:sp>
        <p:nvSpPr>
          <p:cNvPr id="47" name="Rectangle 46"/>
          <p:cNvSpPr/>
          <p:nvPr/>
        </p:nvSpPr>
        <p:spPr>
          <a:xfrm>
            <a:off x="6080760" y="55321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80760" y="55321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55778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14 坚持全面从严治党</a:t>
            </a:r>
          </a:p>
        </p:txBody>
      </p:sp>
      <p:cxnSp>
        <p:nvCxnSpPr>
          <p:cNvPr id="50" name="Connector 4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52" name="TextBox 5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五位一体总体布局  ·  前两领域  ·  5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第十一—十二章：经济 + 政治</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第十一章 · 中国特色社会主义经济建设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3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基本经济制度：公有制为主体、多种所有制经济共同发展</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分配制度：按劳分配为主体、多种分配方式并存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新发展理念：创新、协调、绿色、开放、共享</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建设现代化经济体系</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供给侧结构性改革</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乡村振兴战略 + 区域协调发展战略</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第十二章 · 中国特色社会主义政治建设</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基本政治制度：人大制度、政协制度、民族区域自治、基层群众自治</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走中国特色社会主义政治发展道路</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三统一：党的领导 + 人民当家作主 + 依法治国有机统一</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全面依法治国：建设法治体系、建设法治国家</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全过程人民民主</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31 / 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五位一体总体布局  ·  中间两领域  ·  4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第十三—十四章：文化 + 社会</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第十三章 · 中国特色社会主义文化建设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坚持马克思主义在意识形态领域指导地位（根本制度）</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社会主义核心价值观 24 字（三层：国家/社会/个人）</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建设社会主义文化强国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中华优秀传统文化的「两个转化」（创造性转化 + 创新性发展）</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意识形态工作领导权</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第十四章 · 中国特色社会主义社会建设</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以人民为中心的发展思想</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保障和改善民生：教育、就业、收入分配、社会保障、健康中国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民生「七有」：幼学劳病老住弱</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加强和创新社会治理（共建共治共享）</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坚持总体国家安全观</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32 / 38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五位一体收官 + 现代化战略  ·  5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第十五—十六章：生态文明 + 现代化</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第十五章 · 中国特色社会主义生态文明建设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生态文明建设的提出和重大意义</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坚持人与自然和谐共生</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「两山论」：绿水青山就是金山银山</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双碳目标：2030 碳达峰 / 2060 碳中和</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建设美丽中国 + 生态文明制度体系</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第十六章 · 现代化与民族复兴</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3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全面建成小康社会的伟大成就（2020）</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「两个一百年」奋斗目标</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新「两步走」：2020-2035 基本现代化 / 2035-本世纪中叶现代化强国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中国梦：国家富强、民族振兴、人民幸福</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中国式现代化（五个特征）</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 · 现代化</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33 /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ASSESSMENT</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考核方式与成绩评定</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总成绩 = 平时 40% + 期末 60%</a:t>
            </a:r>
          </a:p>
        </p:txBody>
      </p:sp>
      <p:sp>
        <p:nvSpPr>
          <p:cNvPr id="8" name="Rectangle 7"/>
          <p:cNvSpPr/>
          <p:nvPr/>
        </p:nvSpPr>
        <p:spPr>
          <a:xfrm>
            <a:off x="457200" y="1691640"/>
            <a:ext cx="576072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5760720" cy="4572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5486400" cy="274320"/>
          </a:xfrm>
          <a:prstGeom prst="rect">
            <a:avLst/>
          </a:prstGeom>
          <a:noFill/>
        </p:spPr>
        <p:txBody>
          <a:bodyPr wrap="square" lIns="45720" rIns="45720" tIns="18288" bIns="18288" anchor="t">
            <a:spAutoFit/>
          </a:bodyPr>
          <a:lstStyle/>
          <a:p>
            <a:pPr algn="l">
              <a:lnSpc>
                <a:spcPct val="120000"/>
              </a:lnSpc>
            </a:pPr>
            <a:r>
              <a:rPr sz="1200" b="1">
                <a:solidFill>
                  <a:srgbClr val="FAF7F2"/>
                </a:solidFill>
                <a:latin typeface="思源黑体"/>
                <a:eastAsia typeface="思源黑体"/>
                <a:cs typeface="思源黑体"/>
                <a:ascii typeface="思源黑体"/>
              </a:rPr>
              <a:t>平时成绩（40%）</a:t>
            </a:r>
          </a:p>
        </p:txBody>
      </p:sp>
      <p:sp>
        <p:nvSpPr>
          <p:cNvPr id="11" name="TextBox 10"/>
          <p:cNvSpPr txBox="1"/>
          <p:nvPr/>
        </p:nvSpPr>
        <p:spPr>
          <a:xfrm>
            <a:off x="640080" y="2194560"/>
            <a:ext cx="5486400" cy="164592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课堂考勤与纪律 · 5%</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课堂学习与笔记 · 10%</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课后作业 · 5%</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实践研修（调研、翻转、研讨）· 20%</a:t>
            </a:r>
          </a:p>
        </p:txBody>
      </p:sp>
      <p:sp>
        <p:nvSpPr>
          <p:cNvPr id="12" name="Rectangle 11"/>
          <p:cNvSpPr/>
          <p:nvPr/>
        </p:nvSpPr>
        <p:spPr>
          <a:xfrm>
            <a:off x="457200" y="4023360"/>
            <a:ext cx="576072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023360"/>
            <a:ext cx="5760720" cy="4572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14800"/>
            <a:ext cx="5486400" cy="274320"/>
          </a:xfrm>
          <a:prstGeom prst="rect">
            <a:avLst/>
          </a:prstGeom>
          <a:noFill/>
        </p:spPr>
        <p:txBody>
          <a:bodyPr wrap="square" lIns="45720" rIns="45720" tIns="18288" bIns="18288" anchor="t">
            <a:spAutoFit/>
          </a:bodyPr>
          <a:lstStyle/>
          <a:p>
            <a:pPr algn="l">
              <a:lnSpc>
                <a:spcPct val="120000"/>
              </a:lnSpc>
            </a:pPr>
            <a:r>
              <a:rPr sz="1200" b="1">
                <a:solidFill>
                  <a:srgbClr val="FAF7F2"/>
                </a:solidFill>
                <a:latin typeface="思源黑体"/>
                <a:eastAsia typeface="思源黑体"/>
                <a:cs typeface="思源黑体"/>
                <a:ascii typeface="思源黑体"/>
              </a:rPr>
              <a:t>期末考试（60%·闭卷）</a:t>
            </a:r>
          </a:p>
        </p:txBody>
      </p:sp>
      <p:sp>
        <p:nvSpPr>
          <p:cNvPr id="15" name="TextBox 14"/>
          <p:cNvSpPr txBox="1"/>
          <p:nvPr/>
        </p:nvSpPr>
        <p:spPr>
          <a:xfrm>
            <a:off x="640080" y="4526280"/>
            <a:ext cx="5486400" cy="164592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单项选择题 + 多项选择题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简答题 + 辨析题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材料分析题 + 论述题</a:t>
            </a:r>
          </a:p>
        </p:txBody>
      </p:sp>
      <p:sp>
        <p:nvSpPr>
          <p:cNvPr id="16" name="TextBox 15"/>
          <p:cNvSpPr txBox="1"/>
          <p:nvPr/>
        </p:nvSpPr>
        <p:spPr>
          <a:xfrm>
            <a:off x="6400800" y="1280160"/>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考核设计原则</a:t>
            </a:r>
          </a:p>
        </p:txBody>
      </p:sp>
      <p:sp>
        <p:nvSpPr>
          <p:cNvPr id="17" name="TextBox 16"/>
          <p:cNvSpPr txBox="1"/>
          <p:nvPr/>
        </p:nvSpPr>
        <p:spPr>
          <a:xfrm>
            <a:off x="6400800" y="1691640"/>
            <a:ext cx="5394960" cy="182880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过程性 + 终结性结合</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知识 + 能力 + 素养三维评价</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重视实践与课堂参与</a:t>
            </a:r>
          </a:p>
        </p:txBody>
      </p:sp>
      <p:sp>
        <p:nvSpPr>
          <p:cNvPr id="18" name="TextBox 17"/>
          <p:cNvSpPr txBox="1"/>
          <p:nvPr/>
        </p:nvSpPr>
        <p:spPr>
          <a:xfrm>
            <a:off x="6400800" y="3749039"/>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推荐教材与资源</a:t>
            </a:r>
          </a:p>
        </p:txBody>
      </p:sp>
      <p:sp>
        <p:nvSpPr>
          <p:cNvPr id="19" name="TextBox 18"/>
          <p:cNvSpPr txBox="1"/>
          <p:nvPr/>
        </p:nvSpPr>
        <p:spPr>
          <a:xfrm>
            <a:off x="6400800" y="4160520"/>
            <a:ext cx="5394960" cy="210312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主教材：本书编写组《毛概》2023 修订版</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原著：《毛选》《邓选》《习谈治国理政》</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平台：学习强国、超星学习通、国家智慧教育平台</a:t>
            </a:r>
          </a:p>
        </p:txBody>
      </p:sp>
      <p:cxnSp>
        <p:nvCxnSpPr>
          <p:cNvPr id="20" name="Connector 1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22" name="TextBox 2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34 / 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WEEKLY SCHEDULE</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教学进度表（48 学时）</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200" b="0">
                <a:solidFill>
                  <a:srgbClr val="6B6B6B"/>
                </a:solidFill>
                <a:latin typeface="思源黑体"/>
                <a:eastAsia typeface="思源黑体"/>
                <a:cs typeface="思源黑体"/>
                <a:ascii typeface="思源黑体"/>
              </a:rPr>
              <a:t>21 周进度安排（理论 16 周 + 复习考核 1 周 + 期末 2 周 + 实践 2 周）</a:t>
            </a:r>
          </a:p>
        </p:txBody>
      </p:sp>
      <p:sp>
        <p:nvSpPr>
          <p:cNvPr id="8" name="Rectangle 7"/>
          <p:cNvSpPr/>
          <p:nvPr/>
        </p:nvSpPr>
        <p:spPr>
          <a:xfrm>
            <a:off x="457200" y="1691640"/>
            <a:ext cx="11338560"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55648"/>
            <a:ext cx="82296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周次</a:t>
            </a:r>
          </a:p>
        </p:txBody>
      </p:sp>
      <p:sp>
        <p:nvSpPr>
          <p:cNvPr id="10" name="TextBox 9"/>
          <p:cNvSpPr txBox="1"/>
          <p:nvPr/>
        </p:nvSpPr>
        <p:spPr>
          <a:xfrm>
            <a:off x="1463040" y="1755648"/>
            <a:ext cx="6400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学时</a:t>
            </a:r>
          </a:p>
        </p:txBody>
      </p:sp>
      <p:sp>
        <p:nvSpPr>
          <p:cNvPr id="11" name="TextBox 10"/>
          <p:cNvSpPr txBox="1"/>
          <p:nvPr/>
        </p:nvSpPr>
        <p:spPr>
          <a:xfrm>
            <a:off x="2194560" y="1755648"/>
            <a:ext cx="630936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教学内容</a:t>
            </a:r>
          </a:p>
        </p:txBody>
      </p:sp>
      <p:sp>
        <p:nvSpPr>
          <p:cNvPr id="12" name="TextBox 11"/>
          <p:cNvSpPr txBox="1"/>
          <p:nvPr/>
        </p:nvSpPr>
        <p:spPr>
          <a:xfrm>
            <a:off x="8595360" y="1755648"/>
            <a:ext cx="15544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教学方法</a:t>
            </a:r>
          </a:p>
        </p:txBody>
      </p:sp>
      <p:sp>
        <p:nvSpPr>
          <p:cNvPr id="13" name="TextBox 12"/>
          <p:cNvSpPr txBox="1"/>
          <p:nvPr/>
        </p:nvSpPr>
        <p:spPr>
          <a:xfrm>
            <a:off x="10241280" y="1755648"/>
            <a:ext cx="15544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作业</a:t>
            </a:r>
          </a:p>
        </p:txBody>
      </p:sp>
      <p:sp>
        <p:nvSpPr>
          <p:cNvPr id="14" name="Rectangle 13"/>
          <p:cNvSpPr/>
          <p:nvPr/>
        </p:nvSpPr>
        <p:spPr>
          <a:xfrm>
            <a:off x="457200" y="2057400"/>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09397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 周</a:t>
            </a:r>
          </a:p>
        </p:txBody>
      </p:sp>
      <p:sp>
        <p:nvSpPr>
          <p:cNvPr id="16" name="TextBox 15"/>
          <p:cNvSpPr txBox="1"/>
          <p:nvPr/>
        </p:nvSpPr>
        <p:spPr>
          <a:xfrm>
            <a:off x="1463040" y="209397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17" name="TextBox 16"/>
          <p:cNvSpPr txBox="1"/>
          <p:nvPr/>
        </p:nvSpPr>
        <p:spPr>
          <a:xfrm>
            <a:off x="2194560" y="209397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专题一：马克思主义中国化时代化总论</a:t>
            </a:r>
          </a:p>
        </p:txBody>
      </p:sp>
      <p:sp>
        <p:nvSpPr>
          <p:cNvPr id="18" name="TextBox 17"/>
          <p:cNvSpPr txBox="1"/>
          <p:nvPr/>
        </p:nvSpPr>
        <p:spPr>
          <a:xfrm>
            <a:off x="8595360" y="209397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19" name="TextBox 18"/>
          <p:cNvSpPr txBox="1"/>
          <p:nvPr/>
        </p:nvSpPr>
        <p:spPr>
          <a:xfrm>
            <a:off x="10241280" y="209397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20" name="Rectangle 19"/>
          <p:cNvSpPr/>
          <p:nvPr/>
        </p:nvSpPr>
        <p:spPr>
          <a:xfrm>
            <a:off x="457200" y="2340864"/>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37744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2-3 周</a:t>
            </a:r>
          </a:p>
        </p:txBody>
      </p:sp>
      <p:sp>
        <p:nvSpPr>
          <p:cNvPr id="22" name="TextBox 21"/>
          <p:cNvSpPr txBox="1"/>
          <p:nvPr/>
        </p:nvSpPr>
        <p:spPr>
          <a:xfrm>
            <a:off x="1463040" y="237744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23" name="TextBox 22"/>
          <p:cNvSpPr txBox="1"/>
          <p:nvPr/>
        </p:nvSpPr>
        <p:spPr>
          <a:xfrm>
            <a:off x="2194560" y="237744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专题二：毛泽东思想及其历史地位</a:t>
            </a:r>
          </a:p>
        </p:txBody>
      </p:sp>
      <p:sp>
        <p:nvSpPr>
          <p:cNvPr id="24" name="TextBox 23"/>
          <p:cNvSpPr txBox="1"/>
          <p:nvPr/>
        </p:nvSpPr>
        <p:spPr>
          <a:xfrm>
            <a:off x="8595360" y="237744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25" name="TextBox 24"/>
          <p:cNvSpPr txBox="1"/>
          <p:nvPr/>
        </p:nvSpPr>
        <p:spPr>
          <a:xfrm>
            <a:off x="10241280" y="237744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思考题+读书报告</a:t>
            </a:r>
          </a:p>
        </p:txBody>
      </p:sp>
      <p:sp>
        <p:nvSpPr>
          <p:cNvPr id="26" name="Rectangle 25"/>
          <p:cNvSpPr/>
          <p:nvPr/>
        </p:nvSpPr>
        <p:spPr>
          <a:xfrm>
            <a:off x="457200" y="2624328"/>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66090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4-5 周</a:t>
            </a:r>
          </a:p>
        </p:txBody>
      </p:sp>
      <p:sp>
        <p:nvSpPr>
          <p:cNvPr id="28" name="TextBox 27"/>
          <p:cNvSpPr txBox="1"/>
          <p:nvPr/>
        </p:nvSpPr>
        <p:spPr>
          <a:xfrm>
            <a:off x="1463040" y="266090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29" name="TextBox 28"/>
          <p:cNvSpPr txBox="1"/>
          <p:nvPr/>
        </p:nvSpPr>
        <p:spPr>
          <a:xfrm>
            <a:off x="2194560" y="266090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专题三：新民主主义革命理论</a:t>
            </a:r>
          </a:p>
        </p:txBody>
      </p:sp>
      <p:sp>
        <p:nvSpPr>
          <p:cNvPr id="30" name="TextBox 29"/>
          <p:cNvSpPr txBox="1"/>
          <p:nvPr/>
        </p:nvSpPr>
        <p:spPr>
          <a:xfrm>
            <a:off x="8595360" y="266090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31" name="TextBox 30"/>
          <p:cNvSpPr txBox="1"/>
          <p:nvPr/>
        </p:nvSpPr>
        <p:spPr>
          <a:xfrm>
            <a:off x="10241280" y="266090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32" name="Rectangle 31"/>
          <p:cNvSpPr/>
          <p:nvPr/>
        </p:nvSpPr>
        <p:spPr>
          <a:xfrm>
            <a:off x="457200" y="2907792"/>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294436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6-7 周</a:t>
            </a:r>
          </a:p>
        </p:txBody>
      </p:sp>
      <p:sp>
        <p:nvSpPr>
          <p:cNvPr id="34" name="TextBox 33"/>
          <p:cNvSpPr txBox="1"/>
          <p:nvPr/>
        </p:nvSpPr>
        <p:spPr>
          <a:xfrm>
            <a:off x="1463040" y="294436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35" name="TextBox 34"/>
          <p:cNvSpPr txBox="1"/>
          <p:nvPr/>
        </p:nvSpPr>
        <p:spPr>
          <a:xfrm>
            <a:off x="2194560" y="294436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专题四：社会主义改造理论</a:t>
            </a:r>
          </a:p>
        </p:txBody>
      </p:sp>
      <p:sp>
        <p:nvSpPr>
          <p:cNvPr id="36" name="TextBox 35"/>
          <p:cNvSpPr txBox="1"/>
          <p:nvPr/>
        </p:nvSpPr>
        <p:spPr>
          <a:xfrm>
            <a:off x="8595360" y="294436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讲授+翻转</a:t>
            </a:r>
          </a:p>
        </p:txBody>
      </p:sp>
      <p:sp>
        <p:nvSpPr>
          <p:cNvPr id="37" name="TextBox 36"/>
          <p:cNvSpPr txBox="1"/>
          <p:nvPr/>
        </p:nvSpPr>
        <p:spPr>
          <a:xfrm>
            <a:off x="10241280" y="294436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小组汇报</a:t>
            </a:r>
          </a:p>
        </p:txBody>
      </p:sp>
      <p:sp>
        <p:nvSpPr>
          <p:cNvPr id="38" name="Rectangle 37"/>
          <p:cNvSpPr/>
          <p:nvPr/>
        </p:nvSpPr>
        <p:spPr>
          <a:xfrm>
            <a:off x="457200" y="3191256"/>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322783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8 周</a:t>
            </a:r>
          </a:p>
        </p:txBody>
      </p:sp>
      <p:sp>
        <p:nvSpPr>
          <p:cNvPr id="40" name="TextBox 39"/>
          <p:cNvSpPr txBox="1"/>
          <p:nvPr/>
        </p:nvSpPr>
        <p:spPr>
          <a:xfrm>
            <a:off x="1463040" y="322783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3</a:t>
            </a:r>
          </a:p>
        </p:txBody>
      </p:sp>
      <p:sp>
        <p:nvSpPr>
          <p:cNvPr id="41" name="TextBox 40"/>
          <p:cNvSpPr txBox="1"/>
          <p:nvPr/>
        </p:nvSpPr>
        <p:spPr>
          <a:xfrm>
            <a:off x="2194560" y="322783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专题五：社会主义建设道路初步探索</a:t>
            </a:r>
          </a:p>
        </p:txBody>
      </p:sp>
      <p:sp>
        <p:nvSpPr>
          <p:cNvPr id="42" name="TextBox 41"/>
          <p:cNvSpPr txBox="1"/>
          <p:nvPr/>
        </p:nvSpPr>
        <p:spPr>
          <a:xfrm>
            <a:off x="8595360" y="322783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讲授+研讨</a:t>
            </a:r>
          </a:p>
        </p:txBody>
      </p:sp>
      <p:sp>
        <p:nvSpPr>
          <p:cNvPr id="43" name="TextBox 42"/>
          <p:cNvSpPr txBox="1"/>
          <p:nvPr/>
        </p:nvSpPr>
        <p:spPr>
          <a:xfrm>
            <a:off x="10241280" y="322783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44" name="Rectangle 43"/>
          <p:cNvSpPr/>
          <p:nvPr/>
        </p:nvSpPr>
        <p:spPr>
          <a:xfrm>
            <a:off x="457200" y="3474720"/>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51129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9 周</a:t>
            </a:r>
          </a:p>
        </p:txBody>
      </p:sp>
      <p:sp>
        <p:nvSpPr>
          <p:cNvPr id="46" name="TextBox 45"/>
          <p:cNvSpPr txBox="1"/>
          <p:nvPr/>
        </p:nvSpPr>
        <p:spPr>
          <a:xfrm>
            <a:off x="1463040" y="351129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47" name="TextBox 46"/>
          <p:cNvSpPr txBox="1"/>
          <p:nvPr/>
        </p:nvSpPr>
        <p:spPr>
          <a:xfrm>
            <a:off x="2194560" y="351129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专题六：中特理论体系形成</a:t>
            </a:r>
          </a:p>
        </p:txBody>
      </p:sp>
      <p:sp>
        <p:nvSpPr>
          <p:cNvPr id="48" name="TextBox 47"/>
          <p:cNvSpPr txBox="1"/>
          <p:nvPr/>
        </p:nvSpPr>
        <p:spPr>
          <a:xfrm>
            <a:off x="8595360" y="351129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49" name="TextBox 48"/>
          <p:cNvSpPr txBox="1"/>
          <p:nvPr/>
        </p:nvSpPr>
        <p:spPr>
          <a:xfrm>
            <a:off x="10241280" y="351129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50" name="Rectangle 49"/>
          <p:cNvSpPr/>
          <p:nvPr/>
        </p:nvSpPr>
        <p:spPr>
          <a:xfrm>
            <a:off x="457200" y="3758184"/>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379476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10-11 周</a:t>
            </a:r>
          </a:p>
        </p:txBody>
      </p:sp>
      <p:sp>
        <p:nvSpPr>
          <p:cNvPr id="52" name="TextBox 51"/>
          <p:cNvSpPr txBox="1"/>
          <p:nvPr/>
        </p:nvSpPr>
        <p:spPr>
          <a:xfrm>
            <a:off x="1463040" y="379476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53" name="TextBox 52"/>
          <p:cNvSpPr txBox="1"/>
          <p:nvPr/>
        </p:nvSpPr>
        <p:spPr>
          <a:xfrm>
            <a:off x="2194560" y="379476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专题七：邓小平理论</a:t>
            </a:r>
          </a:p>
        </p:txBody>
      </p:sp>
      <p:sp>
        <p:nvSpPr>
          <p:cNvPr id="54" name="TextBox 53"/>
          <p:cNvSpPr txBox="1"/>
          <p:nvPr/>
        </p:nvSpPr>
        <p:spPr>
          <a:xfrm>
            <a:off x="8595360" y="379476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55" name="TextBox 54"/>
          <p:cNvSpPr txBox="1"/>
          <p:nvPr/>
        </p:nvSpPr>
        <p:spPr>
          <a:xfrm>
            <a:off x="10241280" y="379476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思考题+读书报告</a:t>
            </a:r>
          </a:p>
        </p:txBody>
      </p:sp>
      <p:sp>
        <p:nvSpPr>
          <p:cNvPr id="56" name="Rectangle 55"/>
          <p:cNvSpPr/>
          <p:nvPr/>
        </p:nvSpPr>
        <p:spPr>
          <a:xfrm>
            <a:off x="457200" y="4041648"/>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407822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12 周</a:t>
            </a:r>
          </a:p>
        </p:txBody>
      </p:sp>
      <p:sp>
        <p:nvSpPr>
          <p:cNvPr id="58" name="TextBox 57"/>
          <p:cNvSpPr txBox="1"/>
          <p:nvPr/>
        </p:nvSpPr>
        <p:spPr>
          <a:xfrm>
            <a:off x="1463040" y="407822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59" name="TextBox 58"/>
          <p:cNvSpPr txBox="1"/>
          <p:nvPr/>
        </p:nvSpPr>
        <p:spPr>
          <a:xfrm>
            <a:off x="2194560" y="407822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专题八：「三个代表」重要思想</a:t>
            </a:r>
          </a:p>
        </p:txBody>
      </p:sp>
      <p:sp>
        <p:nvSpPr>
          <p:cNvPr id="60" name="TextBox 59"/>
          <p:cNvSpPr txBox="1"/>
          <p:nvPr/>
        </p:nvSpPr>
        <p:spPr>
          <a:xfrm>
            <a:off x="8595360" y="407822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61" name="TextBox 60"/>
          <p:cNvSpPr txBox="1"/>
          <p:nvPr/>
        </p:nvSpPr>
        <p:spPr>
          <a:xfrm>
            <a:off x="10241280" y="407822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62" name="Rectangle 61"/>
          <p:cNvSpPr/>
          <p:nvPr/>
        </p:nvSpPr>
        <p:spPr>
          <a:xfrm>
            <a:off x="457200" y="4325112"/>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36168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13 周</a:t>
            </a:r>
          </a:p>
        </p:txBody>
      </p:sp>
      <p:sp>
        <p:nvSpPr>
          <p:cNvPr id="64" name="TextBox 63"/>
          <p:cNvSpPr txBox="1"/>
          <p:nvPr/>
        </p:nvSpPr>
        <p:spPr>
          <a:xfrm>
            <a:off x="1463040" y="436168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65" name="TextBox 64"/>
          <p:cNvSpPr txBox="1"/>
          <p:nvPr/>
        </p:nvSpPr>
        <p:spPr>
          <a:xfrm>
            <a:off x="2194560" y="436168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专题九：科学发展观</a:t>
            </a:r>
          </a:p>
        </p:txBody>
      </p:sp>
      <p:sp>
        <p:nvSpPr>
          <p:cNvPr id="66" name="TextBox 65"/>
          <p:cNvSpPr txBox="1"/>
          <p:nvPr/>
        </p:nvSpPr>
        <p:spPr>
          <a:xfrm>
            <a:off x="8595360" y="436168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67" name="TextBox 66"/>
          <p:cNvSpPr txBox="1"/>
          <p:nvPr/>
        </p:nvSpPr>
        <p:spPr>
          <a:xfrm>
            <a:off x="10241280" y="436168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68" name="Rectangle 67"/>
          <p:cNvSpPr/>
          <p:nvPr/>
        </p:nvSpPr>
        <p:spPr>
          <a:xfrm>
            <a:off x="457200" y="4608576"/>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8640" y="464515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14-16 周</a:t>
            </a:r>
          </a:p>
        </p:txBody>
      </p:sp>
      <p:sp>
        <p:nvSpPr>
          <p:cNvPr id="70" name="TextBox 69"/>
          <p:cNvSpPr txBox="1"/>
          <p:nvPr/>
        </p:nvSpPr>
        <p:spPr>
          <a:xfrm>
            <a:off x="1463040" y="464515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6</a:t>
            </a:r>
          </a:p>
        </p:txBody>
      </p:sp>
      <p:sp>
        <p:nvSpPr>
          <p:cNvPr id="71" name="TextBox 70"/>
          <p:cNvSpPr txBox="1"/>
          <p:nvPr/>
        </p:nvSpPr>
        <p:spPr>
          <a:xfrm>
            <a:off x="2194560" y="464515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第十章：习近平新时代</a:t>
            </a:r>
          </a:p>
        </p:txBody>
      </p:sp>
      <p:sp>
        <p:nvSpPr>
          <p:cNvPr id="72" name="TextBox 71"/>
          <p:cNvSpPr txBox="1"/>
          <p:nvPr/>
        </p:nvSpPr>
        <p:spPr>
          <a:xfrm>
            <a:off x="8595360" y="464515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讲授+讨论+案例</a:t>
            </a:r>
          </a:p>
        </p:txBody>
      </p:sp>
      <p:sp>
        <p:nvSpPr>
          <p:cNvPr id="73" name="TextBox 72"/>
          <p:cNvSpPr txBox="1"/>
          <p:nvPr/>
        </p:nvSpPr>
        <p:spPr>
          <a:xfrm>
            <a:off x="10241280" y="464515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阶段测试</a:t>
            </a:r>
          </a:p>
        </p:txBody>
      </p:sp>
      <p:sp>
        <p:nvSpPr>
          <p:cNvPr id="74" name="Rectangle 73"/>
          <p:cNvSpPr/>
          <p:nvPr/>
        </p:nvSpPr>
        <p:spPr>
          <a:xfrm>
            <a:off x="457200" y="4892040"/>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48640" y="492861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17 周</a:t>
            </a:r>
          </a:p>
        </p:txBody>
      </p:sp>
      <p:sp>
        <p:nvSpPr>
          <p:cNvPr id="76" name="TextBox 75"/>
          <p:cNvSpPr txBox="1"/>
          <p:nvPr/>
        </p:nvSpPr>
        <p:spPr>
          <a:xfrm>
            <a:off x="1463040" y="492861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3</a:t>
            </a:r>
          </a:p>
        </p:txBody>
      </p:sp>
      <p:sp>
        <p:nvSpPr>
          <p:cNvPr id="77" name="TextBox 76"/>
          <p:cNvSpPr txBox="1"/>
          <p:nvPr/>
        </p:nvSpPr>
        <p:spPr>
          <a:xfrm>
            <a:off x="2194560" y="492861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第十一章 经济 + 第十二章 政治</a:t>
            </a:r>
          </a:p>
        </p:txBody>
      </p:sp>
      <p:sp>
        <p:nvSpPr>
          <p:cNvPr id="78" name="TextBox 77"/>
          <p:cNvSpPr txBox="1"/>
          <p:nvPr/>
        </p:nvSpPr>
        <p:spPr>
          <a:xfrm>
            <a:off x="8595360" y="492861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79" name="TextBox 78"/>
          <p:cNvSpPr txBox="1"/>
          <p:nvPr/>
        </p:nvSpPr>
        <p:spPr>
          <a:xfrm>
            <a:off x="10241280" y="492861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80" name="Rectangle 79"/>
          <p:cNvSpPr/>
          <p:nvPr/>
        </p:nvSpPr>
        <p:spPr>
          <a:xfrm>
            <a:off x="457200" y="5175504"/>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521208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18 周</a:t>
            </a:r>
          </a:p>
        </p:txBody>
      </p:sp>
      <p:sp>
        <p:nvSpPr>
          <p:cNvPr id="82" name="TextBox 81"/>
          <p:cNvSpPr txBox="1"/>
          <p:nvPr/>
        </p:nvSpPr>
        <p:spPr>
          <a:xfrm>
            <a:off x="1463040" y="521208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83" name="TextBox 82"/>
          <p:cNvSpPr txBox="1"/>
          <p:nvPr/>
        </p:nvSpPr>
        <p:spPr>
          <a:xfrm>
            <a:off x="2194560" y="521208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第十三章 文化 + 第十四章 社会</a:t>
            </a:r>
          </a:p>
        </p:txBody>
      </p:sp>
      <p:sp>
        <p:nvSpPr>
          <p:cNvPr id="84" name="TextBox 83"/>
          <p:cNvSpPr txBox="1"/>
          <p:nvPr/>
        </p:nvSpPr>
        <p:spPr>
          <a:xfrm>
            <a:off x="8595360" y="521208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85" name="TextBox 84"/>
          <p:cNvSpPr txBox="1"/>
          <p:nvPr/>
        </p:nvSpPr>
        <p:spPr>
          <a:xfrm>
            <a:off x="10241280" y="521208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86" name="Rectangle 85"/>
          <p:cNvSpPr/>
          <p:nvPr/>
        </p:nvSpPr>
        <p:spPr>
          <a:xfrm>
            <a:off x="457200" y="5458968"/>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8640" y="549554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19 周</a:t>
            </a:r>
          </a:p>
        </p:txBody>
      </p:sp>
      <p:sp>
        <p:nvSpPr>
          <p:cNvPr id="88" name="TextBox 87"/>
          <p:cNvSpPr txBox="1"/>
          <p:nvPr/>
        </p:nvSpPr>
        <p:spPr>
          <a:xfrm>
            <a:off x="1463040" y="549554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89" name="TextBox 88"/>
          <p:cNvSpPr txBox="1"/>
          <p:nvPr/>
        </p:nvSpPr>
        <p:spPr>
          <a:xfrm>
            <a:off x="2194560" y="549554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第十五章 生态 + 第十六章 现代化</a:t>
            </a:r>
          </a:p>
        </p:txBody>
      </p:sp>
      <p:sp>
        <p:nvSpPr>
          <p:cNvPr id="90" name="TextBox 89"/>
          <p:cNvSpPr txBox="1"/>
          <p:nvPr/>
        </p:nvSpPr>
        <p:spPr>
          <a:xfrm>
            <a:off x="8595360" y="549554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91" name="TextBox 90"/>
          <p:cNvSpPr txBox="1"/>
          <p:nvPr/>
        </p:nvSpPr>
        <p:spPr>
          <a:xfrm>
            <a:off x="10241280" y="549554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92" name="Rectangle 91"/>
          <p:cNvSpPr/>
          <p:nvPr/>
        </p:nvSpPr>
        <p:spPr>
          <a:xfrm>
            <a:off x="457200" y="5742432"/>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48640" y="577900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20 周</a:t>
            </a:r>
          </a:p>
        </p:txBody>
      </p:sp>
      <p:sp>
        <p:nvSpPr>
          <p:cNvPr id="94" name="TextBox 93"/>
          <p:cNvSpPr txBox="1"/>
          <p:nvPr/>
        </p:nvSpPr>
        <p:spPr>
          <a:xfrm>
            <a:off x="1463040" y="577900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95" name="TextBox 94"/>
          <p:cNvSpPr txBox="1"/>
          <p:nvPr/>
        </p:nvSpPr>
        <p:spPr>
          <a:xfrm>
            <a:off x="2194560" y="577900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总复习</a:t>
            </a:r>
          </a:p>
        </p:txBody>
      </p:sp>
      <p:sp>
        <p:nvSpPr>
          <p:cNvPr id="96" name="TextBox 95"/>
          <p:cNvSpPr txBox="1"/>
          <p:nvPr/>
        </p:nvSpPr>
        <p:spPr>
          <a:xfrm>
            <a:off x="8595360" y="577900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串讲+答疑</a:t>
            </a:r>
          </a:p>
        </p:txBody>
      </p:sp>
      <p:sp>
        <p:nvSpPr>
          <p:cNvPr id="97" name="TextBox 96"/>
          <p:cNvSpPr txBox="1"/>
          <p:nvPr/>
        </p:nvSpPr>
        <p:spPr>
          <a:xfrm>
            <a:off x="10241280" y="577900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模拟练习</a:t>
            </a:r>
          </a:p>
        </p:txBody>
      </p:sp>
      <p:sp>
        <p:nvSpPr>
          <p:cNvPr id="98" name="Rectangle 97"/>
          <p:cNvSpPr/>
          <p:nvPr/>
        </p:nvSpPr>
        <p:spPr>
          <a:xfrm>
            <a:off x="457200" y="6025896"/>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48640" y="606247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21 周</a:t>
            </a:r>
          </a:p>
        </p:txBody>
      </p:sp>
      <p:sp>
        <p:nvSpPr>
          <p:cNvPr id="100" name="TextBox 99"/>
          <p:cNvSpPr txBox="1"/>
          <p:nvPr/>
        </p:nvSpPr>
        <p:spPr>
          <a:xfrm>
            <a:off x="1463040" y="606247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101" name="TextBox 100"/>
          <p:cNvSpPr txBox="1"/>
          <p:nvPr/>
        </p:nvSpPr>
        <p:spPr>
          <a:xfrm>
            <a:off x="2194560" y="606247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期末考试</a:t>
            </a:r>
          </a:p>
        </p:txBody>
      </p:sp>
      <p:sp>
        <p:nvSpPr>
          <p:cNvPr id="102" name="TextBox 101"/>
          <p:cNvSpPr txBox="1"/>
          <p:nvPr/>
        </p:nvSpPr>
        <p:spPr>
          <a:xfrm>
            <a:off x="8595360" y="606247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闭卷</a:t>
            </a:r>
          </a:p>
        </p:txBody>
      </p:sp>
      <p:sp>
        <p:nvSpPr>
          <p:cNvPr id="103" name="TextBox 102"/>
          <p:cNvSpPr txBox="1"/>
          <p:nvPr/>
        </p:nvSpPr>
        <p:spPr>
          <a:xfrm>
            <a:off x="10241280" y="606247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a:t>
            </a:r>
          </a:p>
        </p:txBody>
      </p:sp>
      <p:sp>
        <p:nvSpPr>
          <p:cNvPr id="104" name="Rectangle 103"/>
          <p:cNvSpPr/>
          <p:nvPr/>
        </p:nvSpPr>
        <p:spPr>
          <a:xfrm>
            <a:off x="457200" y="6309360"/>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8640" y="634593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分散</a:t>
            </a:r>
          </a:p>
        </p:txBody>
      </p:sp>
      <p:sp>
        <p:nvSpPr>
          <p:cNvPr id="106" name="TextBox 105"/>
          <p:cNvSpPr txBox="1"/>
          <p:nvPr/>
        </p:nvSpPr>
        <p:spPr>
          <a:xfrm>
            <a:off x="1463040" y="634593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6</a:t>
            </a:r>
          </a:p>
        </p:txBody>
      </p:sp>
      <p:sp>
        <p:nvSpPr>
          <p:cNvPr id="107" name="TextBox 106"/>
          <p:cNvSpPr txBox="1"/>
          <p:nvPr/>
        </p:nvSpPr>
        <p:spPr>
          <a:xfrm>
            <a:off x="2194560" y="634593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实践教学：大学生讲思政课、调研、红色教育</a:t>
            </a:r>
          </a:p>
        </p:txBody>
      </p:sp>
      <p:sp>
        <p:nvSpPr>
          <p:cNvPr id="108" name="TextBox 107"/>
          <p:cNvSpPr txBox="1"/>
          <p:nvPr/>
        </p:nvSpPr>
        <p:spPr>
          <a:xfrm>
            <a:off x="8595360" y="634593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翻转+实践</a:t>
            </a:r>
          </a:p>
        </p:txBody>
      </p:sp>
      <p:sp>
        <p:nvSpPr>
          <p:cNvPr id="109" name="TextBox 108"/>
          <p:cNvSpPr txBox="1"/>
          <p:nvPr/>
        </p:nvSpPr>
        <p:spPr>
          <a:xfrm>
            <a:off x="10241280" y="634593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调研报告</a:t>
            </a:r>
          </a:p>
        </p:txBody>
      </p:sp>
      <p:cxnSp>
        <p:nvCxnSpPr>
          <p:cNvPr id="110" name="Connector 10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112" name="TextBox 1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35 / 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SUMMARY &amp; HOMEWORK</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课程总结与课后任务</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全课程最重要的 3 个概念</a:t>
            </a:r>
          </a:p>
        </p:txBody>
      </p:sp>
      <p:sp>
        <p:nvSpPr>
          <p:cNvPr id="8" name="TextBox 7"/>
          <p:cNvSpPr txBox="1"/>
          <p:nvPr/>
        </p:nvSpPr>
        <p:spPr>
          <a:xfrm>
            <a:off x="594360" y="1645920"/>
            <a:ext cx="5669280" cy="164592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马克思主义中国化时代化（两个结合）</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两次飞跃：毛泽东思想 + 中特理论体系</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习近平新时代：十个明确 + 十四个坚持</a:t>
            </a:r>
          </a:p>
        </p:txBody>
      </p:sp>
      <p:sp>
        <p:nvSpPr>
          <p:cNvPr id="9" name="TextBox 8"/>
          <p:cNvSpPr txBox="1"/>
          <p:nvPr/>
        </p:nvSpPr>
        <p:spPr>
          <a:xfrm>
            <a:off x="594360" y="33832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最有用的 2 个方法</a:t>
            </a:r>
          </a:p>
        </p:txBody>
      </p:sp>
      <p:sp>
        <p:nvSpPr>
          <p:cNvPr id="10" name="TextBox 9"/>
          <p:cNvSpPr txBox="1"/>
          <p:nvPr/>
        </p:nvSpPr>
        <p:spPr>
          <a:xfrm>
            <a:off x="594360" y="3794760"/>
            <a:ext cx="5669280" cy="137160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立场观点方法：用马克思主义分析现实问题</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一脉相承又与时俱进：理解理论发展的内在逻辑</a:t>
            </a:r>
          </a:p>
        </p:txBody>
      </p:sp>
      <p:sp>
        <p:nvSpPr>
          <p:cNvPr id="11" name="TextBox 10"/>
          <p:cNvSpPr txBox="1"/>
          <p:nvPr/>
        </p:nvSpPr>
        <p:spPr>
          <a:xfrm>
            <a:off x="594360" y="5212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最需要警惕的 1 个风险</a:t>
            </a:r>
          </a:p>
        </p:txBody>
      </p:sp>
      <p:sp>
        <p:nvSpPr>
          <p:cNvPr id="12" name="TextBox 11"/>
          <p:cNvSpPr txBox="1"/>
          <p:nvPr/>
        </p:nvSpPr>
        <p:spPr>
          <a:xfrm>
            <a:off x="594360" y="5623560"/>
            <a:ext cx="5669280" cy="73152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理论学习与现实脱节——不能用马克思主义立场观点方法分析中国实际问题，流于空洞说教。</a:t>
            </a:r>
          </a:p>
        </p:txBody>
      </p:sp>
      <p:sp>
        <p:nvSpPr>
          <p:cNvPr id="13" name="TextBox 12"/>
          <p:cNvSpPr txBox="1"/>
          <p:nvPr/>
        </p:nvSpPr>
        <p:spPr>
          <a:xfrm>
            <a:off x="6583680" y="1234440"/>
            <a:ext cx="52120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课后作业（4 类）</a:t>
            </a:r>
          </a:p>
        </p:txBody>
      </p:sp>
      <p:sp>
        <p:nvSpPr>
          <p:cNvPr id="14" name="TextBox 13"/>
          <p:cNvSpPr txBox="1"/>
          <p:nvPr/>
        </p:nvSpPr>
        <p:spPr>
          <a:xfrm>
            <a:off x="6583680" y="1645920"/>
            <a:ext cx="5212080" cy="237744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基础作业：完成教材对应章节思考题（每个专题 1 道）</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阅读作业：《实践论》《矛盾论》选段 + 《之江新语》选篇</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实践作业：「大学生讲思政课」—— 任选 1 个专题做 10 分钟微课</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调研作业：围绕「中国式现代化」做 1 份家乡调研（2000 字）</a:t>
            </a:r>
          </a:p>
        </p:txBody>
      </p:sp>
      <p:sp>
        <p:nvSpPr>
          <p:cNvPr id="15" name="TextBox 14"/>
          <p:cNvSpPr txBox="1"/>
          <p:nvPr/>
        </p:nvSpPr>
        <p:spPr>
          <a:xfrm>
            <a:off x="6583680" y="4114800"/>
            <a:ext cx="52120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拓展阅读</a:t>
            </a:r>
          </a:p>
        </p:txBody>
      </p:sp>
      <p:sp>
        <p:nvSpPr>
          <p:cNvPr id="16" name="TextBox 15"/>
          <p:cNvSpPr txBox="1"/>
          <p:nvPr/>
        </p:nvSpPr>
        <p:spPr>
          <a:xfrm>
            <a:off x="6583680" y="4526280"/>
            <a:ext cx="5212080" cy="137160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《毛泽东选集》第一卷、第三卷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《邓小平文选》第三卷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《习近平谈治国理政》第一至四卷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中央党史和文献研究院相关读物</a:t>
            </a:r>
          </a:p>
        </p:txBody>
      </p:sp>
      <p:sp>
        <p:nvSpPr>
          <p:cNvPr id="17" name="TextBox 16"/>
          <p:cNvSpPr txBox="1"/>
          <p:nvPr/>
        </p:nvSpPr>
        <p:spPr>
          <a:xfrm>
            <a:off x="6583680" y="5943600"/>
            <a:ext cx="52120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评价标准（Rubric）</a:t>
            </a:r>
          </a:p>
        </p:txBody>
      </p:sp>
      <p:sp>
        <p:nvSpPr>
          <p:cNvPr id="18" name="TextBox 17"/>
          <p:cNvSpPr txBox="1"/>
          <p:nvPr/>
        </p:nvSpPr>
        <p:spPr>
          <a:xfrm>
            <a:off x="6583680" y="6263640"/>
            <a:ext cx="521208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知识 40% + 能力 30% + 素养 30%  ·  过程性 + 终结性</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38 /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